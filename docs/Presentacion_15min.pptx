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 15 minutos: arquitectura, funcionamiento y garantías. Hilo conductor: trazabilidad total y cero cifras inventadas. Nació para gas natural y se ha extendido a biometano e hidrógeno.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 El hilo es por componentes: primero visión general y cifras, luego cada pieza (datos, motor, IA), y por último la ampliación, la metodología y las garantías.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problema: normativa dispersa, en varios idiomas y con unidades distintas. La solución: un asistente que compara 21 jurisdicciones y 10 parámetros en lenguaje natural, con el principio de no generar cifras por estimación. Ampliado a biometano e hidrógeno sin tocar el gas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cifras fijan el alcance. Detrás del cero está lo importante: de 210 valores, 176 verificados verbatim y 34 declarados no verificable porque la norma no los fija. No se rellenan con estimaciones.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componentes. La interfaz web, el servidor FastAPI que concentra la lógica, la ontología con los datos verificados y el servicio de IA externo, acotado. Los datos y cálculos son propios; la IA es un proveedor auxiliar bajo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funcionalidades. La consulta libre incluye el análisis de interconexión en cadena. La comparativa da la matriz completa con exportación. Analizar gas valida un gas país a país. Y las secciones de biometano e hidrógeno replican la experiencia con el mismo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cifras residen en la capa 2, la ontología, y cada una referencia su documento oficial de la capa 1. La capa 3 no almacena ninguna cifra: es un índice de búsqueda sobre el texto, para las consultas abiertas.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ontología guarda de cada dato no solo el número, sino todo su contexto: unidad, condiciones, texto literal, cita completa, nota y estado de verificación. Se usa YAML, legible y auditable, versionado junto al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garantía anti-invención. Verificado: 176 valores contrastados verbatim. No verificable: 34 que la norma no fija; no se completan con una estimación. Ejemplo: en Dinamarca los límites de O₂/CO₂ son de biogás, no de gas natural, así que para gas natural se dejaron como no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es el framework con el que hemos hecho nuestro servidor: infraestructura propia y gratuita. La API de OpenAI es un servicio de terceros que consumimos puntualmente. Nuestro servidor es el imprescindible: atiende la web, accede a los datos, calcula, decide cuándo usar la IA y custodia las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consulta pasa por el enrutado. Las cuantitativas las resuelve el código leyendo la ontología, sin IA. Las de texto abierto se derivan a la IA. El motor resuelve por sí solo siete tipos de intención; la mayoría de consultas no llegan a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país expresa sus límites en unidades y condiciones distintas; compararlos en bruto sería incorrecto. Todos los valores se llevan a la base española con los factores de la ISO 13443, que se toman literalmente y están verificados. España es siempre la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la consulta llega a la IA, opera atada en corto: prohibido generar cifras (las pide a las herramientas), debe citar y se limita a la calidad del gas. Si la IA no está disponible, conmuta al modo determinista y nunca se interrumpe.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RAG fundamenta las respuestas de texto abierto en los documentos oficiales. Indexación en fragmentos con solape; recuperación léxica reproducible. Además, un estudio de terminología mide la variación de nombres entre normas y justifica una capa de búsqueda semántica, que se deja preparada y activable a voluntad.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ampliación es capa aditiva: el gas natural queda intacto, lo confirman las pruebas. Distinción de dominio: calidad de RED (gasoducto, CEN/TS 17977, GIE) frente a producto de VEHÍCULO (ISO 14687). Hoy solo Portugal fija una pureza vinculante del 98 %.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fiabilidad es consecuencia del rigor: identificar la norma vigente, archivar el documento, transcribir cada cifra literalmente, verificarla una a una y marcar como no verificable lo que la norma no fija. Con controles automáticos. De ahí las cinco garantías.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La herramienta compara la calidad regulatoria de los tres gases con trazabilidad total y sin cifras inventadas, y la ampliación no ha degradado nada de lo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46304" cy="201168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100584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Comparador Regulatorio de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Calidad de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29768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99D6"/>
                </a:solidFill>
                <a:latin typeface="Calibri"/>
              </a:rPr>
              <a:t>Gas natural · Biometano · Hidrógeno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0"/>
                </a:solidFill>
                <a:latin typeface="Calibri"/>
              </a:rPr>
              <a:t>Arquitectura, funcionamiento y garantías — comparativa entre jurisdicciones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C4"/>
                </a:solidFill>
                <a:latin typeface="Calibri"/>
              </a:rPr>
              <a:t>Presentación completa · 15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Recorrido de la presentación: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Contexto y objetivo · el sistema en cifras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Arquitectura general y funcionalidades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Las tres capas de datos y la ontología (base de conocimiento)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Estados de verificación · FastAPI frente a la API de OpenAI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El motor determinista y la normalización (ISO 13443)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La inteligencia artificial (con salvaguardas) y la recuperación documental (RAG)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Ampliación a biometano e hidrógeno · estudio de terminología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99D6"/>
                </a:solidFill>
                <a:latin typeface="Calibri"/>
              </a:rPr>
              <a:t>•  </a:t>
            </a:r>
            <a:r>
              <a:rPr sz="1600" b="0">
                <a:solidFill>
                  <a:srgbClr val="1B2A38"/>
                </a:solidFill>
                <a:latin typeface="Calibri"/>
              </a:rPr>
              <a:t>Metodología, verificación y garantías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Contexto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El problema y la propuesta de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Cada país regula la calidad admisible del gas con </a:t>
            </a:r>
            <a:r>
              <a:rPr sz="1700" b="1">
                <a:solidFill>
                  <a:srgbClr val="1B2A38"/>
                </a:solidFill>
                <a:latin typeface="Calibri"/>
              </a:rPr>
              <a:t>su propia normativa</a:t>
            </a:r>
            <a:r>
              <a:rPr sz="1700" b="0">
                <a:solidFill>
                  <a:srgbClr val="1B2A38"/>
                </a:solidFill>
                <a:latin typeface="Calibri"/>
              </a:rPr>
              <a:t> (poder calorífico, Wobbe, azufre, CO₂, puntos de rocío…).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Está </a:t>
            </a:r>
            <a:r>
              <a:rPr sz="1700" b="1">
                <a:solidFill>
                  <a:srgbClr val="1B2A38"/>
                </a:solidFill>
                <a:latin typeface="Calibri"/>
              </a:rPr>
              <a:t>dispersa</a:t>
            </a:r>
            <a:r>
              <a:rPr sz="1700" b="0">
                <a:solidFill>
                  <a:srgbClr val="1B2A38"/>
                </a:solidFill>
                <a:latin typeface="Calibri"/>
              </a:rPr>
              <a:t>, en varios idiomas y con </a:t>
            </a:r>
            <a:r>
              <a:rPr sz="1700" b="1">
                <a:solidFill>
                  <a:srgbClr val="1B2A38"/>
                </a:solidFill>
                <a:latin typeface="Calibri"/>
              </a:rPr>
              <a:t>unidades y condiciones de referencia distintas</a:t>
            </a:r>
            <a:r>
              <a:rPr sz="1700" b="0">
                <a:solidFill>
                  <a:srgbClr val="1B2A38"/>
                </a:solidFill>
                <a:latin typeface="Calibri"/>
              </a:rPr>
              <a:t>; compararla a mano es costoso y arriesgado.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1">
                <a:solidFill>
                  <a:srgbClr val="1B2A38"/>
                </a:solidFill>
                <a:latin typeface="Calibri"/>
              </a:rPr>
              <a:t>Solución:</a:t>
            </a:r>
            <a:r>
              <a:rPr sz="1700" b="0">
                <a:solidFill>
                  <a:srgbClr val="1B2A38"/>
                </a:solidFill>
                <a:latin typeface="Calibri"/>
              </a:rPr>
              <a:t> un asistente que compara esa calidad entre </a:t>
            </a:r>
            <a:r>
              <a:rPr sz="1700" b="1">
                <a:solidFill>
                  <a:srgbClr val="1B2A38"/>
                </a:solidFill>
                <a:latin typeface="Calibri"/>
              </a:rPr>
              <a:t>21 jurisdicciones y 10 parámetros</a:t>
            </a:r>
            <a:r>
              <a:rPr sz="1700" b="0">
                <a:solidFill>
                  <a:srgbClr val="1B2A38"/>
                </a:solidFill>
                <a:latin typeface="Calibri"/>
              </a:rPr>
              <a:t>, en lenguaje natural.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1">
                <a:solidFill>
                  <a:srgbClr val="1B2A38"/>
                </a:solidFill>
                <a:latin typeface="Calibri"/>
              </a:rPr>
              <a:t>Principio de diseño:</a:t>
            </a:r>
            <a:r>
              <a:rPr sz="1700" b="0">
                <a:solidFill>
                  <a:srgbClr val="1B2A38"/>
                </a:solidFill>
                <a:latin typeface="Calibri"/>
              </a:rPr>
              <a:t> ausencia de cifras no verificadas; todo valor procede de normativa oficial, con su cita.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Ampliado a </a:t>
            </a:r>
            <a:r>
              <a:rPr sz="1700" b="1">
                <a:solidFill>
                  <a:srgbClr val="1B2A38"/>
                </a:solidFill>
                <a:latin typeface="Calibri"/>
              </a:rPr>
              <a:t>biometano e hidrógeno</a:t>
            </a:r>
            <a:r>
              <a:rPr sz="1700" b="0">
                <a:solidFill>
                  <a:srgbClr val="1B2A38"/>
                </a:solidFill>
                <a:latin typeface="Calibri"/>
              </a:rPr>
              <a:t>, manteniendo el gas natural intacto.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sistema en cifras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jurisdicciones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parámetros de calidad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210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valores verificables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cifras inventadas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38"/>
                </a:solidFill>
                <a:latin typeface="Calibri"/>
              </a:rPr>
              <a:t>Gas natural: 176 valores VERIFICADOS y 34 NO VERIFICABLES (la norma no los fija) — nunca inventados.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A5B68"/>
                </a:solidFill>
                <a:latin typeface="Calibri"/>
              </a:rPr>
              <a:t>Ampliación a biometano e hidrógeno (dominio de red): España · Portugal · Francia · UE, con la misma disciplina.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Arquitectura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Cuatro componentes con responsabilidades bien delimitadas.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INTERFAZ WEB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El usuario formula su consulta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2715768"/>
            <a:ext cx="36576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3246120"/>
            <a:ext cx="4114800" cy="86868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3337560"/>
            <a:ext cx="4114800" cy="73151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SERVIDOR DE APLICACIÓN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FastAPI · recibe, aplica la lógica y orquesta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83280" y="4206240"/>
            <a:ext cx="32004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458200" y="4206240"/>
            <a:ext cx="32004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4754880"/>
            <a:ext cx="3931920" cy="105156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3931920" cy="91439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BASE DE CONOCIMIENTO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Ontología: valores verificados + sus fuentes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754880"/>
            <a:ext cx="3931920" cy="1051560"/>
          </a:xfrm>
          <a:prstGeom prst="rect">
            <a:avLst/>
          </a:prstGeom>
          <a:solidFill>
            <a:srgbClr val="4A5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4846320"/>
            <a:ext cx="3931920" cy="91439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SERVICIO DE IA (externo)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OpenAI: solo texto abierto · no genera cifras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Funcionalidades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Cinco secciones, todas con la misma garantía de cero cifras inventadas: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Consulta libre</a:t>
            </a:r>
            <a:r>
              <a:rPr sz="1500" b="0">
                <a:solidFill>
                  <a:srgbClr val="1B2A38"/>
                </a:solidFill>
                <a:latin typeface="Calibri"/>
              </a:rPr>
              <a:t> (chat): límites, cumplimiento, fuentes y comparaciones en lenguaje natural. Incluye </a:t>
            </a:r>
            <a:r>
              <a:rPr sz="1500" b="1">
                <a:solidFill>
                  <a:srgbClr val="1B2A38"/>
                </a:solidFill>
                <a:latin typeface="Calibri"/>
              </a:rPr>
              <a:t>interconexión en cadena</a:t>
            </a:r>
            <a:r>
              <a:rPr sz="1500" b="0">
                <a:solidFill>
                  <a:srgbClr val="1B2A38"/>
                </a:solidFill>
                <a:latin typeface="Calibri"/>
              </a:rPr>
              <a:t>: para una ruta de varios países halla el </a:t>
            </a:r>
            <a:r>
              <a:rPr sz="1500" b="1">
                <a:solidFill>
                  <a:srgbClr val="1B2A38"/>
                </a:solidFill>
                <a:latin typeface="Calibri"/>
              </a:rPr>
              <a:t>cuello de botella</a:t>
            </a:r>
            <a:r>
              <a:rPr sz="1500" b="0">
                <a:solidFill>
                  <a:srgbClr val="1B2A38"/>
                </a:solidFill>
                <a:latin typeface="Calibri"/>
              </a:rPr>
              <a:t> regulatorio.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Comparativa</a:t>
            </a:r>
            <a:r>
              <a:rPr sz="1500" b="0">
                <a:solidFill>
                  <a:srgbClr val="1B2A38"/>
                </a:solidFill>
                <a:latin typeface="Calibri"/>
              </a:rPr>
              <a:t>: comparación puntual de un parámetro entre países y </a:t>
            </a:r>
            <a:r>
              <a:rPr sz="1500" b="1">
                <a:solidFill>
                  <a:srgbClr val="1B2A38"/>
                </a:solidFill>
                <a:latin typeface="Calibri"/>
              </a:rPr>
              <a:t>matriz</a:t>
            </a:r>
            <a:r>
              <a:rPr sz="1500" b="0">
                <a:solidFill>
                  <a:srgbClr val="1B2A38"/>
                </a:solidFill>
                <a:latin typeface="Calibri"/>
              </a:rPr>
              <a:t> (heatmap) países × parámetros, con </a:t>
            </a:r>
            <a:r>
              <a:rPr sz="1500" b="1">
                <a:solidFill>
                  <a:srgbClr val="1B2A38"/>
                </a:solidFill>
                <a:latin typeface="Calibri"/>
              </a:rPr>
              <a:t>exportación a Excel/PDF</a:t>
            </a:r>
            <a:r>
              <a:rPr sz="15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Analizar gas</a:t>
            </a:r>
            <a:r>
              <a:rPr sz="1500" b="0">
                <a:solidFill>
                  <a:srgbClr val="1B2A38"/>
                </a:solidFill>
                <a:latin typeface="Calibri"/>
              </a:rPr>
              <a:t>: composición de un gas concreto → respuesta país a país (</a:t>
            </a:r>
            <a:r>
              <a:rPr sz="1500" b="1">
                <a:solidFill>
                  <a:srgbClr val="1B2A38"/>
                </a:solidFill>
                <a:latin typeface="Calibri"/>
              </a:rPr>
              <a:t>cumple / alerta / no cumple</a:t>
            </a:r>
            <a:r>
              <a:rPr sz="1500" b="0">
                <a:solidFill>
                  <a:srgbClr val="1B2A38"/>
                </a:solidFill>
                <a:latin typeface="Calibri"/>
              </a:rPr>
              <a:t>) con la cita de cada límite.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Comparativa de biometano</a:t>
            </a:r>
            <a:r>
              <a:rPr sz="1500" b="0">
                <a:solidFill>
                  <a:srgbClr val="1B2A38"/>
                </a:solidFill>
                <a:latin typeface="Calibri"/>
              </a:rPr>
              <a:t> y de </a:t>
            </a:r>
            <a:r>
              <a:rPr sz="1500" b="1">
                <a:solidFill>
                  <a:srgbClr val="1B2A38"/>
                </a:solidFill>
                <a:latin typeface="Calibri"/>
              </a:rPr>
              <a:t>hidrógeno</a:t>
            </a:r>
            <a:r>
              <a:rPr sz="1500" b="0">
                <a:solidFill>
                  <a:srgbClr val="1B2A38"/>
                </a:solidFill>
                <a:latin typeface="Calibri"/>
              </a:rPr>
              <a:t>: el mismo motor y la misma presentación, para los gases nuevos.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Las tres capas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No hay una única base de datos gigante: la información se organiza en tres capas con funciones distintas.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39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5555"/>
                <a:gridCol w="4955857"/>
                <a:gridCol w="3572827"/>
              </a:tblGrid>
              <a:tr h="1143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1. Documentos oficiales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Los PDF de las normas (BOE, ERSE, DVGW, Fluxys, National Grid, RQS…)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Fuente primaria y última de verdad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2. Ontología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Fichero estructurado con las cifras extraídas de esos PDF, con su contexto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Repositorio del que salen las respuestas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3. Índice documental (RAG)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Índice del texto de los PDF, segmentado en fragmentos con solape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Buscador interno para consultas abiertas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 base de conocimiento (ontología)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El elemento central. De cada valor se registra su cifra y todo su contexto normativo: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El </a:t>
            </a:r>
            <a:r>
              <a:rPr sz="1700" b="1">
                <a:solidFill>
                  <a:srgbClr val="1B2A38"/>
                </a:solidFill>
                <a:latin typeface="Calibri"/>
              </a:rPr>
              <a:t>valor</a:t>
            </a:r>
            <a:r>
              <a:rPr sz="1700" b="0">
                <a:solidFill>
                  <a:srgbClr val="1B2A38"/>
                </a:solidFill>
                <a:latin typeface="Calibri"/>
              </a:rPr>
              <a:t> (o su rango) y la </a:t>
            </a:r>
            <a:r>
              <a:rPr sz="1700" b="1">
                <a:solidFill>
                  <a:srgbClr val="1B2A38"/>
                </a:solidFill>
                <a:latin typeface="Calibri"/>
              </a:rPr>
              <a:t>unidad</a:t>
            </a:r>
            <a:r>
              <a:rPr sz="17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Las </a:t>
            </a:r>
            <a:r>
              <a:rPr sz="1700" b="1">
                <a:solidFill>
                  <a:srgbClr val="1B2A38"/>
                </a:solidFill>
                <a:latin typeface="Calibri"/>
              </a:rPr>
              <a:t>condiciones de referencia</a:t>
            </a:r>
            <a:r>
              <a:rPr sz="1700" b="0">
                <a:solidFill>
                  <a:srgbClr val="1B2A38"/>
                </a:solidFill>
                <a:latin typeface="Calibri"/>
              </a:rPr>
              <a:t> (a qué temperatura y presión se mide).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El </a:t>
            </a:r>
            <a:r>
              <a:rPr sz="1700" b="1">
                <a:solidFill>
                  <a:srgbClr val="1B2A38"/>
                </a:solidFill>
                <a:latin typeface="Calibri"/>
              </a:rPr>
              <a:t>texto literal</a:t>
            </a:r>
            <a:r>
              <a:rPr sz="1700" b="0">
                <a:solidFill>
                  <a:srgbClr val="1B2A38"/>
                </a:solidFill>
                <a:latin typeface="Calibri"/>
              </a:rPr>
              <a:t> de la norma, tal como está redactado.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La </a:t>
            </a:r>
            <a:r>
              <a:rPr sz="1700" b="1">
                <a:solidFill>
                  <a:srgbClr val="1B2A38"/>
                </a:solidFill>
                <a:latin typeface="Calibri"/>
              </a:rPr>
              <a:t>cita completa</a:t>
            </a:r>
            <a:r>
              <a:rPr sz="1700" b="0">
                <a:solidFill>
                  <a:srgbClr val="1B2A38"/>
                </a:solidFill>
                <a:latin typeface="Calibri"/>
              </a:rPr>
              <a:t>: norma, artículo, página y enlace.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Una </a:t>
            </a:r>
            <a:r>
              <a:rPr sz="1700" b="1">
                <a:solidFill>
                  <a:srgbClr val="1B2A38"/>
                </a:solidFill>
                <a:latin typeface="Calibri"/>
              </a:rPr>
              <a:t>nota</a:t>
            </a:r>
            <a:r>
              <a:rPr sz="1700" b="0">
                <a:solidFill>
                  <a:srgbClr val="1B2A38"/>
                </a:solidFill>
                <a:latin typeface="Calibri"/>
              </a:rPr>
              <a:t> aclaratoria con los matices, y el </a:t>
            </a:r>
            <a:r>
              <a:rPr sz="1700" b="1">
                <a:solidFill>
                  <a:srgbClr val="1B2A38"/>
                </a:solidFill>
                <a:latin typeface="Calibri"/>
              </a:rPr>
              <a:t>estado de verificación</a:t>
            </a:r>
            <a:r>
              <a:rPr sz="17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4A5B68"/>
                </a:solidFill>
                <a:latin typeface="Calibri"/>
              </a:rPr>
              <a:t>•  </a:t>
            </a:r>
            <a:r>
              <a:rPr sz="1500" b="0">
                <a:solidFill>
                  <a:srgbClr val="4A5B68"/>
                </a:solidFill>
                <a:latin typeface="Calibri"/>
              </a:rPr>
              <a:t>Se usa un fichero YAML (legible y auditable) en lugar de una base de datos relacional: a esta escala es más trazable y se versiona junto al código.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Estados de 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La garantía frente a la invención de datos: cada cifra está en uno de dos estados.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303520" cy="24688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303520" cy="7620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13A57"/>
                </a:solidFill>
                <a:latin typeface="Calibri"/>
              </a:rPr>
              <a:t>VERIFICADO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6CB33E"/>
                </a:solidFill>
                <a:latin typeface="Calibri"/>
              </a:rPr>
              <a:t>176 valores (gas natural)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A38"/>
                </a:solidFill>
                <a:latin typeface="Calibri"/>
              </a:rPr>
              <a:t>Cifra contrastada literalmente (verbatim) contra su boletín oficial.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303520" cy="24688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30352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75488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13A57"/>
                </a:solidFill>
                <a:latin typeface="Calibri"/>
              </a:rPr>
              <a:t>NO VERIFICABLE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099D6"/>
                </a:solidFill>
                <a:latin typeface="Calibri"/>
              </a:rPr>
              <a:t>34 valores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A38"/>
                </a:solidFill>
                <a:latin typeface="Calibri"/>
              </a:rPr>
              <a:t>La norma de esa jurisdicción no fija ese parámetro. No se estima: se marca y se explica.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38"/>
                </a:solidFill>
                <a:latin typeface="Calibri"/>
              </a:rPr>
              <a:t>No hay estado intermedio: el valor consta en la norma, o se declara que la norma no lo establece.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FastAPI y la API de OpenAI: son cosas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Ambos incluyen el término «API», pero son componentes de niveles distintos.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39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6985"/>
                <a:gridCol w="4658627"/>
                <a:gridCol w="4658627"/>
              </a:tblGrid>
              <a:tr h="91440"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API de OpenAI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Naturaleza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Framework para construir NUESTRO servidor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Servicio externo que consumimos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Titularidad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Propia (es nuestro backend)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De OpenAI (somos cliente)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Coste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Sin coste (código abierto)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De pago, por uso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38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Núcleo de la aplicación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38"/>
                          </a:solidFill>
                          <a:latin typeface="Calibri"/>
                        </a:rPr>
                        <a:t>Proveedor auxiliar, invocado de forma controlada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motor determinista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Toda consulta pasa primero por un enrutado. «Determinista» = misma consulta, misma respuesta, por código, sin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Consultas </a:t>
            </a:r>
            <a:r>
              <a:rPr sz="1700" b="1">
                <a:solidFill>
                  <a:srgbClr val="1B2A38"/>
                </a:solidFill>
                <a:latin typeface="Calibri"/>
              </a:rPr>
              <a:t>cuantitativas</a:t>
            </a:r>
            <a:r>
              <a:rPr sz="1700" b="0">
                <a:solidFill>
                  <a:srgbClr val="1B2A38"/>
                </a:solidFill>
                <a:latin typeface="Calibri"/>
              </a:rPr>
              <a:t> (un límite, un cumplimiento, una comparación, una conversión): las resuelve el </a:t>
            </a:r>
            <a:r>
              <a:rPr sz="1700" b="1">
                <a:solidFill>
                  <a:srgbClr val="1B2A38"/>
                </a:solidFill>
                <a:latin typeface="Calibri"/>
              </a:rPr>
              <a:t>código leyendo la ontología</a:t>
            </a:r>
            <a:r>
              <a:rPr sz="1700" b="0">
                <a:solidFill>
                  <a:srgbClr val="1B2A38"/>
                </a:solidFill>
                <a:latin typeface="Calibri"/>
              </a:rPr>
              <a:t>. Sin IA, sin posibilidad de generar un valor incorrecto.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Consultas de </a:t>
            </a:r>
            <a:r>
              <a:rPr sz="1700" b="1">
                <a:solidFill>
                  <a:srgbClr val="1B2A38"/>
                </a:solidFill>
                <a:latin typeface="Calibri"/>
              </a:rPr>
              <a:t>texto abierto</a:t>
            </a:r>
            <a:r>
              <a:rPr sz="1700" b="0">
                <a:solidFill>
                  <a:srgbClr val="1B2A38"/>
                </a:solidFill>
                <a:latin typeface="Calibri"/>
              </a:rPr>
              <a:t> («¿en qué consiste el índice de Wobbe?»): se derivan al servicio de IA.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Resuelve </a:t>
            </a:r>
            <a:r>
              <a:rPr sz="1700" b="1">
                <a:solidFill>
                  <a:srgbClr val="1B2A38"/>
                </a:solidFill>
                <a:latin typeface="Calibri"/>
              </a:rPr>
              <a:t>sin IA</a:t>
            </a:r>
            <a:r>
              <a:rPr sz="1700" b="0">
                <a:solidFill>
                  <a:srgbClr val="1B2A38"/>
                </a:solidFill>
                <a:latin typeface="Calibri"/>
              </a:rPr>
              <a:t> siete tipos de intención: valor de un límite, cumplimiento, fuente, intercambiabilidad, restrictividad frente a España, comparación directa y conversión de condiciones.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4A5B68"/>
                </a:solidFill>
                <a:latin typeface="Calibri"/>
              </a:rPr>
              <a:t>•  </a:t>
            </a:r>
            <a:r>
              <a:rPr sz="1500" b="0">
                <a:solidFill>
                  <a:srgbClr val="4A5B68"/>
                </a:solidFill>
                <a:latin typeface="Calibri"/>
              </a:rPr>
              <a:t>En la práctica, la mayoría de consultas se resuelven sin recurrir a la 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Normalización de condiciones (ISO 13443)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Para comparar de forma rigurosa: cada país usa unidades y condiciones de referencia distintas.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Unos expresan en </a:t>
            </a:r>
            <a:r>
              <a:rPr sz="1700" b="1">
                <a:solidFill>
                  <a:srgbClr val="1B2A38"/>
                </a:solidFill>
                <a:latin typeface="Calibri"/>
              </a:rPr>
              <a:t>kWh/m³</a:t>
            </a:r>
            <a:r>
              <a:rPr sz="1700" b="0">
                <a:solidFill>
                  <a:srgbClr val="1B2A38"/>
                </a:solidFill>
                <a:latin typeface="Calibri"/>
              </a:rPr>
              <a:t>, otros en </a:t>
            </a:r>
            <a:r>
              <a:rPr sz="1700" b="1">
                <a:solidFill>
                  <a:srgbClr val="1B2A38"/>
                </a:solidFill>
                <a:latin typeface="Calibri"/>
              </a:rPr>
              <a:t>MJ/m³</a:t>
            </a:r>
            <a:r>
              <a:rPr sz="1700" b="0">
                <a:solidFill>
                  <a:srgbClr val="1B2A38"/>
                </a:solidFill>
                <a:latin typeface="Calibri"/>
              </a:rPr>
              <a:t> o kcal/m³; unos miden a </a:t>
            </a:r>
            <a:r>
              <a:rPr sz="1700" b="1">
                <a:solidFill>
                  <a:srgbClr val="1B2A38"/>
                </a:solidFill>
                <a:latin typeface="Calibri"/>
              </a:rPr>
              <a:t>0 °C</a:t>
            </a:r>
            <a:r>
              <a:rPr sz="1700" b="0">
                <a:solidFill>
                  <a:srgbClr val="1B2A38"/>
                </a:solidFill>
                <a:latin typeface="Calibri"/>
              </a:rPr>
              <a:t>, otros a </a:t>
            </a:r>
            <a:r>
              <a:rPr sz="1700" b="1">
                <a:solidFill>
                  <a:srgbClr val="1B2A38"/>
                </a:solidFill>
                <a:latin typeface="Calibri"/>
              </a:rPr>
              <a:t>15</a:t>
            </a:r>
            <a:r>
              <a:rPr sz="1700" b="0">
                <a:solidFill>
                  <a:srgbClr val="1B2A38"/>
                </a:solidFill>
                <a:latin typeface="Calibri"/>
              </a:rPr>
              <a:t> o a </a:t>
            </a:r>
            <a:r>
              <a:rPr sz="1700" b="1">
                <a:solidFill>
                  <a:srgbClr val="1B2A38"/>
                </a:solidFill>
                <a:latin typeface="Calibri"/>
              </a:rPr>
              <a:t>25 °C</a:t>
            </a:r>
            <a:r>
              <a:rPr sz="17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Comparar los valores en bruto sería incorrecto (como comparar millas con kilómetros).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Todos los valores se llevan a la </a:t>
            </a:r>
            <a:r>
              <a:rPr sz="1700" b="1">
                <a:solidFill>
                  <a:srgbClr val="1B2A38"/>
                </a:solidFill>
                <a:latin typeface="Calibri"/>
              </a:rPr>
              <a:t>base española</a:t>
            </a:r>
            <a:r>
              <a:rPr sz="1700" b="0">
                <a:solidFill>
                  <a:srgbClr val="1B2A38"/>
                </a:solidFill>
                <a:latin typeface="Calibri"/>
              </a:rPr>
              <a:t> con los </a:t>
            </a:r>
            <a:r>
              <a:rPr sz="1700" b="1">
                <a:solidFill>
                  <a:srgbClr val="1B2A38"/>
                </a:solidFill>
                <a:latin typeface="Calibri"/>
              </a:rPr>
              <a:t>factores literales de la norma ISO 13443</a:t>
            </a:r>
            <a:r>
              <a:rPr sz="1700" b="0">
                <a:solidFill>
                  <a:srgbClr val="1B2A38"/>
                </a:solidFill>
                <a:latin typeface="Calibri"/>
              </a:rPr>
              <a:t> (Tabla A.1), ya implementados y verificados.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1">
                <a:solidFill>
                  <a:srgbClr val="1B2A38"/>
                </a:solidFill>
                <a:latin typeface="Calibri"/>
              </a:rPr>
              <a:t>España</a:t>
            </a:r>
            <a:r>
              <a:rPr sz="1700" b="0">
                <a:solidFill>
                  <a:srgbClr val="1B2A38"/>
                </a:solidFill>
                <a:latin typeface="Calibri"/>
              </a:rPr>
              <a:t> es siempre la base de referencia de la comparación.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4A5B68"/>
                </a:solidFill>
                <a:latin typeface="Calibri"/>
              </a:rPr>
              <a:t>•  </a:t>
            </a:r>
            <a:r>
              <a:rPr sz="1500" b="0">
                <a:solidFill>
                  <a:srgbClr val="4A5B68"/>
                </a:solidFill>
                <a:latin typeface="Calibri"/>
              </a:rPr>
              <a:t>Los valores derivados se muestran con 2 decimales (sin falsa precisión); los originales, con su precisión de origen.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La inteligencia artificial y sus salvaguardas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Cuando una consulta se deriva al servicio de IA, este opera bajo restricciones estrictas: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Tiene </a:t>
            </a:r>
            <a:r>
              <a:rPr sz="1700" b="1">
                <a:solidFill>
                  <a:srgbClr val="1B2A38"/>
                </a:solidFill>
                <a:latin typeface="Calibri"/>
              </a:rPr>
              <a:t>prohibido generar cifras</a:t>
            </a:r>
            <a:r>
              <a:rPr sz="1700" b="0">
                <a:solidFill>
                  <a:srgbClr val="1B2A38"/>
                </a:solidFill>
                <a:latin typeface="Calibri"/>
              </a:rPr>
              <a:t>: si necesita un dato, lo pide a las herramientas internas, que lo obtienen de la ontología.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Debe </a:t>
            </a:r>
            <a:r>
              <a:rPr sz="1700" b="1">
                <a:solidFill>
                  <a:srgbClr val="1B2A38"/>
                </a:solidFill>
                <a:latin typeface="Calibri"/>
              </a:rPr>
              <a:t>citar</a:t>
            </a:r>
            <a:r>
              <a:rPr sz="1700" b="0">
                <a:solidFill>
                  <a:srgbClr val="1B2A38"/>
                </a:solidFill>
                <a:latin typeface="Calibri"/>
              </a:rPr>
              <a:t> los documentos oficiales, y su ámbito se limita a la calidad del gas.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Si el servicio de IA no está disponible, el sistema </a:t>
            </a:r>
            <a:r>
              <a:rPr sz="1700" b="1">
                <a:solidFill>
                  <a:srgbClr val="1B2A38"/>
                </a:solidFill>
                <a:latin typeface="Calibri"/>
              </a:rPr>
              <a:t>conmuta automáticamente al modo determinista</a:t>
            </a:r>
            <a:r>
              <a:rPr sz="1700" b="0">
                <a:solidFill>
                  <a:srgbClr val="1B2A38"/>
                </a:solidFill>
                <a:latin typeface="Calibri"/>
              </a:rPr>
              <a:t>: nunca se interrumpe.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4A5B68"/>
                </a:solidFill>
                <a:latin typeface="Calibri"/>
              </a:rPr>
              <a:t>•  </a:t>
            </a:r>
            <a:r>
              <a:rPr sz="1500" b="0">
                <a:solidFill>
                  <a:srgbClr val="4A5B68"/>
                </a:solidFill>
                <a:latin typeface="Calibri"/>
              </a:rPr>
              <a:t>Modelo: OpenAI GPT-4o-mini, temperatura 0 (máxima previsibilidad), con llamadas a herramientas (function calling).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Recuperación documental (RAG) y terminología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Para el texto abierto, la respuesta se fundamenta en los documentos oficiales, no en el conocimiento general del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Indexación:</a:t>
            </a:r>
            <a:r>
              <a:rPr sz="1500" b="0">
                <a:solidFill>
                  <a:srgbClr val="1B2A38"/>
                </a:solidFill>
                <a:latin typeface="Calibri"/>
              </a:rPr>
              <a:t> se procesan los PDF, se extrae el texto y se trocea en </a:t>
            </a:r>
            <a:r>
              <a:rPr sz="1500" b="1">
                <a:solidFill>
                  <a:srgbClr val="1B2A38"/>
                </a:solidFill>
                <a:latin typeface="Calibri"/>
              </a:rPr>
              <a:t>fragmentos con solape</a:t>
            </a:r>
            <a:r>
              <a:rPr sz="1500" b="0">
                <a:solidFill>
                  <a:srgbClr val="1B2A38"/>
                </a:solidFill>
                <a:latin typeface="Calibri"/>
              </a:rPr>
              <a:t> (ventana continua que cruza el salto de página); indexación </a:t>
            </a:r>
            <a:r>
              <a:rPr sz="1500" b="1">
                <a:solidFill>
                  <a:srgbClr val="1B2A38"/>
                </a:solidFill>
                <a:latin typeface="Calibri"/>
              </a:rPr>
              <a:t>incremental</a:t>
            </a:r>
            <a:r>
              <a:rPr sz="15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Recuperación:</a:t>
            </a:r>
            <a:r>
              <a:rPr sz="1500" b="0">
                <a:solidFill>
                  <a:srgbClr val="1B2A38"/>
                </a:solidFill>
                <a:latin typeface="Calibri"/>
              </a:rPr>
              <a:t> búsqueda </a:t>
            </a:r>
            <a:r>
              <a:rPr sz="1500" b="1">
                <a:solidFill>
                  <a:srgbClr val="1B2A38"/>
                </a:solidFill>
                <a:latin typeface="Calibri"/>
              </a:rPr>
              <a:t>léxica</a:t>
            </a:r>
            <a:r>
              <a:rPr sz="1500" b="0">
                <a:solidFill>
                  <a:srgbClr val="1B2A38"/>
                </a:solidFill>
                <a:latin typeface="Calibri"/>
              </a:rPr>
              <a:t> (por términos) que devuelve los fragmentos pertinentes con archivo y página; reproducible, sin caja negra externa.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Estudio de terminología:</a:t>
            </a:r>
            <a:r>
              <a:rPr sz="1500" b="0">
                <a:solidFill>
                  <a:srgbClr val="1B2A38"/>
                </a:solidFill>
                <a:latin typeface="Calibri"/>
              </a:rPr>
              <a:t> se mide la variación de nombres entre normas (</a:t>
            </a:r>
            <a:r>
              <a:rPr sz="1500" b="1">
                <a:solidFill>
                  <a:srgbClr val="1B2A38"/>
                </a:solidFill>
                <a:latin typeface="Calibri"/>
              </a:rPr>
              <a:t>índice de variación</a:t>
            </a:r>
            <a:r>
              <a:rPr sz="1500" b="0">
                <a:solidFill>
                  <a:srgbClr val="1B2A38"/>
                </a:solidFill>
                <a:latin typeface="Calibri"/>
              </a:rPr>
              <a:t>: 27,4 en gas natural, 9,2 en biometano, 7,3 en hidrógeno; umbral 7,0).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4A5B68"/>
                </a:solidFill>
                <a:latin typeface="Calibri"/>
              </a:rPr>
              <a:t>•  </a:t>
            </a:r>
            <a:r>
              <a:rPr sz="1300" b="0">
                <a:solidFill>
                  <a:srgbClr val="4A5B68"/>
                </a:solidFill>
                <a:latin typeface="Calibri"/>
              </a:rPr>
              <a:t>El estudio justifica una capa de búsqueda semántica (multilingüe), que se deja preparada y opt-in.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Ampliación: biometano e hidrógeno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Capa aditiva: el gas natural queda byte a byte intacto (mismo motor, misma disciplina). 14/14 pruebas en verde.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3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0849"/>
                <a:gridCol w="2378294"/>
                <a:gridCol w="2998719"/>
                <a:gridCol w="4446376"/>
              </a:tblGrid>
              <a:tr h="152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Jurisdicciones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Parámetros clave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Fuentes normativas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38"/>
                          </a:solidFill>
                          <a:latin typeface="Calibri"/>
                        </a:rPr>
                        <a:t>Biometano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38"/>
                          </a:solidFill>
                          <a:latin typeface="Calibri"/>
                        </a:rPr>
                        <a:t>España · Portugal · Francia · UE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38"/>
                          </a:solidFill>
                          <a:latin typeface="Calibri"/>
                        </a:rPr>
                        <a:t>CH₄ mínimo · CO₂ · siloxanos (+ O₂, azufre, NH₃, aminas)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38"/>
                          </a:solidFill>
                          <a:latin typeface="Calibri"/>
                        </a:rPr>
                        <a:t>EN 16723-1 · EN 16726 · Reg. (UE) 2024/1789 · Orden TED/181/2025 · GRTgaz/GRDF · RQS Anexo XI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A38"/>
                          </a:solidFill>
                          <a:latin typeface="Calibri"/>
                        </a:rPr>
                        <a:t>Hidrógeno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38"/>
                          </a:solidFill>
                          <a:latin typeface="Calibri"/>
                        </a:rPr>
                        <a:t>Dominio de RED (TSO) + producto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38"/>
                          </a:solidFill>
                          <a:latin typeface="Calibri"/>
                        </a:rPr>
                        <a:t>Pureza H₂ · O₂ · trazas de compresores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2A38"/>
                          </a:solidFill>
                          <a:latin typeface="Calibri"/>
                        </a:rPr>
                        <a:t>CEN/TS 17977 · GIE (recomendación) · RQS Anexo XII (PT, 98 % vinculante) · ISO 14687 (vehículo)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B68"/>
                </a:solidFill>
                <a:latin typeface="Calibri"/>
              </a:rPr>
              <a:t>Distinción de dominio: calidad de RED (gasoducto: CEN/TS 17977, GIE, ≥98 %) frente a producto de VEHÍCULO (ISO 14687, 99,97 %). Solo Portugal (RQS) fija hoy una pureza de H₂ vinculante; España y Francia regulan el blending; la UE lo recomienda vía GIE.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Metodología, verificación y garantías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La fiabilidad es consecuencia del rigor del proceso de carga. Para cada jurisdicción: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Se identificó la </a:t>
            </a:r>
            <a:r>
              <a:rPr sz="1700" b="1">
                <a:solidFill>
                  <a:srgbClr val="1B2A38"/>
                </a:solidFill>
                <a:latin typeface="Calibri"/>
              </a:rPr>
              <a:t>norma oficial vigente</a:t>
            </a:r>
            <a:r>
              <a:rPr sz="1700" b="0">
                <a:solidFill>
                  <a:srgbClr val="1B2A38"/>
                </a:solidFill>
                <a:latin typeface="Calibri"/>
              </a:rPr>
              <a:t>, se </a:t>
            </a:r>
            <a:r>
              <a:rPr sz="1700" b="1">
                <a:solidFill>
                  <a:srgbClr val="1B2A38"/>
                </a:solidFill>
                <a:latin typeface="Calibri"/>
              </a:rPr>
              <a:t>archivó el documento</a:t>
            </a:r>
            <a:r>
              <a:rPr sz="1700" b="0">
                <a:solidFill>
                  <a:srgbClr val="1B2A38"/>
                </a:solidFill>
                <a:latin typeface="Calibri"/>
              </a:rPr>
              <a:t> localmente y se </a:t>
            </a:r>
            <a:r>
              <a:rPr sz="1700" b="1">
                <a:solidFill>
                  <a:srgbClr val="1B2A38"/>
                </a:solidFill>
                <a:latin typeface="Calibri"/>
              </a:rPr>
              <a:t>transcribió cada cifra literalmente</a:t>
            </a:r>
            <a:r>
              <a:rPr sz="17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Se </a:t>
            </a:r>
            <a:r>
              <a:rPr sz="1700" b="1">
                <a:solidFill>
                  <a:srgbClr val="1B2A38"/>
                </a:solidFill>
                <a:latin typeface="Calibri"/>
              </a:rPr>
              <a:t>verificó una a una</a:t>
            </a:r>
            <a:r>
              <a:rPr sz="1700" b="0">
                <a:solidFill>
                  <a:srgbClr val="1B2A38"/>
                </a:solidFill>
                <a:latin typeface="Calibri"/>
              </a:rPr>
              <a:t> contra el documento; lo que la norma </a:t>
            </a:r>
            <a:r>
              <a:rPr sz="1700" b="1">
                <a:solidFill>
                  <a:srgbClr val="1B2A38"/>
                </a:solidFill>
                <a:latin typeface="Calibri"/>
              </a:rPr>
              <a:t>no fija, no se completa</a:t>
            </a:r>
            <a:r>
              <a:rPr sz="1700" b="0">
                <a:solidFill>
                  <a:srgbClr val="1B2A38"/>
                </a:solidFill>
                <a:latin typeface="Calibri"/>
              </a:rPr>
              <a:t> (se marca «no verificable», con su justificación).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1">
                <a:solidFill>
                  <a:srgbClr val="1B2A38"/>
                </a:solidFill>
                <a:latin typeface="Calibri"/>
              </a:rPr>
              <a:t>Controles automáticos</a:t>
            </a:r>
            <a:r>
              <a:rPr sz="1700" b="0">
                <a:solidFill>
                  <a:srgbClr val="1B2A38"/>
                </a:solidFill>
                <a:latin typeface="Calibri"/>
              </a:rPr>
              <a:t>: comprueban que las celdas se resuelven, que los enlaces funcionan y que no hay incoherencias.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4A5B68"/>
                </a:solidFill>
                <a:latin typeface="Calibri"/>
              </a:rPr>
              <a:t>•  </a:t>
            </a:r>
            <a:r>
              <a:rPr sz="1500" b="0">
                <a:solidFill>
                  <a:srgbClr val="4A5B68"/>
                </a:solidFill>
                <a:latin typeface="Calibri"/>
              </a:rPr>
              <a:t>Garantías: cero cifras inventadas · trazabilidad completa · transparencia · reproducibilidad · auditabilidad.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46304" cy="237744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005840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99D6"/>
                </a:solidFill>
                <a:latin typeface="Calibri"/>
              </a:rPr>
              <a:t>En síntesis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Compara la calidad regulatoria del gas natural,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biometano e hidrógeno entre jurisdicciones,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 trazabilidad total y sin cifras inventadas.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5029200"/>
            <a:ext cx="10058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0"/>
                </a:solidFill>
                <a:latin typeface="Calibri"/>
              </a:rPr>
              <a:t>Las cifras salen de normativa oficial verificada. La IA solo redacta texto; nunca inventa un número. El gas natural permanece intacto tras la ampliación.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