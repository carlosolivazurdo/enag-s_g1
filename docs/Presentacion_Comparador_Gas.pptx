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[~15 s] Enlazar con la demo: 'Acabáis de ver lo que hace. En cinco minutos os enseño lo que hay debajo: la arquitectura y, sobre todo, la ontología, que es donde vive el rigor del sistema.' No repitáis funcionalidades: ya las han visto.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[~50 s] Recordad las cuatro cifras y saltad rápido al problema: la información regulatoria está dispersa y, sobre todo, NO ES DIRECTAMENTE COMPARABLE, porque cada país usa unidades y condiciones distintas. Y la promesa: cero cifras inventadas. De los 277 valores trazables, 209 están verificados verbatim, 20 por fuente pública secundaria (cuando la norma primaria es de pago) y 48 declarados 'no verificable' porque la norma no los fija. Cerrad enlazando: 'esto se sostiene sobre dos piezas, la arquitectura y la ontología'.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[~70 s] Recorred el esquema con el dedo. Uno: el usuario pregunta desde la interfaz. Dos: la pregunta entra en NUESTRO servidor y lo primero que encuentra es el ROUTER DETERMINISTA, que decide quién la resuelve. Si es cuantitativa —RUTA A, la mayoría— la resuelve el código leyendo la ontología: sin IA, sin posibilidad de inventar. Si es de texto abierto —RUTA B— va al modelo. Y aquí está lo importante: fijaos en la flecha que SUBE desde la IA hasta la ontología. Incluso en la ruta B el modelo no produce el número: lo PIDE, mediante function calling. Esa flecha es, técnicamente, la garantía anti-alucinación. Cerrad con la banda inferior: la IA es una comodidad, no una dependencia.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[~50 s] Suele asumirse que hay una gran base de datos única. No la hay. Lo que hay que retener es el reparto: las cifras viven SOLO en la capa 2, la ontología. La capa 3, el índice documental, no guarda ningún número: solo localiza el pasaje pertinente cuando la consulta es de texto abierto. Y los PDF los guardamos en local para no depender de que una web externa siga viva. Si preguntan por pint, PyPDF2, pandas o cryptography: están en requirements pero HOY NO SE USAN, y lo sabemos.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[~70 s] Esta es la estructura REAL del fichero, no una versión idealizada. Arriba, lo que el código lee de verdad: el catálogo de las 39 normas oficiales, el registro de los 3 tipos de gas, el catálogo de unidades, y las tres secciones de parámetros —una por gas—. Lo importante: esas tres secciones comparten EXACTAMENTE el mismo esquema, y por eso ampliar a biometano e hidrógeno no obligó a tocar la arquitectura. Y sed honestos con la caja naranja: hay claves (flags, orquestador, motor_reglas, rag) que son documentación del diseño dentro del propio YAML y que el código NO lee. Decirlo vosotros primero vale más que si os lo encuentran. Por último, el porqué del YAML: a esta escala un fichero legible y versionado en git es más auditable que una base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[~60 s] Aquí está el valor real del diseño: de cada dato no guardamos solo el número, sino todo su contexto. Señalad dos campos. Uno, 'expresion_original': el texto literal de la norma, tal cual está redactado —eso convierte la confianza en VERIFICABILIDAD: no hay que creerse el dato, se comprueba—. Dos, 'condiciones_referencia': es lo que permite normalizar con la ISO 13443 antes de comparar, porque comparar en bruto valores medidos a 0, 15 o 25 grados sería metodológicamente incorrecto. A la derecha, los tres estados. Y el ejemplo de Dinamarca es el que mejor lo ilustra: era fácil rellenar el hueco con un número que estaba en la misma norma, pero pertenecía a otro contexto —biogás de distribución, no transporte—. Preferimos el hueco honesto: informa mejor que un número falso.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[~30 s] Cierre. Las cinco garantías salen del rigor del proceso, no de la suerte. Y la frase final es la que queremos que se lleven: la IA redacta el texto; los números salen siempre de la normativa oficial. Gracias, y quedamos a vuestra disposición para las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1874519"/>
            <a:ext cx="137160" cy="205740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828800"/>
            <a:ext cx="10058400" cy="1097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Comparador Regulatorio</a:t>
            </a:r>
          </a:p>
          <a:p>
            <a:pPr algn="l"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de Calidad de Gas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4434840"/>
            <a:ext cx="10058400" cy="1097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100" b="0">
                <a:solidFill>
                  <a:srgbClr val="0099D6"/>
                </a:solidFill>
                <a:latin typeface="Calibri"/>
              </a:rPr>
              <a:t>Lo que hay debajo: arquitectura y ontología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C9D6E0"/>
                </a:solidFill>
                <a:latin typeface="Calibri"/>
              </a:rPr>
              <a:t>Acabáis de ver QUÉ hace. Ahora, CÓMO está construido y POR QUÉ es fiable.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5989320"/>
            <a:ext cx="10058400" cy="365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FA6B8"/>
                </a:solidFill>
                <a:latin typeface="Calibri"/>
              </a:rPr>
              <a:t>Ontología v3.2.0 · rev. 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515600" cy="23774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RESUMEN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10607040" cy="53035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El sistema, en una diapositiva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Lo que acabáis de ver, resumido — y la promesa que lo sostiene.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697480" cy="160020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2697480" cy="7315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28800"/>
            <a:ext cx="2697480" cy="8229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4200" b="1">
                <a:solidFill>
                  <a:srgbClr val="013A57"/>
                </a:solidFill>
                <a:latin typeface="Calibri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697480" cy="411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4A5B68"/>
                </a:solidFill>
                <a:latin typeface="Calibri"/>
              </a:rPr>
              <a:t>jurisdicciones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2424" y="1645920"/>
            <a:ext cx="2697480" cy="160020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2424" y="1645920"/>
            <a:ext cx="2697480" cy="7315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92424" y="1828800"/>
            <a:ext cx="2697480" cy="8229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4200" b="1">
                <a:solidFill>
                  <a:srgbClr val="013A57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424" y="2697480"/>
            <a:ext cx="2697480" cy="411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4A5B68"/>
                </a:solidFill>
                <a:latin typeface="Calibri"/>
              </a:rPr>
              <a:t>parámetros de calidad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6208" y="1645920"/>
            <a:ext cx="2697480" cy="160020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6208" y="1645920"/>
            <a:ext cx="2697480" cy="7315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8" y="1828800"/>
            <a:ext cx="2697480" cy="8229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4200" b="1">
                <a:solidFill>
                  <a:srgbClr val="013A57"/>
                </a:solidFill>
                <a:latin typeface="Calibri"/>
              </a:rPr>
              <a:t>277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2697480"/>
            <a:ext cx="2697480" cy="411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4A5B68"/>
                </a:solidFill>
                <a:latin typeface="Calibri"/>
              </a:rPr>
              <a:t>valores trazables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79992" y="1645920"/>
            <a:ext cx="2697480" cy="160020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79992" y="1645920"/>
            <a:ext cx="2697480" cy="7315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9992" y="1828800"/>
            <a:ext cx="2697480" cy="8229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4200" b="1">
                <a:solidFill>
                  <a:srgbClr val="013A57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9992" y="2697480"/>
            <a:ext cx="2697480" cy="411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4A5B68"/>
                </a:solidFill>
                <a:latin typeface="Calibri"/>
              </a:rPr>
              <a:t>cifras inventadas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429000"/>
            <a:ext cx="5394960" cy="21488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429000"/>
            <a:ext cx="5394960" cy="4572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474720"/>
            <a:ext cx="502920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EL PROBLEMA QUE RESUELVE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023360"/>
            <a:ext cx="5029200" cy="1463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Cada país regula la calidad del gas con SU PROPIA normativa, dispersa y en varios idiomas.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Las unidades y las condiciones NO coinciden: unos miden a 0 °C, otros a 15 o a 25 °C.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Compararlas a mano es lento y propenso a error.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3429000"/>
            <a:ext cx="5394960" cy="21488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429000"/>
            <a:ext cx="5394960" cy="45720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8232" y="3474720"/>
            <a:ext cx="502920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CÓMO LO GARANTIZAMOS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023360"/>
            <a:ext cx="5029200" cy="1463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013A57"/>
                </a:solidFill>
                <a:latin typeface="Calibri"/>
              </a:rPr>
              <a:t>• Las cifras NO nacen en el modelo: salen de una base verificada, con su cita.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Antes de comparar, se normalizan unidades y condiciones (ISO 13443).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Lo que la norma no fija, se declara: no se rellena con estimaciones.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715000"/>
            <a:ext cx="11109960" cy="594360"/>
          </a:xfrm>
          <a:prstGeom prst="rect">
            <a:avLst/>
          </a:prstGeom>
          <a:solidFill>
            <a:srgbClr val="E4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715000"/>
            <a:ext cx="82296" cy="59436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733288"/>
            <a:ext cx="10744200" cy="54864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13A57"/>
                </a:solidFill>
                <a:latin typeface="Calibri"/>
              </a:rPr>
              <a:t>Todo lo anterior descansa en dos piezas: la ARQUITECTURA (que separa el dato del lenguaje) y la ONTOLOGÍA (donde vive el dato). Vamos a ellas.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515600" cy="23774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PIEZA 1 · 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10607040" cy="53035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Arquitectura del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Cuatro componentes. La regla: toda cifra procede de la ontología; la IA solo redacta.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788920"/>
            <a:ext cx="19659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2788920"/>
            <a:ext cx="1965960" cy="384048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825496"/>
            <a:ext cx="196596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1 · INTERFAZ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73552"/>
            <a:ext cx="1737360" cy="11430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13A57"/>
                </a:solidFill>
                <a:latin typeface="Calibri"/>
              </a:rPr>
              <a:t>El usuario pregunta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B68"/>
                </a:solidFill>
                <a:latin typeface="Calibri"/>
              </a:rPr>
              <a:t>index.html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B68"/>
                </a:solidFill>
                <a:latin typeface="Calibri"/>
              </a:rPr>
              <a:t>JavaScript vanilla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B68"/>
                </a:solidFill>
                <a:latin typeface="Calibri"/>
              </a:rPr>
              <a:t>marked · DOMPurify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404872" y="3502152"/>
            <a:ext cx="292608" cy="274320"/>
          </a:xfrm>
          <a:prstGeom prst="rightArrow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24912" y="1691640"/>
            <a:ext cx="4754880" cy="3977639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9050">
            <a:solidFill>
              <a:srgbClr val="013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24912" y="1691640"/>
            <a:ext cx="4754880" cy="56692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1737360"/>
            <a:ext cx="4480560" cy="47548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 · SERVIDOR DE APLICACIÓN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0099D6"/>
                </a:solidFill>
                <a:latin typeface="Calibri"/>
              </a:rPr>
              <a:t>Python · FastAPI · uvicorn · pydantic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2450592"/>
            <a:ext cx="4343400" cy="621792"/>
          </a:xfrm>
          <a:prstGeom prst="roundRect">
            <a:avLst>
              <a:gd name="adj" fmla="val 6000"/>
            </a:avLst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2505456"/>
            <a:ext cx="4343400" cy="51206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ROUTER DETERMINISTA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BFDBEA"/>
                </a:solidFill>
                <a:latin typeface="Calibri"/>
              </a:rPr>
              <a:t>¿la resuelve el código o hace falta la IA?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3794760" y="3108960"/>
            <a:ext cx="237744" cy="219456"/>
          </a:xfrm>
          <a:prstGeom prst="downArrow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5989320" y="3108960"/>
            <a:ext cx="237744" cy="219456"/>
          </a:xfrm>
          <a:prstGeom prst="downArrow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26080" y="3401568"/>
            <a:ext cx="4343400" cy="960120"/>
          </a:xfrm>
          <a:prstGeom prst="roundRect">
            <a:avLst>
              <a:gd name="adj" fmla="val 6000"/>
            </a:avLst>
          </a:prstGeom>
          <a:solidFill>
            <a:srgbClr val="E8F4E2"/>
          </a:solidFill>
          <a:ln w="15875">
            <a:solidFill>
              <a:srgbClr val="6CB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26080" y="3401568"/>
            <a:ext cx="82296" cy="96012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27248" y="3465576"/>
            <a:ext cx="4069080" cy="8412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3E6B22"/>
                </a:solidFill>
                <a:latin typeface="Calibri"/>
              </a:rPr>
              <a:t>RUTA A · Consulta cuantitativa   (la mayoría)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B2A38"/>
                </a:solidFill>
                <a:latin typeface="Calibri"/>
              </a:rPr>
              <a:t>La resuelve el CÓDIGO. Sin IA.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fuente_oficial · conversor_unidades · condiciones_referencia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26080" y="4572000"/>
            <a:ext cx="4343400" cy="960120"/>
          </a:xfrm>
          <a:prstGeom prst="roundRect">
            <a:avLst>
              <a:gd name="adj" fmla="val 6000"/>
            </a:avLst>
          </a:prstGeom>
          <a:solidFill>
            <a:srgbClr val="FDF0DF"/>
          </a:solidFill>
          <a:ln w="15875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26080" y="4572000"/>
            <a:ext cx="82296" cy="96012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27248" y="4636008"/>
            <a:ext cx="4069080" cy="8412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A5610E"/>
                </a:solidFill>
                <a:latin typeface="Calibri"/>
              </a:rPr>
              <a:t>RUTA B · Texto abierto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B2A38"/>
                </a:solidFill>
                <a:latin typeface="Calibri"/>
              </a:rPr>
              <a:t>Va al modelo, que PIDE las cifras.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llm_interface · function calling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498079" y="3749039"/>
            <a:ext cx="310896" cy="274320"/>
          </a:xfrm>
          <a:prstGeom prst="rightArrow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7498079" y="4919472"/>
            <a:ext cx="310896" cy="274320"/>
          </a:xfrm>
          <a:prstGeom prst="rightArrow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863840" y="3063240"/>
            <a:ext cx="3886200" cy="1371600"/>
          </a:xfrm>
          <a:prstGeom prst="roundRect">
            <a:avLst>
              <a:gd name="adj" fmla="val 6000"/>
            </a:avLst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0" y="3154680"/>
            <a:ext cx="3566160" cy="11887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99D6"/>
                </a:solidFill>
                <a:latin typeface="Calibri"/>
              </a:rPr>
              <a:t>3 · BASE DE CONOCIMIENTO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Ontología YAML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C9D6E0"/>
                </a:solidFill>
                <a:latin typeface="Calibri"/>
              </a:rPr>
              <a:t>Las 277 cifras, cada una con su unidad, sus condiciones y su cita oficial.</a:t>
            </a:r>
          </a:p>
        </p:txBody>
      </p:sp>
      <p:sp>
        <p:nvSpPr>
          <p:cNvPr id="31" name="Up Arrow 30"/>
          <p:cNvSpPr/>
          <p:nvPr/>
        </p:nvSpPr>
        <p:spPr>
          <a:xfrm>
            <a:off x="8275320" y="4526280"/>
            <a:ext cx="274320" cy="384048"/>
          </a:xfrm>
          <a:prstGeom prst="upArrow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1080" y="4553712"/>
            <a:ext cx="310896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A5610E"/>
                </a:solidFill>
                <a:latin typeface="Calibri"/>
              </a:rPr>
              <a:t>function calling: el modelo PIDE la cifra, no la inventa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63840" y="4983480"/>
            <a:ext cx="3886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88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0" y="5056632"/>
            <a:ext cx="3566160" cy="7772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A5610E"/>
                </a:solidFill>
                <a:latin typeface="Calibri"/>
              </a:rPr>
              <a:t>4 · SERVICIO DE IA  (externo · opcional)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OpenAI GPT-4o-mini · temperatura 0 — solo REDACTA, nunca genera cifras.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870448"/>
            <a:ext cx="11338560" cy="457200"/>
          </a:xfrm>
          <a:prstGeom prst="rect">
            <a:avLst/>
          </a:prstGeom>
          <a:solidFill>
            <a:srgbClr val="E4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5870448"/>
            <a:ext cx="82296" cy="457200"/>
          </a:xfrm>
          <a:prstGeom prst="rect">
            <a:avLst/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907024"/>
            <a:ext cx="10972800" cy="3840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13A57"/>
                </a:solidFill>
                <a:latin typeface="Calibri"/>
              </a:rPr>
              <a:t>Si la IA no está disponible, el router conmuta a determinista: el chat nunca falla, y las cifras son las mismas.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515600" cy="23774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PIEZA 1 · 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10607040" cy="53035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Las tres capas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No hay una única base de datos: hay tres capas con funciones distintas. Y solo UNA guarda cifras.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3593592" cy="30632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3593592" cy="457200"/>
          </a:xfrm>
          <a:prstGeom prst="rect">
            <a:avLst/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737360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CAPA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267712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13A57"/>
                </a:solidFill>
                <a:latin typeface="Calibri"/>
              </a:rPr>
              <a:t>Documentos oficiales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724912"/>
            <a:ext cx="3291840" cy="1554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Los ~22 PDF de las normas: BOE, ERSE, GRTgaz, DVGW, Fluxys…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Archivados en local para no depender de webs externas.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Es la FUENTE ÚLTIMA DE VERDAD.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4279392"/>
            <a:ext cx="14630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0A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297680"/>
            <a:ext cx="1463040" cy="26517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A5A82"/>
                </a:solidFill>
                <a:latin typeface="Calibri"/>
              </a:rPr>
              <a:t>pdfplumber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0248" y="1691640"/>
            <a:ext cx="3593592" cy="30632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0248" y="1691640"/>
            <a:ext cx="3593592" cy="45720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1737360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CAPA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267712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13A57"/>
                </a:solidFill>
                <a:latin typeface="Calibri"/>
              </a:rPr>
              <a:t>La ontología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724912"/>
            <a:ext cx="3291840" cy="1554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Las 277 cifras extraídas de esos PDF, con su contexto y su cita.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Un único fichero YAML, legible y versionado en git.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De aquí salen TODAS las respuestas.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4279392"/>
            <a:ext cx="14630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6CB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4297680"/>
            <a:ext cx="1463040" cy="26517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6CB33E"/>
                </a:solidFill>
                <a:latin typeface="Calibri"/>
              </a:rPr>
              <a:t>PyYAML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91856" y="1691640"/>
            <a:ext cx="3593592" cy="30632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91856" y="1691640"/>
            <a:ext cx="3593592" cy="4572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737360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CAPA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6448" y="2267712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13A57"/>
                </a:solidFill>
                <a:latin typeface="Calibri"/>
              </a:rPr>
              <a:t>Índice documental (RAG)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6448" y="2724912"/>
            <a:ext cx="3291840" cy="1554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El TEXTO de los PDF troceado en fragmentos con solape.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Localiza el pasaje en las consultas de texto abierto.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NO ALMACENA NINGUNA CIFRA.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56448" y="4279392"/>
            <a:ext cx="14630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56448" y="4297680"/>
            <a:ext cx="1463040" cy="26517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88A1A"/>
                </a:solidFill>
                <a:latin typeface="Calibri"/>
              </a:rPr>
              <a:t>SQLite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92040"/>
            <a:ext cx="11091672" cy="566928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892040"/>
            <a:ext cx="82296" cy="566928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919472"/>
            <a:ext cx="10698480" cy="51206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0099D6"/>
                </a:solidFill>
                <a:latin typeface="Calibri"/>
              </a:rPr>
              <a:t>El stack completo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Frontend: JavaScript vanilla · marked · DOMPurify    |    Backend: Python · FastAPI · uvicorn · pydantic    |    Datos: PyYAML · pdfplumber · SQLite    |    Informes: openpyxl · xhtml2pdf    |    IA (opcional): OpenAI GPT-4o-mini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solidFill>
            <a:srgbClr val="E4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577840"/>
            <a:ext cx="82296" cy="7315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632704"/>
            <a:ext cx="10698480" cy="65836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13A57"/>
                </a:solidFill>
                <a:latin typeface="Calibri"/>
              </a:rPr>
              <a:t>Las CIFRAS residen solo en la capa 2. La capa 3 es un buscador de texto: no puede producir un número.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B68"/>
                </a:solidFill>
                <a:latin typeface="Calibri"/>
              </a:rPr>
              <a:t>Todo el stack es software libre salvo la API de OpenAI — el único componente de pago, y además opcional.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515600" cy="23774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PIEZA 2 · ONTOLOGÍA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10607040" cy="53035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La ontología: estructura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Un único fichero YAML. Esto es lo que hay dentro, exactamente.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2697480" cy="3520440"/>
          </a:xfrm>
          <a:prstGeom prst="roundRect">
            <a:avLst>
              <a:gd name="adj" fmla="val 6000"/>
            </a:avLst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10512"/>
            <a:ext cx="2377440" cy="32004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0099D6"/>
                </a:solidFill>
                <a:latin typeface="Calibri"/>
              </a:rPr>
              <a:t>FICHERO ÚNICO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ontologia_enagas.yaml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9FB3C4"/>
                </a:solidFill>
                <a:latin typeface="Calibri"/>
              </a:rPr>
              <a:t>v3.2.0 · rev. 2026-07</a:t>
            </a:r>
          </a:p>
          <a:p>
            <a:pPr algn="l">
              <a:spcAft>
                <a:spcPts val="300"/>
              </a:spcAft>
            </a:pPr>
            <a:r>
              <a:rPr sz="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9D6E0"/>
                </a:solidFill>
                <a:latin typeface="Calibri"/>
              </a:rPr>
              <a:t>Legible por una persona.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9D6E0"/>
                </a:solidFill>
                <a:latin typeface="Calibri"/>
              </a:rPr>
              <a:t>Versionado en git junto al código: cada cambio de una cifra queda registrado.</a:t>
            </a:r>
          </a:p>
          <a:p>
            <a:pPr algn="l">
              <a:spcAft>
                <a:spcPts val="300"/>
              </a:spcAft>
            </a:pPr>
            <a:r>
              <a:rPr sz="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0099D6"/>
                </a:solidFill>
                <a:latin typeface="Calibri"/>
              </a:rPr>
              <a:t>Por eso YAML y no una base de datos: a esta escala es más AUDITABLE.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6432" y="1783080"/>
            <a:ext cx="41148" cy="3200400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97580" y="1911095"/>
            <a:ext cx="365760" cy="41148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1691640"/>
            <a:ext cx="7818120" cy="484632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31920" y="1691640"/>
            <a:ext cx="73152" cy="484632"/>
          </a:xfrm>
          <a:prstGeom prst="rect">
            <a:avLst/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96512" y="1709928"/>
            <a:ext cx="288036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0A5A82"/>
                </a:solidFill>
                <a:latin typeface="Consolas"/>
              </a:rPr>
              <a:t>ontologia.fuentes_normativas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1709928"/>
            <a:ext cx="457200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El catálogo de las 39 normas oficiales: organismo, publicación, URL y copia local del PDF.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97580" y="2478024"/>
            <a:ext cx="365760" cy="41148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931920" y="2258568"/>
            <a:ext cx="7818120" cy="484632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31920" y="2258568"/>
            <a:ext cx="73152" cy="484632"/>
          </a:xfrm>
          <a:prstGeom prst="rect">
            <a:avLst/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96512" y="2276856"/>
            <a:ext cx="288036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0A5A82"/>
                </a:solidFill>
                <a:latin typeface="Consolas"/>
              </a:rPr>
              <a:t>ontologia.tipos_gas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276856"/>
            <a:ext cx="457200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Los 3 tipos de gas y a qué sección de parámetros apunta cada uno.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97580" y="3044952"/>
            <a:ext cx="365760" cy="41148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31920" y="2825496"/>
            <a:ext cx="7818120" cy="484632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31920" y="2825496"/>
            <a:ext cx="73152" cy="484632"/>
          </a:xfrm>
          <a:prstGeom prst="rect">
            <a:avLst/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96512" y="2843784"/>
            <a:ext cx="288036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0A5A82"/>
                </a:solidFill>
                <a:latin typeface="Consolas"/>
              </a:rPr>
              <a:t>unidades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843784"/>
            <a:ext cx="457200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El catálogo de unidades admitidas (% mol, mg/m3, kWh/m3, MJ/m3, °C…).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97580" y="3611880"/>
            <a:ext cx="365760" cy="41148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31920" y="3392424"/>
            <a:ext cx="7818120" cy="484632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31920" y="3392424"/>
            <a:ext cx="73152" cy="4846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96512" y="3410712"/>
            <a:ext cx="288036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6CB33E"/>
                </a:solidFill>
                <a:latin typeface="Consolas"/>
              </a:rPr>
              <a:t>parametros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3410712"/>
            <a:ext cx="457200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GAS NATURAL — 10 parámetros × 21 jurisdicciones = 210 celdas.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97580" y="4178808"/>
            <a:ext cx="365760" cy="41148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931920" y="3959352"/>
            <a:ext cx="7818120" cy="484632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31920" y="3959352"/>
            <a:ext cx="73152" cy="4846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96512" y="3977639"/>
            <a:ext cx="288036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6CB33E"/>
                </a:solidFill>
                <a:latin typeface="Consolas"/>
              </a:rPr>
              <a:t>parametros_biometano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3977639"/>
            <a:ext cx="457200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BIOMETANO — 12 parámetros × 4 jurisdicciones = 27 celdas.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97580" y="4745736"/>
            <a:ext cx="365760" cy="41148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931920" y="4526280"/>
            <a:ext cx="7818120" cy="484632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931920" y="4526280"/>
            <a:ext cx="73152" cy="4846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96512" y="4544568"/>
            <a:ext cx="288036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6CB33E"/>
                </a:solidFill>
                <a:latin typeface="Consolas"/>
              </a:rPr>
              <a:t>parametros_hidrogeno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4544568"/>
            <a:ext cx="457200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HIDRÓGENO — 18 parámetros × 6 jurisdicciones = 40 celdas.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31920" y="5166360"/>
            <a:ext cx="7818120" cy="502920"/>
          </a:xfrm>
          <a:prstGeom prst="rect">
            <a:avLst/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31920" y="5166360"/>
            <a:ext cx="73152" cy="50292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96512" y="5184648"/>
            <a:ext cx="7498079" cy="46634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A5610E"/>
                </a:solidFill>
                <a:latin typeface="Calibri"/>
              </a:rPr>
              <a:t>flags · orquestador · motor_reglas · rag  —  documentación de diseño dentro del YAML: el código NO las lee.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806440"/>
            <a:ext cx="11292840" cy="502920"/>
          </a:xfrm>
          <a:prstGeom prst="rect">
            <a:avLst/>
          </a:prstGeom>
          <a:solidFill>
            <a:srgbClr val="E4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806440"/>
            <a:ext cx="82296" cy="5029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824728"/>
            <a:ext cx="10881360" cy="46634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13A57"/>
                </a:solidFill>
                <a:latin typeface="Calibri"/>
              </a:rPr>
              <a:t>Las tres secciones de parámetros comparten EXACTAMENTE el mismo esquema: por eso ampliar a biometano e hidrógeno no obligó a cambiar la arquitectura.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515600" cy="23774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PIEZA 2 · ONTOLOGÍA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10607040" cy="53035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Anatomía de un valor, y la garantía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Cada límite NO es solo un número: guarda todo su contexto normativo. Ejemplo real — el O2 de España: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5806440" cy="3429000"/>
          </a:xfrm>
          <a:prstGeom prst="roundRect">
            <a:avLst>
              <a:gd name="adj" fmla="val 6000"/>
            </a:avLst>
          </a:prstGeom>
          <a:solidFill>
            <a:srgbClr val="F5F8FA"/>
          </a:solidFill>
          <a:ln w="15875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45920"/>
            <a:ext cx="5806440" cy="365760"/>
          </a:xfrm>
          <a:prstGeom prst="rect">
            <a:avLst/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73352"/>
            <a:ext cx="5486400" cy="31089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parametros -&gt; O2 -&gt; limites -&gt; 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103120"/>
            <a:ext cx="5486400" cy="28803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13A57"/>
                </a:solidFill>
                <a:latin typeface="Consolas"/>
              </a:rPr>
              <a:t>ES: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fuente: ORDEN_TED_181_2025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articulo: "Tabla 3, apdo. 2.5.2.1 (pág. 27)"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tipo_limite: maximo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valor: 0.01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unidad: pct_mol</a:t>
            </a:r>
          </a:p>
          <a:p>
            <a:pPr algn="l">
              <a:spcAft>
                <a:spcPts val="300"/>
              </a:spcAft>
            </a:pPr>
            <a:r>
              <a:rPr sz="1150" b="1">
                <a:solidFill>
                  <a:srgbClr val="013A57"/>
                </a:solidFill>
                <a:latin typeface="Consolas"/>
              </a:rPr>
              <a:t>  expresion_original: "O2: – / 0,01 % mol"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condiciones_referencia: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  temperatura_volumen_C: 0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  presion_bar: 1.01325</a:t>
            </a:r>
          </a:p>
          <a:p>
            <a:pPr algn="l">
              <a:spcAft>
                <a:spcPts val="300"/>
              </a:spcAft>
            </a:pPr>
            <a:r>
              <a:rPr sz="1150" b="1">
                <a:solidFill>
                  <a:srgbClr val="3E6B22"/>
                </a:solidFill>
                <a:latin typeface="Consolas"/>
              </a:rPr>
              <a:t>  estado_verificacion: VERIFICADO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617720"/>
            <a:ext cx="5486400" cy="411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4A5B68"/>
                </a:solidFill>
                <a:latin typeface="Calibri"/>
              </a:rPr>
              <a:t>La cita (fuente + artículo) y el TEXTO LITERAL permiten recomprobar la celda sin abrir el PDF. Y condiciones_referencia es lo que hace posible normalizar con ISO 13443 antes de comparar.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645920"/>
            <a:ext cx="5184648" cy="1051560"/>
          </a:xfrm>
          <a:prstGeom prst="roundRect">
            <a:avLst>
              <a:gd name="adj" fmla="val 6000"/>
            </a:avLst>
          </a:prstGeom>
          <a:solidFill>
            <a:srgbClr val="E8F4E2"/>
          </a:solidFill>
          <a:ln w="15875">
            <a:solidFill>
              <a:srgbClr val="6CB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37960" y="1645920"/>
            <a:ext cx="82296" cy="105156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84848" y="1700784"/>
            <a:ext cx="1234440" cy="5029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3E6B22"/>
                </a:solidFill>
                <a:latin typeface="Calibri"/>
              </a:rPr>
              <a:t>209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1691640"/>
            <a:ext cx="3566160" cy="9601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3E6B22"/>
                </a:solidFill>
                <a:latin typeface="Calibri"/>
              </a:rPr>
              <a:t>VERIFICADO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1B2A38"/>
                </a:solidFill>
                <a:latin typeface="Calibri"/>
              </a:rPr>
              <a:t>Contrastado VERBATIM contra el boletín oficial.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834640"/>
            <a:ext cx="5184648" cy="1051560"/>
          </a:xfrm>
          <a:prstGeom prst="roundRect">
            <a:avLst>
              <a:gd name="adj" fmla="val 6000"/>
            </a:avLst>
          </a:prstGeom>
          <a:solidFill>
            <a:srgbClr val="E4EFF6"/>
          </a:solidFill>
          <a:ln w="15875">
            <a:solidFill>
              <a:srgbClr val="009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37960" y="2834640"/>
            <a:ext cx="82296" cy="105156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4848" y="2889504"/>
            <a:ext cx="1234440" cy="5029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13A57"/>
                </a:solidFill>
                <a:latin typeface="Calibr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880360"/>
            <a:ext cx="3566160" cy="9601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013A57"/>
                </a:solidFill>
                <a:latin typeface="Calibri"/>
              </a:rPr>
              <a:t>VERIFICADO_SECUNDARIO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1B2A38"/>
                </a:solidFill>
                <a:latin typeface="Calibri"/>
              </a:rPr>
              <a:t>La norma primaria es de pago: valor tomado de fuente pública secundaria, citada.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4023360"/>
            <a:ext cx="5184648" cy="1051560"/>
          </a:xfrm>
          <a:prstGeom prst="roundRect">
            <a:avLst>
              <a:gd name="adj" fmla="val 6000"/>
            </a:avLst>
          </a:prstGeom>
          <a:solidFill>
            <a:srgbClr val="FDF0DF"/>
          </a:solidFill>
          <a:ln w="15875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37960" y="4023360"/>
            <a:ext cx="82296" cy="105156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4078224"/>
            <a:ext cx="1234440" cy="5029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A5610E"/>
                </a:solidFill>
                <a:latin typeface="Calibri"/>
              </a:rPr>
              <a:t>48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4069080"/>
            <a:ext cx="3566160" cy="9601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A5610E"/>
                </a:solidFill>
                <a:latin typeface="Calibri"/>
              </a:rPr>
              <a:t>NO VERIFICABLE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1B2A38"/>
                </a:solidFill>
                <a:latin typeface="Calibri"/>
              </a:rPr>
              <a:t>La norma NO FIJA ese parámetro. No se inventa: se declara el hueco.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5212080"/>
            <a:ext cx="5184648" cy="45720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5230368"/>
            <a:ext cx="4754880" cy="42062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13A57"/>
                </a:solidFill>
                <a:latin typeface="Calibri"/>
              </a:rPr>
              <a:t>277 celdas en total  ·  gas natural: 176 verificadas / 34 no verificables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806440"/>
            <a:ext cx="11219688" cy="502920"/>
          </a:xfrm>
          <a:prstGeom prst="rect">
            <a:avLst/>
          </a:prstGeom>
          <a:solidFill>
            <a:srgbClr val="E4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806440"/>
            <a:ext cx="82296" cy="5029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824728"/>
            <a:ext cx="10835640" cy="46634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13A57"/>
                </a:solidFill>
                <a:latin typeface="Calibri"/>
              </a:rPr>
              <a:t>DINAMARCA: los límites de O2/CO2 de su norma son del BIOGÁS DE DISTRIBUCIÓN, no del gas natural de transporte. Por eso se marcaron NO VERIFICABLE en vez de rellenar el hueco.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91695" cy="4572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Las garantías del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64008" cy="7132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801368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99D6"/>
                </a:solidFill>
                <a:latin typeface="Calibri"/>
              </a:rPr>
              <a:t>Cero cifras inventadas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130552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0"/>
                </a:solidFill>
                <a:latin typeface="Calibri"/>
              </a:rPr>
              <a:t>Los valores proceden de código y datos verificados, nunca del modelo.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70048"/>
            <a:ext cx="64008" cy="7132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642616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99D6"/>
                </a:solidFill>
                <a:latin typeface="Calibri"/>
              </a:rPr>
              <a:t>Trazabilidad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971800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0"/>
                </a:solidFill>
                <a:latin typeface="Calibri"/>
              </a:rPr>
              <a:t>Cada valor cita su norma, su artículo, su página y su enlace.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511296"/>
            <a:ext cx="64008" cy="7132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3864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99D6"/>
                </a:solidFill>
                <a:latin typeface="Calibri"/>
              </a:rPr>
              <a:t>Transparencia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13048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0"/>
                </a:solidFill>
                <a:latin typeface="Calibri"/>
              </a:rPr>
              <a:t>Lo que la norma no fija se declara explícitamente; no se completa.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352544"/>
            <a:ext cx="64008" cy="7132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325112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99D6"/>
                </a:solidFill>
                <a:latin typeface="Calibri"/>
              </a:rPr>
              <a:t>Reproducibilidad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654296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0"/>
                </a:solidFill>
                <a:latin typeface="Calibri"/>
              </a:rPr>
              <a:t>Con el mismo código y los mismos datos, el resultado es idéntico en cualquier entorno.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193792"/>
            <a:ext cx="64008" cy="7132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166359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99D6"/>
                </a:solidFill>
                <a:latin typeface="Calibri"/>
              </a:rPr>
              <a:t>Auditabilidad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495544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0"/>
                </a:solidFill>
                <a:latin typeface="Calibri"/>
              </a:rPr>
              <a:t>La base de conocimiento es consultable: se puede verificar el origen de cada valor.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035040"/>
            <a:ext cx="10607040" cy="54864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172200"/>
            <a:ext cx="10607040" cy="4572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La IA redacta el texto. Los números salen siempre de la normativa oficial.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