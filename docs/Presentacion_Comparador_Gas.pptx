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sistema. El hilo conductor es doble: CÓMO ESTÁ CONSTRUIDO (arquitectura, ontología y herramientas) y POR QUÉ ES FIABLE (trazabilidad total y cero cifras inventadas).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en cuatro bloques. Primero el contexto; luego la ARQUITECTURA (la forma del sistema); luego la ONTOLOGÍA (el corazón del dato); y por último las HERRAMIENTAS (con qué está hecho, pieza a pieza). Cerramos con las garantías.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la información regulatoria está dispersa y, sobre todo, NO ES DIRECTAMENTE COMPARABLE, porque cada país usa unidades y condiciones distintas. Nuestra solución compara 21 jurisdicciones y 10 parámetros en lenguaje natural, normalizando antes de comparar. Y su principio de diseño es que no genera ninguna cifra por estimación.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cifras fijan el alcance: 21 jurisdicciones, 10 parámetros, 210 valores trazables y CERO cifras inventadas. Detrás de ese cero: 176 verificados verbatim y 34 declarados 'no verificable' porque la norma no los fija. No los rellenamos con estimaciones: los marcamos y explicamos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esquema del sistema, y conviene recorrerlo con el dedo. Uno: el usuario pregunta desde la interfaz web. Dos: la pregunta llega a NUESTRO servidor, y lo primero que hace es pasar por el ROUTER DETERMINISTA, que decide quién la resuelve. Si es cuantitativa —RUTA A, la mayoría— la resuelve el código leyendo la ontología, sin IA. Si es de texto abierto —RUTA B— va al modelo. Tres: fíjate en la flecha que sube desde la IA hasta la ontología: incluso en la ruta B, el modelo no inventa el número, lo PIDE mediante function calling. Cuatro: la IA es externa y opcional; si cae, el sistema conmuta a determinista. Y abajo, los PDF y su índice de búsqueda, que no guardan ninguna cifra.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separación es lo que hace imposible la alucinación numérica: el mundo determinista (servidor + ontología) es el único que produce números; el mundo conversacional (la IA) solo redacta. Ojo con una confusión frecuente: FastAPI y la API de OpenAI no son lo mismo aunque ambas lleven 'API'. FastAPI es el framework de NUESTRO servidor: infraestructura propia y gratuita. La API de OpenAI es un servicio de terceros, de pago y opcional.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Suele asumirse que hay una gran base de datos única. No es así. Lo importante de esta diapositiva es el reparto: las cifras viven SOLO en la capa 2, la ontología. La capa 3, el índice documental, no guarda ningún número: solo sirve para localizar el pasaje pertinente cuando la consulta es de texto abierto. Y los PDF los guardamos localmente para no depender de que una web externa siga viva.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ontología es el elemento central. Es un ÚNICO fichero YAML, legible por una persona, con cinco claves: el catálogo de normas, el registro de tipos de gas y las tres secciones de parámetros —una por gas—. Lo importante: las tres secciones comparten exactamente el mismo esquema. Por eso ampliar a biometano e hidrógeno no obligó a cambiar la arquitectura. Y el motor determinista lee de aquí: el LLM nunca calcula ni inventa valores.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valor real del diseño: de cada dato no guardamos solo el número, sino todo su contexto. El campo clave es 'expresion_original': el texto literal de la norma, tal cual está redactado. Eso convierte la confianza en VERIFICABILIDAD: no hay que creerse el dato, se puede comprobar en el acto.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garantía anti-invención. Dos estados y ninguno intermedio: o la cifra consta en la norma, o se declara que la norma no la establece. El ejemplo de Dinamarca es el que mejor lo ilustra: era fácil rellenar el hueco con un número que estaba en la misma norma, pero pertenecía a otro contexto —biogás de distribución, no transporte—. Preferimos el hueco honesto: informa mejor que un número falso.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mapa del stack. Dos mensajes. Uno: todo es software libre EXCEPTO la API de OpenAI, que además es opcional. Y dos, la banda de abajo, que es la que da credibilidad: hemos revisado el proyecto y hay dependencias declaradas que hoy NO se usan —pint, PyPDF2, pandas y cryptography—. Lo decimos en vez de venderlas como parte del sistema. Si os preguntan por ellas, esa es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punto clave para la credibilidad es la comparabilidad: no basta con tener los números, hay que poder compararlos. Por eso llevamos todo a la base española aplicando los factores de la ISO 13443, que no estimamos sino que tomamos literalmente de la norma. Fíjate en la fila de Eslovaquia: su par de condiciones no está tabulado, así que se calcula con las ECUACIONES DEL ANEXO B de la misma norma. Sigue siendo un valor derivado de la norma, no un número inventado.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ser muy claro: el modelo NO es la fuente del dato, es la capa de lenguaje. Si necesita un número, lo pide. El SYSTEM_PROMPT le prohíbe inventar cifras, le obliga a citar y le acota el ámbito. Y si el servicio no está disponible, el sistema conmuta solo a modo determinista: la IA es una comodidad, no una dependencia.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Somos transparentes: nuestro RAG es léxico, no semántico. No es una carencia, es una decisión: es reproducible y no depende de terceros. Y antes de decidirlo lo MEDIMOS, con el estudio de terminología. Primero medir, luego decidir.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ampliación se hizo sin tocar nada de lo anterior: el gas natural sigue funcionando exactamente igual, y las pruebas automáticas lo confirman. Sobre el hidrógeno hay que subrayar la distinción de dominio: la calidad del H2 PARA LA RED es distinta de la del H2 como combustible de VEHÍCULO. Son especificaciones que no se pueden comparar, y la herramienta las mantiene separadas. Y hoy, de las cuatro jurisdicciones, solo Portugal fija una pureza vinculante del 98 %.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hemos construido una herramienta que compara la calidad regulatoria del gas natural, el biometano y el hidrógeno entre jurisdicciones, con trazabilidad total y sin cifras inventadas. Las cifras salen siempre de normativa oficial verificada; la IA solo redacta el texto. Y la ampliación se ha hecho sin degradar nada de lo anterior. Muchas gracias; quedo a vuestra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224528"/>
            <a:ext cx="12191695" cy="5486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68680" y="1874519"/>
            <a:ext cx="137160" cy="20574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1828800"/>
            <a:ext cx="10058400" cy="1097280"/>
          </a:xfrm>
          <a:prstGeom prst="rect">
            <a:avLst/>
          </a:prstGeom>
          <a:noFill/>
        </p:spPr>
        <p:txBody>
          <a:bodyPr wrap="square" anchor="t" lIns="38100" rIns="38100" tIns="12700" bIns="12700">
            <a:spAutoFit/>
          </a:bodyPr>
          <a:lstStyle/>
          <a:p>
            <a:pPr algn="l">
              <a:spcAft>
                <a:spcPts val="200"/>
              </a:spcAft>
            </a:pPr>
            <a:r>
              <a:rPr sz="4200" b="1">
                <a:solidFill>
                  <a:srgbClr val="FFFFFF"/>
                </a:solidFill>
                <a:latin typeface="Calibri"/>
              </a:rPr>
              <a:t>Comparador Regulatorio</a:t>
            </a:r>
          </a:p>
          <a:p>
            <a:pPr algn="l">
              <a:spcAft>
                <a:spcPts val="200"/>
              </a:spcAft>
            </a:pPr>
            <a:r>
              <a:rPr sz="4200" b="1">
                <a:solidFill>
                  <a:srgbClr val="FFFFFF"/>
                </a:solidFill>
                <a:latin typeface="Calibri"/>
              </a:rPr>
              <a:t>de Calidad de Gas</a:t>
            </a:r>
          </a:p>
        </p:txBody>
      </p:sp>
      <p:sp>
        <p:nvSpPr>
          <p:cNvPr id="6" name="TextBox 5"/>
          <p:cNvSpPr txBox="1"/>
          <p:nvPr/>
        </p:nvSpPr>
        <p:spPr>
          <a:xfrm>
            <a:off x="1261872" y="4434840"/>
            <a:ext cx="10058400" cy="1097280"/>
          </a:xfrm>
          <a:prstGeom prst="rect">
            <a:avLst/>
          </a:prstGeom>
          <a:noFill/>
        </p:spPr>
        <p:txBody>
          <a:bodyPr wrap="square" anchor="t" lIns="38100" rIns="38100" tIns="12700" bIns="12700">
            <a:spAutoFit/>
          </a:bodyPr>
          <a:lstStyle/>
          <a:p>
            <a:pPr algn="l">
              <a:spcAft>
                <a:spcPts val="700"/>
              </a:spcAft>
            </a:pPr>
            <a:r>
              <a:rPr sz="2100" b="0">
                <a:solidFill>
                  <a:srgbClr val="0099D6"/>
                </a:solidFill>
                <a:latin typeface="Calibri"/>
              </a:rPr>
              <a:t>Arquitectura, ontología y herramientas del sistema</a:t>
            </a:r>
          </a:p>
          <a:p>
            <a:pPr algn="l">
              <a:spcAft>
                <a:spcPts val="700"/>
              </a:spcAft>
            </a:pPr>
            <a:r>
              <a:rPr sz="1500" b="0">
                <a:solidFill>
                  <a:srgbClr val="C9D6E0"/>
                </a:solidFill>
                <a:latin typeface="Calibri"/>
              </a:rPr>
              <a:t>Gas natural · biometano · hidrógeno   |   21 jurisdicciones · 10 parámetros · 210 valores trazables</a:t>
            </a:r>
          </a:p>
        </p:txBody>
      </p:sp>
      <p:sp>
        <p:nvSpPr>
          <p:cNvPr id="7" name="TextBox 6"/>
          <p:cNvSpPr txBox="1"/>
          <p:nvPr/>
        </p:nvSpPr>
        <p:spPr>
          <a:xfrm>
            <a:off x="1261872" y="5989320"/>
            <a:ext cx="10058400" cy="365760"/>
          </a:xfrm>
          <a:prstGeom prst="rect">
            <a:avLst/>
          </a:prstGeom>
          <a:noFill/>
        </p:spPr>
        <p:txBody>
          <a:bodyPr wrap="square" anchor="t" lIns="38100" rIns="38100" tIns="12700" bIns="12700">
            <a:spAutoFit/>
          </a:bodyPr>
          <a:lstStyle/>
          <a:p>
            <a:pPr algn="l">
              <a:spcAft>
                <a:spcPts val="600"/>
              </a:spcAft>
            </a:pPr>
            <a:r>
              <a:rPr sz="1200" b="0">
                <a:solidFill>
                  <a:srgbClr val="8FA6B8"/>
                </a:solidFill>
                <a:latin typeface="Calibri"/>
              </a:rPr>
              <a:t>Ontología v3.2.0  ·  Presentación técnica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Índice</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a:t>
            </a:r>
          </a:p>
        </p:txBody>
      </p:sp>
      <p:sp>
        <p:nvSpPr>
          <p:cNvPr id="7" name="Rectangle 6"/>
          <p:cNvSpPr/>
          <p:nvPr/>
        </p:nvSpPr>
        <p:spPr>
          <a:xfrm>
            <a:off x="548640"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60020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099D6"/>
                </a:solidFill>
                <a:latin typeface="Calibri"/>
              </a:rPr>
              <a:t>01</a:t>
            </a:r>
          </a:p>
        </p:txBody>
      </p:sp>
      <p:sp>
        <p:nvSpPr>
          <p:cNvPr id="10" name="TextBox 9"/>
          <p:cNvSpPr txBox="1"/>
          <p:nvPr/>
        </p:nvSpPr>
        <p:spPr>
          <a:xfrm>
            <a:off x="749808"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Contexto</a:t>
            </a:r>
          </a:p>
        </p:txBody>
      </p:sp>
      <p:sp>
        <p:nvSpPr>
          <p:cNvPr id="11" name="TextBox 10"/>
          <p:cNvSpPr txBox="1"/>
          <p:nvPr/>
        </p:nvSpPr>
        <p:spPr>
          <a:xfrm>
            <a:off x="749808"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problema regulatorio</a:t>
            </a:r>
          </a:p>
          <a:p>
            <a:pPr algn="l">
              <a:spcAft>
                <a:spcPts val="1100"/>
              </a:spcAft>
            </a:pPr>
            <a:r>
              <a:rPr sz="1300" b="0">
                <a:solidFill>
                  <a:srgbClr val="4A5B68"/>
                </a:solidFill>
                <a:latin typeface="Calibri"/>
              </a:rPr>
              <a:t>• El sistema en cifras</a:t>
            </a:r>
          </a:p>
        </p:txBody>
      </p:sp>
      <p:sp>
        <p:nvSpPr>
          <p:cNvPr id="12" name="Rectangle 11"/>
          <p:cNvSpPr/>
          <p:nvPr/>
        </p:nvSpPr>
        <p:spPr>
          <a:xfrm>
            <a:off x="3392424"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392424" y="1600200"/>
            <a:ext cx="2697480" cy="82296"/>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593592"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A5A82"/>
                </a:solidFill>
                <a:latin typeface="Calibri"/>
              </a:rPr>
              <a:t>02</a:t>
            </a:r>
          </a:p>
        </p:txBody>
      </p:sp>
      <p:sp>
        <p:nvSpPr>
          <p:cNvPr id="15" name="TextBox 14"/>
          <p:cNvSpPr txBox="1"/>
          <p:nvPr/>
        </p:nvSpPr>
        <p:spPr>
          <a:xfrm>
            <a:off x="3593592"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Arquitectura</a:t>
            </a:r>
          </a:p>
        </p:txBody>
      </p:sp>
      <p:sp>
        <p:nvSpPr>
          <p:cNvPr id="16" name="TextBox 15"/>
          <p:cNvSpPr txBox="1"/>
          <p:nvPr/>
        </p:nvSpPr>
        <p:spPr>
          <a:xfrm>
            <a:off x="3593592"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Los cuatro componentes</a:t>
            </a:r>
          </a:p>
          <a:p>
            <a:pPr algn="l">
              <a:spcAft>
                <a:spcPts val="1100"/>
              </a:spcAft>
            </a:pPr>
            <a:r>
              <a:rPr sz="1300" b="0">
                <a:solidFill>
                  <a:srgbClr val="4A5B68"/>
                </a:solidFill>
                <a:latin typeface="Calibri"/>
              </a:rPr>
              <a:t>• El recorrido de una consulta</a:t>
            </a:r>
          </a:p>
          <a:p>
            <a:pPr algn="l">
              <a:spcAft>
                <a:spcPts val="1100"/>
              </a:spcAft>
            </a:pPr>
            <a:r>
              <a:rPr sz="1300" b="0">
                <a:solidFill>
                  <a:srgbClr val="4A5B68"/>
                </a:solidFill>
                <a:latin typeface="Calibri"/>
              </a:rPr>
              <a:t>• Las tres capas de datos</a:t>
            </a:r>
          </a:p>
        </p:txBody>
      </p:sp>
      <p:sp>
        <p:nvSpPr>
          <p:cNvPr id="17" name="Rectangle 16"/>
          <p:cNvSpPr/>
          <p:nvPr/>
        </p:nvSpPr>
        <p:spPr>
          <a:xfrm>
            <a:off x="6236208"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60020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37376"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6CB33E"/>
                </a:solidFill>
                <a:latin typeface="Calibri"/>
              </a:rPr>
              <a:t>03</a:t>
            </a:r>
          </a:p>
        </p:txBody>
      </p:sp>
      <p:sp>
        <p:nvSpPr>
          <p:cNvPr id="20" name="TextBox 19"/>
          <p:cNvSpPr txBox="1"/>
          <p:nvPr/>
        </p:nvSpPr>
        <p:spPr>
          <a:xfrm>
            <a:off x="6437376"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Ontología</a:t>
            </a:r>
          </a:p>
        </p:txBody>
      </p:sp>
      <p:sp>
        <p:nvSpPr>
          <p:cNvPr id="21" name="TextBox 20"/>
          <p:cNvSpPr txBox="1"/>
          <p:nvPr/>
        </p:nvSpPr>
        <p:spPr>
          <a:xfrm>
            <a:off x="6437376"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Estructura del fichero</a:t>
            </a:r>
          </a:p>
          <a:p>
            <a:pPr algn="l">
              <a:spcAft>
                <a:spcPts val="1100"/>
              </a:spcAft>
            </a:pPr>
            <a:r>
              <a:rPr sz="1300" b="0">
                <a:solidFill>
                  <a:srgbClr val="4A5B68"/>
                </a:solidFill>
                <a:latin typeface="Calibri"/>
              </a:rPr>
              <a:t>• Anatomía de un valor</a:t>
            </a:r>
          </a:p>
          <a:p>
            <a:pPr algn="l">
              <a:spcAft>
                <a:spcPts val="1100"/>
              </a:spcAft>
            </a:pPr>
            <a:r>
              <a:rPr sz="1300" b="0">
                <a:solidFill>
                  <a:srgbClr val="4A5B68"/>
                </a:solidFill>
                <a:latin typeface="Calibri"/>
              </a:rPr>
              <a:t>• Estados de verificación</a:t>
            </a:r>
          </a:p>
        </p:txBody>
      </p:sp>
      <p:sp>
        <p:nvSpPr>
          <p:cNvPr id="22" name="Rectangle 21"/>
          <p:cNvSpPr/>
          <p:nvPr/>
        </p:nvSpPr>
        <p:spPr>
          <a:xfrm>
            <a:off x="9079992"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079992" y="1600200"/>
            <a:ext cx="26974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1160"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E88A1A"/>
                </a:solidFill>
                <a:latin typeface="Calibri"/>
              </a:rPr>
              <a:t>04</a:t>
            </a:r>
          </a:p>
        </p:txBody>
      </p:sp>
      <p:sp>
        <p:nvSpPr>
          <p:cNvPr id="25" name="TextBox 24"/>
          <p:cNvSpPr txBox="1"/>
          <p:nvPr/>
        </p:nvSpPr>
        <p:spPr>
          <a:xfrm>
            <a:off x="9281160"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Herramientas</a:t>
            </a:r>
          </a:p>
        </p:txBody>
      </p:sp>
      <p:sp>
        <p:nvSpPr>
          <p:cNvPr id="26" name="TextBox 25"/>
          <p:cNvSpPr txBox="1"/>
          <p:nvPr/>
        </p:nvSpPr>
        <p:spPr>
          <a:xfrm>
            <a:off x="9281160"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stack: la pieza clave de cada capa</a:t>
            </a:r>
          </a:p>
          <a:p>
            <a:pPr algn="l">
              <a:spcAft>
                <a:spcPts val="1100"/>
              </a:spcAft>
            </a:pPr>
            <a:r>
              <a:rPr sz="1300" b="0">
                <a:solidFill>
                  <a:srgbClr val="4A5B68"/>
                </a:solidFill>
                <a:latin typeface="Calibri"/>
              </a:rPr>
              <a:t>• Motor determinista, IA y RAG</a:t>
            </a:r>
          </a:p>
          <a:p>
            <a:pPr algn="l">
              <a:spcAft>
                <a:spcPts val="1100"/>
              </a:spcAft>
            </a:pPr>
            <a:r>
              <a:rPr sz="1300" b="0">
                <a:solidFill>
                  <a:srgbClr val="4A5B68"/>
                </a:solidFill>
                <a:latin typeface="Calibri"/>
              </a:rPr>
              <a:t>• Ampliación a biometano e hidrógeno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Contexto y objetivo</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a:t>
            </a:r>
          </a:p>
        </p:txBody>
      </p:sp>
      <p:sp>
        <p:nvSpPr>
          <p:cNvPr id="7" name="TextBox 6"/>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El problema es concreto, y la propuesta de valor también.</a:t>
            </a:r>
          </a:p>
        </p:txBody>
      </p:sp>
      <p:sp>
        <p:nvSpPr>
          <p:cNvPr id="8" name="Rectangle 7"/>
          <p:cNvSpPr/>
          <p:nvPr/>
        </p:nvSpPr>
        <p:spPr>
          <a:xfrm>
            <a:off x="548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48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PROBLEMA</a:t>
            </a:r>
          </a:p>
        </p:txBody>
      </p:sp>
      <p:sp>
        <p:nvSpPr>
          <p:cNvPr id="11" name="TextBox 10"/>
          <p:cNvSpPr txBox="1"/>
          <p:nvPr/>
        </p:nvSpPr>
        <p:spPr>
          <a:xfrm>
            <a:off x="731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Cada país regula la calidad admisible del gas con SU PROPIA normativa: Wobbe, PCS, azufre, CO2, puntos de rocío.</a:t>
            </a:r>
          </a:p>
          <a:p>
            <a:pPr algn="l">
              <a:spcAft>
                <a:spcPts val="1000"/>
              </a:spcAft>
            </a:pPr>
            <a:r>
              <a:rPr sz="1450" b="0">
                <a:solidFill>
                  <a:srgbClr val="1B2A38"/>
                </a:solidFill>
                <a:latin typeface="Calibri"/>
              </a:rPr>
              <a:t>• La información está dispersa en boletines oficiales distintos y en varios idiomas.</a:t>
            </a:r>
          </a:p>
          <a:p>
            <a:pPr algn="l">
              <a:spcAft>
                <a:spcPts val="1000"/>
              </a:spcAft>
            </a:pPr>
            <a:r>
              <a:rPr sz="1450" b="0">
                <a:solidFill>
                  <a:srgbClr val="1B2A38"/>
                </a:solidFill>
                <a:latin typeface="Calibri"/>
              </a:rPr>
              <a:t>• Las unidades y las condiciones de referencia NO coinciden: unos miden a 0 °C, otros a 15 o a 25 °C.</a:t>
            </a:r>
          </a:p>
          <a:p>
            <a:pPr algn="l">
              <a:spcAft>
                <a:spcPts val="1000"/>
              </a:spcAft>
            </a:pPr>
            <a:r>
              <a:rPr sz="1450" b="0">
                <a:solidFill>
                  <a:srgbClr val="1B2A38"/>
                </a:solidFill>
                <a:latin typeface="Calibri"/>
              </a:rPr>
              <a:t>• Compararlas a mano es laborioso, lento y propenso a error.</a:t>
            </a:r>
          </a:p>
        </p:txBody>
      </p:sp>
      <p:sp>
        <p:nvSpPr>
          <p:cNvPr id="12" name="Rectangle 11"/>
          <p:cNvSpPr/>
          <p:nvPr/>
        </p:nvSpPr>
        <p:spPr>
          <a:xfrm>
            <a:off x="6263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63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LA SOLUCIÓN</a:t>
            </a:r>
          </a:p>
        </p:txBody>
      </p:sp>
      <p:sp>
        <p:nvSpPr>
          <p:cNvPr id="15" name="TextBox 14"/>
          <p:cNvSpPr txBox="1"/>
          <p:nvPr/>
        </p:nvSpPr>
        <p:spPr>
          <a:xfrm>
            <a:off x="6446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Un asistente que compara la calidad regulatoria entre 21 jurisdicciones y 10 parámetros.</a:t>
            </a:r>
          </a:p>
          <a:p>
            <a:pPr algn="l">
              <a:spcAft>
                <a:spcPts val="1000"/>
              </a:spcAft>
            </a:pPr>
            <a:r>
              <a:rPr sz="1450" b="0">
                <a:solidFill>
                  <a:srgbClr val="1B2A38"/>
                </a:solidFill>
                <a:latin typeface="Calibri"/>
              </a:rPr>
              <a:t>• Se pregunta en LENGUAJE NATURAL; responde con la CITA OFICIAL de cada cifra.</a:t>
            </a:r>
          </a:p>
          <a:p>
            <a:pPr algn="l">
              <a:spcAft>
                <a:spcPts val="1000"/>
              </a:spcAft>
            </a:pPr>
            <a:r>
              <a:rPr sz="1450" b="0">
                <a:solidFill>
                  <a:srgbClr val="1B2A38"/>
                </a:solidFill>
                <a:latin typeface="Calibri"/>
              </a:rPr>
              <a:t>• Normaliza automáticamente unidades y condiciones (ISO 13443) para que la comparación sea válida.</a:t>
            </a:r>
          </a:p>
          <a:p>
            <a:pPr algn="l">
              <a:spcAft>
                <a:spcPts val="1000"/>
              </a:spcAft>
            </a:pPr>
            <a:r>
              <a:rPr sz="1450" b="0">
                <a:solidFill>
                  <a:srgbClr val="1B2A38"/>
                </a:solidFill>
                <a:latin typeface="Calibri"/>
              </a:rPr>
              <a:t>• Principio de diseño: CERO CIFRAS INVENTADAS. Ningún valor se estima.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El sistema en cifras</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3</a:t>
            </a:r>
          </a:p>
        </p:txBody>
      </p:sp>
      <p:sp>
        <p:nvSpPr>
          <p:cNvPr id="7" name="Rectangle 6"/>
          <p:cNvSpPr/>
          <p:nvPr/>
        </p:nvSpPr>
        <p:spPr>
          <a:xfrm>
            <a:off x="548640"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a:t>
            </a:r>
          </a:p>
        </p:txBody>
      </p:sp>
      <p:sp>
        <p:nvSpPr>
          <p:cNvPr id="10" name="TextBox 9"/>
          <p:cNvSpPr txBox="1"/>
          <p:nvPr/>
        </p:nvSpPr>
        <p:spPr>
          <a:xfrm>
            <a:off x="548640"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jurisdicciones</a:t>
            </a:r>
          </a:p>
        </p:txBody>
      </p:sp>
      <p:sp>
        <p:nvSpPr>
          <p:cNvPr id="11" name="Rectangle 10"/>
          <p:cNvSpPr/>
          <p:nvPr/>
        </p:nvSpPr>
        <p:spPr>
          <a:xfrm>
            <a:off x="3392424"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92424"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92424"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10</a:t>
            </a:r>
          </a:p>
        </p:txBody>
      </p:sp>
      <p:sp>
        <p:nvSpPr>
          <p:cNvPr id="14" name="TextBox 13"/>
          <p:cNvSpPr txBox="1"/>
          <p:nvPr/>
        </p:nvSpPr>
        <p:spPr>
          <a:xfrm>
            <a:off x="3392424"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parámetros de calidad</a:t>
            </a:r>
          </a:p>
        </p:txBody>
      </p:sp>
      <p:sp>
        <p:nvSpPr>
          <p:cNvPr id="15" name="Rectangle 14"/>
          <p:cNvSpPr/>
          <p:nvPr/>
        </p:nvSpPr>
        <p:spPr>
          <a:xfrm>
            <a:off x="6236208"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36208"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6208"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210</a:t>
            </a:r>
          </a:p>
        </p:txBody>
      </p:sp>
      <p:sp>
        <p:nvSpPr>
          <p:cNvPr id="18" name="TextBox 17"/>
          <p:cNvSpPr txBox="1"/>
          <p:nvPr/>
        </p:nvSpPr>
        <p:spPr>
          <a:xfrm>
            <a:off x="6236208"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valores trazables</a:t>
            </a:r>
          </a:p>
        </p:txBody>
      </p:sp>
      <p:sp>
        <p:nvSpPr>
          <p:cNvPr id="19" name="Rectangle 18"/>
          <p:cNvSpPr/>
          <p:nvPr/>
        </p:nvSpPr>
        <p:spPr>
          <a:xfrm>
            <a:off x="9079992"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079992" y="150876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79992"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0</a:t>
            </a:r>
          </a:p>
        </p:txBody>
      </p:sp>
      <p:sp>
        <p:nvSpPr>
          <p:cNvPr id="22" name="TextBox 21"/>
          <p:cNvSpPr txBox="1"/>
          <p:nvPr/>
        </p:nvSpPr>
        <p:spPr>
          <a:xfrm>
            <a:off x="9079992"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cifras inventadas</a:t>
            </a:r>
          </a:p>
        </p:txBody>
      </p:sp>
      <p:sp>
        <p:nvSpPr>
          <p:cNvPr id="23" name="Rectangle 22"/>
          <p:cNvSpPr/>
          <p:nvPr/>
        </p:nvSpPr>
        <p:spPr>
          <a:xfrm>
            <a:off x="548640" y="3886200"/>
            <a:ext cx="11064240" cy="18288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3886200"/>
            <a:ext cx="82296" cy="18288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68680" y="4023360"/>
            <a:ext cx="10607040" cy="365760"/>
          </a:xfrm>
          <a:prstGeom prst="rect">
            <a:avLst/>
          </a:prstGeom>
          <a:noFill/>
        </p:spPr>
        <p:txBody>
          <a:bodyPr wrap="square" anchor="t" lIns="38100" rIns="38100" tIns="12700" bIns="12700">
            <a:spAutoFit/>
          </a:bodyPr>
          <a:lstStyle/>
          <a:p>
            <a:pPr algn="l">
              <a:spcAft>
                <a:spcPts val="600"/>
              </a:spcAft>
            </a:pPr>
            <a:r>
              <a:rPr sz="1600" b="1">
                <a:solidFill>
                  <a:srgbClr val="013A57"/>
                </a:solidFill>
                <a:latin typeface="Calibri"/>
              </a:rPr>
              <a:t>Detrás de ese cero está lo importante:</a:t>
            </a:r>
          </a:p>
        </p:txBody>
      </p:sp>
      <p:sp>
        <p:nvSpPr>
          <p:cNvPr id="26" name="Rectangle 25"/>
          <p:cNvSpPr/>
          <p:nvPr/>
        </p:nvSpPr>
        <p:spPr>
          <a:xfrm>
            <a:off x="914400" y="4480560"/>
            <a:ext cx="4937760" cy="105156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9728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3E6B22"/>
                </a:solidFill>
                <a:latin typeface="Calibri"/>
              </a:rPr>
              <a:t>176 VERIFICADOS</a:t>
            </a:r>
          </a:p>
          <a:p>
            <a:pPr algn="l">
              <a:spcAft>
                <a:spcPts val="300"/>
              </a:spcAft>
            </a:pPr>
            <a:r>
              <a:rPr sz="1300" b="0">
                <a:solidFill>
                  <a:srgbClr val="1B2A38"/>
                </a:solidFill>
                <a:latin typeface="Calibri"/>
              </a:rPr>
              <a:t>Contrastados VERBATIM contra su boletín oficial.</a:t>
            </a:r>
          </a:p>
        </p:txBody>
      </p:sp>
      <p:sp>
        <p:nvSpPr>
          <p:cNvPr id="28" name="Rectangle 27"/>
          <p:cNvSpPr/>
          <p:nvPr/>
        </p:nvSpPr>
        <p:spPr>
          <a:xfrm>
            <a:off x="6309360" y="4480560"/>
            <a:ext cx="4937760" cy="105156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224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A5610E"/>
                </a:solidFill>
                <a:latin typeface="Calibri"/>
              </a:rPr>
              <a:t>34 NO VERIFICABLES</a:t>
            </a:r>
          </a:p>
          <a:p>
            <a:pPr algn="l">
              <a:spcAft>
                <a:spcPts val="300"/>
              </a:spcAft>
            </a:pPr>
            <a:r>
              <a:rPr sz="1300" b="0">
                <a:solidFill>
                  <a:srgbClr val="1B2A38"/>
                </a:solidFill>
                <a:latin typeface="Calibri"/>
              </a:rPr>
              <a:t>La norma de ese país no fija el parámetro: se declara, no se inventa.</a:t>
            </a:r>
          </a:p>
        </p:txBody>
      </p:sp>
      <p:sp>
        <p:nvSpPr>
          <p:cNvPr id="30" name="TextBox 29"/>
          <p:cNvSpPr txBox="1"/>
          <p:nvPr/>
        </p:nvSpPr>
        <p:spPr>
          <a:xfrm>
            <a:off x="548640" y="5897880"/>
            <a:ext cx="11064240" cy="365760"/>
          </a:xfrm>
          <a:prstGeom prst="rect">
            <a:avLst/>
          </a:prstGeom>
          <a:noFill/>
        </p:spPr>
        <p:txBody>
          <a:bodyPr wrap="square" anchor="t" lIns="38100" rIns="38100" tIns="12700" bIns="12700">
            <a:spAutoFit/>
          </a:bodyPr>
          <a:lstStyle/>
          <a:p>
            <a:pPr algn="l">
              <a:spcAft>
                <a:spcPts val="600"/>
              </a:spcAft>
            </a:pPr>
            <a:r>
              <a:rPr sz="1200" b="0">
                <a:solidFill>
                  <a:srgbClr val="4A5B68"/>
                </a:solidFill>
                <a:latin typeface="Calibri"/>
              </a:rPr>
              <a:t>Base documental: 39 normas oficiales catalogadas  ·  3 tipos de gas (gas natural, biometano, hidrógeno)  ·  ~22 PDF archivados en local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02</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Arquitectura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Cuatro componentes, responsabilidades separadas y una regla: la cifra nunca nace en el modelo.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ESQUEMA GENERAL</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Arquitectura del sistema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Cuatro componentes. Sigue las flechas: toda cifra procede de la ontología; la IA solo redacta.</a:t>
            </a:r>
          </a:p>
        </p:txBody>
      </p:sp>
      <p:sp>
        <p:nvSpPr>
          <p:cNvPr id="9" name="Rounded Rectangle 8"/>
          <p:cNvSpPr/>
          <p:nvPr/>
        </p:nvSpPr>
        <p:spPr>
          <a:xfrm>
            <a:off x="411480" y="2788920"/>
            <a:ext cx="1965960" cy="1691640"/>
          </a:xfrm>
          <a:prstGeom prst="roundRect">
            <a:avLst>
              <a:gd name="adj" fmla="val 6000"/>
            </a:avLst>
          </a:prstGeom>
          <a:solidFill>
            <a:srgbClr val="FFFFFF"/>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11480" y="2788920"/>
            <a:ext cx="1965960" cy="384048"/>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2825496"/>
            <a:ext cx="1965960" cy="320040"/>
          </a:xfrm>
          <a:prstGeom prst="rect">
            <a:avLst/>
          </a:prstGeom>
          <a:noFill/>
        </p:spPr>
        <p:txBody>
          <a:bodyPr wrap="square" anchor="t" lIns="38100" rIns="38100" tIns="12700" bIns="12700">
            <a:spAutoFit/>
          </a:bodyPr>
          <a:lstStyle/>
          <a:p>
            <a:pPr algn="ctr">
              <a:spcAft>
                <a:spcPts val="600"/>
              </a:spcAft>
            </a:pPr>
            <a:r>
              <a:rPr sz="1150" b="1">
                <a:solidFill>
                  <a:srgbClr val="FFFFFF"/>
                </a:solidFill>
                <a:latin typeface="Calibri"/>
              </a:rPr>
              <a:t>1 · INTERFAZ WEB</a:t>
            </a:r>
          </a:p>
        </p:txBody>
      </p:sp>
      <p:sp>
        <p:nvSpPr>
          <p:cNvPr id="12" name="TextBox 11"/>
          <p:cNvSpPr txBox="1"/>
          <p:nvPr/>
        </p:nvSpPr>
        <p:spPr>
          <a:xfrm>
            <a:off x="548640" y="3273552"/>
            <a:ext cx="1737360" cy="114300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El usuario pregunta</a:t>
            </a:r>
          </a:p>
          <a:p>
            <a:pPr algn="l">
              <a:spcAft>
                <a:spcPts val="200"/>
              </a:spcAft>
            </a:pPr>
            <a:r>
              <a:rPr sz="1100" b="0">
                <a:solidFill>
                  <a:srgbClr val="4A5B68"/>
                </a:solidFill>
                <a:latin typeface="Calibri"/>
              </a:rPr>
              <a:t>index.html</a:t>
            </a:r>
          </a:p>
          <a:p>
            <a:pPr algn="l">
              <a:spcAft>
                <a:spcPts val="200"/>
              </a:spcAft>
            </a:pPr>
            <a:r>
              <a:rPr sz="1100" b="0">
                <a:solidFill>
                  <a:srgbClr val="4A5B68"/>
                </a:solidFill>
                <a:latin typeface="Calibri"/>
              </a:rPr>
              <a:t>JavaScript vanilla</a:t>
            </a:r>
          </a:p>
          <a:p>
            <a:pPr algn="l">
              <a:spcAft>
                <a:spcPts val="200"/>
              </a:spcAft>
            </a:pPr>
            <a:r>
              <a:rPr sz="1100" b="0">
                <a:solidFill>
                  <a:srgbClr val="4A5B68"/>
                </a:solidFill>
                <a:latin typeface="Calibri"/>
              </a:rPr>
              <a:t>marked · DOMPurify</a:t>
            </a:r>
          </a:p>
        </p:txBody>
      </p:sp>
      <p:sp>
        <p:nvSpPr>
          <p:cNvPr id="13" name="Right Arrow 12"/>
          <p:cNvSpPr/>
          <p:nvPr/>
        </p:nvSpPr>
        <p:spPr>
          <a:xfrm>
            <a:off x="2404872" y="3502152"/>
            <a:ext cx="292608" cy="274320"/>
          </a:xfrm>
          <a:prstGeom prst="rightArrow">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24912" y="1691640"/>
            <a:ext cx="4754880" cy="3977639"/>
          </a:xfrm>
          <a:prstGeom prst="roundRect">
            <a:avLst>
              <a:gd name="adj" fmla="val 6000"/>
            </a:avLst>
          </a:prstGeom>
          <a:solidFill>
            <a:srgbClr val="EEF2F6"/>
          </a:solidFill>
          <a:ln w="19050">
            <a:solidFill>
              <a:srgbClr val="013A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724912" y="1691640"/>
            <a:ext cx="4754880" cy="56692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80360" y="1737360"/>
            <a:ext cx="4480560" cy="475488"/>
          </a:xfrm>
          <a:prstGeom prst="rect">
            <a:avLst/>
          </a:prstGeom>
          <a:noFill/>
        </p:spPr>
        <p:txBody>
          <a:bodyPr wrap="square" anchor="t" lIns="38100" rIns="38100" tIns="12700" bIns="12700">
            <a:spAutoFit/>
          </a:bodyPr>
          <a:lstStyle/>
          <a:p>
            <a:pPr algn="l">
              <a:spcAft>
                <a:spcPts val="0"/>
              </a:spcAft>
            </a:pPr>
            <a:r>
              <a:rPr sz="1300" b="1">
                <a:solidFill>
                  <a:srgbClr val="FFFFFF"/>
                </a:solidFill>
                <a:latin typeface="Calibri"/>
              </a:rPr>
              <a:t>2 · SERVIDOR DE APLICACIÓN</a:t>
            </a:r>
          </a:p>
          <a:p>
            <a:pPr algn="l">
              <a:spcAft>
                <a:spcPts val="0"/>
              </a:spcAft>
            </a:pPr>
            <a:r>
              <a:rPr sz="1050" b="0">
                <a:solidFill>
                  <a:srgbClr val="0099D6"/>
                </a:solidFill>
                <a:latin typeface="Calibri"/>
              </a:rPr>
              <a:t>Python · FastAPI · uvicorn · pydantic</a:t>
            </a:r>
          </a:p>
        </p:txBody>
      </p:sp>
      <p:sp>
        <p:nvSpPr>
          <p:cNvPr id="17" name="Rounded Rectangle 16"/>
          <p:cNvSpPr/>
          <p:nvPr/>
        </p:nvSpPr>
        <p:spPr>
          <a:xfrm>
            <a:off x="2926080" y="2450592"/>
            <a:ext cx="4343400" cy="621792"/>
          </a:xfrm>
          <a:prstGeom prst="roundRect">
            <a:avLst>
              <a:gd name="adj" fmla="val 6000"/>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6080" y="2505456"/>
            <a:ext cx="4343400" cy="512064"/>
          </a:xfrm>
          <a:prstGeom prst="rect">
            <a:avLst/>
          </a:prstGeom>
          <a:noFill/>
        </p:spPr>
        <p:txBody>
          <a:bodyPr wrap="square" anchor="t" lIns="38100" rIns="38100" tIns="12700" bIns="12700">
            <a:spAutoFit/>
          </a:bodyPr>
          <a:lstStyle/>
          <a:p>
            <a:pPr algn="ctr">
              <a:spcAft>
                <a:spcPts val="0"/>
              </a:spcAft>
            </a:pPr>
            <a:r>
              <a:rPr sz="1300" b="1">
                <a:solidFill>
                  <a:srgbClr val="FFFFFF"/>
                </a:solidFill>
                <a:latin typeface="Calibri"/>
              </a:rPr>
              <a:t>ROUTER DETERMINISTA</a:t>
            </a:r>
          </a:p>
          <a:p>
            <a:pPr algn="ctr">
              <a:spcAft>
                <a:spcPts val="0"/>
              </a:spcAft>
            </a:pPr>
            <a:r>
              <a:rPr sz="1050" b="0">
                <a:solidFill>
                  <a:srgbClr val="BFDBEA"/>
                </a:solidFill>
                <a:latin typeface="Calibri"/>
              </a:rPr>
              <a:t>¿la resuelve el código o hace falta la IA?</a:t>
            </a:r>
          </a:p>
        </p:txBody>
      </p:sp>
      <p:sp>
        <p:nvSpPr>
          <p:cNvPr id="19" name="Down Arrow 18"/>
          <p:cNvSpPr/>
          <p:nvPr/>
        </p:nvSpPr>
        <p:spPr>
          <a:xfrm>
            <a:off x="3794760" y="3108960"/>
            <a:ext cx="237744" cy="219456"/>
          </a:xfrm>
          <a:prstGeom prst="down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Down Arrow 19"/>
          <p:cNvSpPr/>
          <p:nvPr/>
        </p:nvSpPr>
        <p:spPr>
          <a:xfrm>
            <a:off x="5989320" y="3108960"/>
            <a:ext cx="237744" cy="219456"/>
          </a:xfrm>
          <a:prstGeom prst="down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926080" y="3401568"/>
            <a:ext cx="4343400" cy="96012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926080" y="3401568"/>
            <a:ext cx="82296" cy="96012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127248" y="3465576"/>
            <a:ext cx="4069080" cy="841248"/>
          </a:xfrm>
          <a:prstGeom prst="rect">
            <a:avLst/>
          </a:prstGeom>
          <a:noFill/>
        </p:spPr>
        <p:txBody>
          <a:bodyPr wrap="square" anchor="t" lIns="38100" rIns="38100" tIns="12700" bIns="12700">
            <a:spAutoFit/>
          </a:bodyPr>
          <a:lstStyle/>
          <a:p>
            <a:pPr algn="l">
              <a:spcAft>
                <a:spcPts val="100"/>
              </a:spcAft>
            </a:pPr>
            <a:r>
              <a:rPr sz="1250" b="1">
                <a:solidFill>
                  <a:srgbClr val="3E6B22"/>
                </a:solidFill>
                <a:latin typeface="Calibri"/>
              </a:rPr>
              <a:t>RUTA A · Consulta cuantitativa   (la mayoría)</a:t>
            </a:r>
          </a:p>
          <a:p>
            <a:pPr algn="l">
              <a:spcAft>
                <a:spcPts val="100"/>
              </a:spcAft>
            </a:pPr>
            <a:r>
              <a:rPr sz="1150" b="0">
                <a:solidFill>
                  <a:srgbClr val="1B2A38"/>
                </a:solidFill>
                <a:latin typeface="Calibri"/>
              </a:rPr>
              <a:t>La resuelve el CÓDIGO. Sin IA.</a:t>
            </a:r>
          </a:p>
          <a:p>
            <a:pPr algn="l">
              <a:spcAft>
                <a:spcPts val="100"/>
              </a:spcAft>
            </a:pPr>
            <a:r>
              <a:rPr sz="1000" b="0">
                <a:solidFill>
                  <a:srgbClr val="4A5B68"/>
                </a:solidFill>
                <a:latin typeface="Calibri"/>
              </a:rPr>
              <a:t>fuente_oficial · conversor_unidades · condiciones_referencia</a:t>
            </a:r>
          </a:p>
        </p:txBody>
      </p:sp>
      <p:sp>
        <p:nvSpPr>
          <p:cNvPr id="24" name="Rounded Rectangle 23"/>
          <p:cNvSpPr/>
          <p:nvPr/>
        </p:nvSpPr>
        <p:spPr>
          <a:xfrm>
            <a:off x="2926080" y="4572000"/>
            <a:ext cx="4343400" cy="96012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926080" y="4572000"/>
            <a:ext cx="82296" cy="96012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127248" y="4636008"/>
            <a:ext cx="4069080" cy="841248"/>
          </a:xfrm>
          <a:prstGeom prst="rect">
            <a:avLst/>
          </a:prstGeom>
          <a:noFill/>
        </p:spPr>
        <p:txBody>
          <a:bodyPr wrap="square" anchor="t" lIns="38100" rIns="38100" tIns="12700" bIns="12700">
            <a:spAutoFit/>
          </a:bodyPr>
          <a:lstStyle/>
          <a:p>
            <a:pPr algn="l">
              <a:spcAft>
                <a:spcPts val="100"/>
              </a:spcAft>
            </a:pPr>
            <a:r>
              <a:rPr sz="1250" b="1">
                <a:solidFill>
                  <a:srgbClr val="A5610E"/>
                </a:solidFill>
                <a:latin typeface="Calibri"/>
              </a:rPr>
              <a:t>RUTA B · Texto abierto</a:t>
            </a:r>
          </a:p>
          <a:p>
            <a:pPr algn="l">
              <a:spcAft>
                <a:spcPts val="100"/>
              </a:spcAft>
            </a:pPr>
            <a:r>
              <a:rPr sz="1150" b="0">
                <a:solidFill>
                  <a:srgbClr val="1B2A38"/>
                </a:solidFill>
                <a:latin typeface="Calibri"/>
              </a:rPr>
              <a:t>Va al modelo, que PIDE las cifras.</a:t>
            </a:r>
          </a:p>
          <a:p>
            <a:pPr algn="l">
              <a:spcAft>
                <a:spcPts val="100"/>
              </a:spcAft>
            </a:pPr>
            <a:r>
              <a:rPr sz="1000" b="0">
                <a:solidFill>
                  <a:srgbClr val="4A5B68"/>
                </a:solidFill>
                <a:latin typeface="Calibri"/>
              </a:rPr>
              <a:t>llm_interface · function calling</a:t>
            </a:r>
          </a:p>
        </p:txBody>
      </p:sp>
      <p:sp>
        <p:nvSpPr>
          <p:cNvPr id="27" name="Right Arrow 26"/>
          <p:cNvSpPr/>
          <p:nvPr/>
        </p:nvSpPr>
        <p:spPr>
          <a:xfrm>
            <a:off x="7498079" y="3749039"/>
            <a:ext cx="310896" cy="274320"/>
          </a:xfrm>
          <a:prstGeom prst="right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ight Arrow 27"/>
          <p:cNvSpPr/>
          <p:nvPr/>
        </p:nvSpPr>
        <p:spPr>
          <a:xfrm>
            <a:off x="7498079" y="4919472"/>
            <a:ext cx="310896" cy="274320"/>
          </a:xfrm>
          <a:prstGeom prst="right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863840" y="3063240"/>
            <a:ext cx="3886200" cy="137160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46720" y="3154680"/>
            <a:ext cx="3566160" cy="1188720"/>
          </a:xfrm>
          <a:prstGeom prst="rect">
            <a:avLst/>
          </a:prstGeom>
          <a:noFill/>
        </p:spPr>
        <p:txBody>
          <a:bodyPr wrap="square" anchor="t" lIns="38100" rIns="38100" tIns="12700" bIns="12700">
            <a:spAutoFit/>
          </a:bodyPr>
          <a:lstStyle/>
          <a:p>
            <a:pPr algn="l">
              <a:spcAft>
                <a:spcPts val="200"/>
              </a:spcAft>
            </a:pPr>
            <a:r>
              <a:rPr sz="1150" b="1">
                <a:solidFill>
                  <a:srgbClr val="0099D6"/>
                </a:solidFill>
                <a:latin typeface="Calibri"/>
              </a:rPr>
              <a:t>3 · BASE DE CONOCIMIENTO</a:t>
            </a:r>
          </a:p>
          <a:p>
            <a:pPr algn="l">
              <a:spcAft>
                <a:spcPts val="200"/>
              </a:spcAft>
            </a:pPr>
            <a:r>
              <a:rPr sz="1700" b="1">
                <a:solidFill>
                  <a:srgbClr val="FFFFFF"/>
                </a:solidFill>
                <a:latin typeface="Calibri"/>
              </a:rPr>
              <a:t>Ontología YAML</a:t>
            </a:r>
          </a:p>
          <a:p>
            <a:pPr algn="l">
              <a:spcAft>
                <a:spcPts val="200"/>
              </a:spcAft>
            </a:pPr>
            <a:r>
              <a:rPr sz="1100" b="0">
                <a:solidFill>
                  <a:srgbClr val="C9D6E0"/>
                </a:solidFill>
                <a:latin typeface="Calibri"/>
              </a:rPr>
              <a:t>Las 210 cifras, cada una con su unidad, sus condiciones y su cita oficial.</a:t>
            </a:r>
          </a:p>
        </p:txBody>
      </p:sp>
      <p:sp>
        <p:nvSpPr>
          <p:cNvPr id="31" name="Up Arrow 30"/>
          <p:cNvSpPr/>
          <p:nvPr/>
        </p:nvSpPr>
        <p:spPr>
          <a:xfrm>
            <a:off x="8275320" y="4526280"/>
            <a:ext cx="274320" cy="384048"/>
          </a:xfrm>
          <a:prstGeom prst="up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641080" y="4553712"/>
            <a:ext cx="3108960" cy="365760"/>
          </a:xfrm>
          <a:prstGeom prst="rect">
            <a:avLst/>
          </a:prstGeom>
          <a:noFill/>
        </p:spPr>
        <p:txBody>
          <a:bodyPr wrap="square" anchor="ctr" lIns="38100" rIns="38100" tIns="12700" bIns="12700">
            <a:spAutoFit/>
          </a:bodyPr>
          <a:lstStyle/>
          <a:p>
            <a:pPr algn="l">
              <a:spcAft>
                <a:spcPts val="600"/>
              </a:spcAft>
            </a:pPr>
            <a:r>
              <a:rPr sz="1050" b="1">
                <a:solidFill>
                  <a:srgbClr val="A5610E"/>
                </a:solidFill>
                <a:latin typeface="Calibri"/>
              </a:rPr>
              <a:t>function calling: el modelo PIDE la cifra, no la inventa</a:t>
            </a:r>
          </a:p>
        </p:txBody>
      </p:sp>
      <p:sp>
        <p:nvSpPr>
          <p:cNvPr id="33" name="Rounded Rectangle 32"/>
          <p:cNvSpPr/>
          <p:nvPr/>
        </p:nvSpPr>
        <p:spPr>
          <a:xfrm>
            <a:off x="7863840" y="4983480"/>
            <a:ext cx="3886200" cy="914400"/>
          </a:xfrm>
          <a:prstGeom prst="roundRect">
            <a:avLst>
              <a:gd name="adj" fmla="val 6000"/>
            </a:avLst>
          </a:prstGeom>
          <a:solidFill>
            <a:srgbClr val="FFFFFF"/>
          </a:solidFill>
          <a:ln w="19050">
            <a:solidFill>
              <a:srgbClr val="E88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046720" y="5056632"/>
            <a:ext cx="3566160" cy="777240"/>
          </a:xfrm>
          <a:prstGeom prst="rect">
            <a:avLst/>
          </a:prstGeom>
          <a:noFill/>
        </p:spPr>
        <p:txBody>
          <a:bodyPr wrap="square" anchor="t" lIns="38100" rIns="38100" tIns="12700" bIns="12700">
            <a:spAutoFit/>
          </a:bodyPr>
          <a:lstStyle/>
          <a:p>
            <a:pPr algn="l">
              <a:spcAft>
                <a:spcPts val="100"/>
              </a:spcAft>
            </a:pPr>
            <a:r>
              <a:rPr sz="1150" b="1">
                <a:solidFill>
                  <a:srgbClr val="A5610E"/>
                </a:solidFill>
                <a:latin typeface="Calibri"/>
              </a:rPr>
              <a:t>4 · SERVICIO DE IA  (externo · opcional)</a:t>
            </a:r>
          </a:p>
          <a:p>
            <a:pPr algn="l">
              <a:spcAft>
                <a:spcPts val="100"/>
              </a:spcAft>
            </a:pPr>
            <a:r>
              <a:rPr sz="1100" b="0">
                <a:solidFill>
                  <a:srgbClr val="1B2A38"/>
                </a:solidFill>
                <a:latin typeface="Calibri"/>
              </a:rPr>
              <a:t>OpenAI GPT-4o-mini · temperatura 0 — solo REDACTA, nunca genera cifras.</a:t>
            </a:r>
          </a:p>
        </p:txBody>
      </p:sp>
      <p:sp>
        <p:nvSpPr>
          <p:cNvPr id="35" name="Rectangle 34"/>
          <p:cNvSpPr/>
          <p:nvPr/>
        </p:nvSpPr>
        <p:spPr>
          <a:xfrm>
            <a:off x="411480" y="5870448"/>
            <a:ext cx="11338560" cy="4572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11480" y="5870448"/>
            <a:ext cx="82296"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907024"/>
            <a:ext cx="10972800" cy="384048"/>
          </a:xfrm>
          <a:prstGeom prst="rect">
            <a:avLst/>
          </a:prstGeom>
          <a:noFill/>
        </p:spPr>
        <p:txBody>
          <a:bodyPr wrap="square" anchor="ctr" lIns="38100" rIns="38100" tIns="12700" bIns="12700">
            <a:spAutoFit/>
          </a:bodyPr>
          <a:lstStyle/>
          <a:p>
            <a:pPr algn="l">
              <a:spcAft>
                <a:spcPts val="600"/>
              </a:spcAft>
            </a:pPr>
            <a:r>
              <a:rPr sz="1200" b="0">
                <a:solidFill>
                  <a:srgbClr val="013A57"/>
                </a:solidFill>
                <a:latin typeface="Calibri"/>
              </a:rPr>
              <a:t>Debajo de todo: los ~22 PDF oficiales (data/raw) y su índice de búsqueda SQLite — el índice guarda TEXTO, ninguna cifra.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cuatro componentes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componente tiene una responsabilidad, y solo una. La separación es deliberada.</a:t>
            </a:r>
          </a:p>
        </p:txBody>
      </p:sp>
      <p:graphicFrame>
        <p:nvGraphicFramePr>
          <p:cNvPr id="9" name="Table 8"/>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2349927"/>
                <a:gridCol w="5385249"/>
                <a:gridCol w="3329063"/>
              </a:tblGrid>
              <a:tr h="905256">
                <a:tc>
                  <a:txBody>
                    <a:bodyPr/>
                    <a:lstStyle/>
                    <a:p>
                      <a:r>
                        <a:rPr sz="1350" b="1">
                          <a:solidFill>
                            <a:srgbClr val="FFFFFF"/>
                          </a:solidFill>
                          <a:latin typeface="Calibri"/>
                        </a:rPr>
                        <a:t>Componente</a:t>
                      </a:r>
                    </a:p>
                  </a:txBody>
                  <a:tcPr anchor="ctr" marL="101600" marT="25400" marB="25400">
                    <a:solidFill>
                      <a:srgbClr val="013A57"/>
                    </a:solidFill>
                  </a:tcPr>
                </a:tc>
                <a:tc>
                  <a:txBody>
                    <a:bodyPr/>
                    <a:lstStyle/>
                    <a:p>
                      <a:r>
                        <a:rPr sz="1350" b="1">
                          <a:solidFill>
                            <a:srgbClr val="FFFFFF"/>
                          </a:solidFill>
                          <a:latin typeface="Calibri"/>
                        </a:rPr>
                        <a:t>Responsabilidad</a:t>
                      </a:r>
                    </a:p>
                  </a:txBody>
                  <a:tcPr anchor="ctr" marL="101600" marT="25400" marB="25400">
                    <a:solidFill>
                      <a:srgbClr val="013A57"/>
                    </a:solidFill>
                  </a:tcPr>
                </a:tc>
                <a:tc>
                  <a:txBody>
                    <a:bodyPr/>
                    <a:lstStyle/>
                    <a:p>
                      <a:r>
                        <a:rPr sz="1350" b="1">
                          <a:solidFill>
                            <a:srgbClr val="FFFFFF"/>
                          </a:solidFill>
                          <a:latin typeface="Calibri"/>
                        </a:rPr>
                        <a:t>Con qué está hecho</a:t>
                      </a:r>
                    </a:p>
                  </a:txBody>
                  <a:tcPr anchor="ctr" marL="101600" marT="25400" marB="25400">
                    <a:solidFill>
                      <a:srgbClr val="013A57"/>
                    </a:solidFill>
                  </a:tcPr>
                </a:tc>
              </a:tr>
              <a:tr h="905256">
                <a:tc>
                  <a:txBody>
                    <a:bodyPr/>
                    <a:lstStyle/>
                    <a:p>
                      <a:r>
                        <a:rPr sz="1350" b="1">
                          <a:solidFill>
                            <a:srgbClr val="013A57"/>
                          </a:solidFill>
                          <a:latin typeface="Calibri"/>
                        </a:rPr>
                        <a:t>1 · Interfaz web</a:t>
                      </a:r>
                    </a:p>
                  </a:txBody>
                  <a:tcPr anchor="ctr" marL="101600" marT="25400" marB="25400">
                    <a:solidFill>
                      <a:srgbClr val="EEF2F6"/>
                    </a:solidFill>
                  </a:tcPr>
                </a:tc>
                <a:tc>
                  <a:txBody>
                    <a:bodyPr/>
                    <a:lstStyle/>
                    <a:p>
                      <a:r>
                        <a:rPr sz="1350" b="0">
                          <a:solidFill>
                            <a:srgbClr val="1B2A38"/>
                          </a:solidFill>
                          <a:latin typeface="Calibri"/>
                        </a:rPr>
                        <a:t>Formular la consulta y mostrar la respuesta con sus citas. Cinco secciones.</a:t>
                      </a:r>
                    </a:p>
                  </a:txBody>
                  <a:tcPr anchor="ctr" marL="101600" marT="25400" marB="25400">
                    <a:solidFill>
                      <a:srgbClr val="EEF2F6"/>
                    </a:solidFill>
                  </a:tcPr>
                </a:tc>
                <a:tc>
                  <a:txBody>
                    <a:bodyPr/>
                    <a:lstStyle/>
                    <a:p>
                      <a:r>
                        <a:rPr sz="1350" b="0">
                          <a:solidFill>
                            <a:srgbClr val="1B2A38"/>
                          </a:solidFill>
                          <a:latin typeface="Calibri"/>
                        </a:rPr>
                        <a:t>index.html — HTML + JavaScript vanilla</a:t>
                      </a:r>
                    </a:p>
                  </a:txBody>
                  <a:tcPr anchor="ctr" marL="101600" marT="25400" marB="25400">
                    <a:solidFill>
                      <a:srgbClr val="EEF2F6"/>
                    </a:solidFill>
                  </a:tcPr>
                </a:tc>
              </a:tr>
              <a:tr h="905256">
                <a:tc>
                  <a:txBody>
                    <a:bodyPr/>
                    <a:lstStyle/>
                    <a:p>
                      <a:r>
                        <a:rPr sz="1350" b="1">
                          <a:solidFill>
                            <a:srgbClr val="013A57"/>
                          </a:solidFill>
                          <a:latin typeface="Calibri"/>
                        </a:rPr>
                        <a:t>2 · Servidor de aplicación</a:t>
                      </a:r>
                    </a:p>
                  </a:txBody>
                  <a:tcPr anchor="ctr" marL="101600" marT="25400" marB="25400">
                    <a:solidFill>
                      <a:srgbClr val="FFFFFF"/>
                    </a:solidFill>
                  </a:tcPr>
                </a:tc>
                <a:tc>
                  <a:txBody>
                    <a:bodyPr/>
                    <a:lstStyle/>
                    <a:p>
                      <a:r>
                        <a:rPr sz="1350" b="0">
                          <a:solidFill>
                            <a:srgbClr val="1B2A38"/>
                          </a:solidFill>
                          <a:latin typeface="Calibri"/>
                        </a:rPr>
                        <a:t>El núcleo: enruta, calcula, accede al dato y custodia las credenciales.</a:t>
                      </a:r>
                    </a:p>
                  </a:txBody>
                  <a:tcPr anchor="ctr" marL="101600" marT="25400" marB="25400">
                    <a:solidFill>
                      <a:srgbClr val="FFFFFF"/>
                    </a:solidFill>
                  </a:tcPr>
                </a:tc>
                <a:tc>
                  <a:txBody>
                    <a:bodyPr/>
                    <a:lstStyle/>
                    <a:p>
                      <a:r>
                        <a:rPr sz="1350" b="0">
                          <a:solidFill>
                            <a:srgbClr val="1B2A38"/>
                          </a:solidFill>
                          <a:latin typeface="Calibri"/>
                        </a:rPr>
                        <a:t>Python · FastAPI · uvicorn · pydantic</a:t>
                      </a:r>
                    </a:p>
                  </a:txBody>
                  <a:tcPr anchor="ctr" marL="101600" marT="25400" marB="25400">
                    <a:solidFill>
                      <a:srgbClr val="FFFFFF"/>
                    </a:solidFill>
                  </a:tcPr>
                </a:tc>
              </a:tr>
              <a:tr h="905256">
                <a:tc>
                  <a:txBody>
                    <a:bodyPr/>
                    <a:lstStyle/>
                    <a:p>
                      <a:r>
                        <a:rPr sz="1350" b="1">
                          <a:solidFill>
                            <a:srgbClr val="013A57"/>
                          </a:solidFill>
                          <a:latin typeface="Calibri"/>
                        </a:rPr>
                        <a:t>3 · Base de conocimiento</a:t>
                      </a:r>
                    </a:p>
                  </a:txBody>
                  <a:tcPr anchor="ctr" marL="101600" marT="25400" marB="25400">
                    <a:solidFill>
                      <a:srgbClr val="EEF2F6"/>
                    </a:solidFill>
                  </a:tcPr>
                </a:tc>
                <a:tc>
                  <a:txBody>
                    <a:bodyPr/>
                    <a:lstStyle/>
                    <a:p>
                      <a:r>
                        <a:rPr sz="1350" b="0">
                          <a:solidFill>
                            <a:srgbClr val="1B2A38"/>
                          </a:solidFill>
                          <a:latin typeface="Calibri"/>
                        </a:rPr>
                        <a:t>La ÚNICA fuente autorizada de cifras: los límites con su contexto y su fuente.</a:t>
                      </a:r>
                    </a:p>
                  </a:txBody>
                  <a:tcPr anchor="ctr" marL="101600" marT="25400" marB="25400">
                    <a:solidFill>
                      <a:srgbClr val="EEF2F6"/>
                    </a:solidFill>
                  </a:tcPr>
                </a:tc>
                <a:tc>
                  <a:txBody>
                    <a:bodyPr/>
                    <a:lstStyle/>
                    <a:p>
                      <a:r>
                        <a:rPr sz="1350" b="0">
                          <a:solidFill>
                            <a:srgbClr val="1B2A38"/>
                          </a:solidFill>
                          <a:latin typeface="Calibri"/>
                        </a:rPr>
                        <a:t>Ontología YAML (PyYAML)</a:t>
                      </a:r>
                    </a:p>
                  </a:txBody>
                  <a:tcPr anchor="ctr" marL="101600" marT="25400" marB="25400">
                    <a:solidFill>
                      <a:srgbClr val="EEF2F6"/>
                    </a:solidFill>
                  </a:tcPr>
                </a:tc>
              </a:tr>
              <a:tr h="905256">
                <a:tc>
                  <a:txBody>
                    <a:bodyPr/>
                    <a:lstStyle/>
                    <a:p>
                      <a:r>
                        <a:rPr sz="1350" b="1">
                          <a:solidFill>
                            <a:srgbClr val="013A57"/>
                          </a:solidFill>
                          <a:latin typeface="Calibri"/>
                        </a:rPr>
                        <a:t>4 · Servicio de IA (externo)</a:t>
                      </a:r>
                    </a:p>
                  </a:txBody>
                  <a:tcPr anchor="ctr" marL="101600" marT="25400" marB="25400">
                    <a:solidFill>
                      <a:srgbClr val="FFFFFF"/>
                    </a:solidFill>
                  </a:tcPr>
                </a:tc>
                <a:tc>
                  <a:txBody>
                    <a:bodyPr/>
                    <a:lstStyle/>
                    <a:p>
                      <a:r>
                        <a:rPr sz="1350" b="0">
                          <a:solidFill>
                            <a:srgbClr val="1B2A38"/>
                          </a:solidFill>
                          <a:latin typeface="Calibri"/>
                        </a:rPr>
                        <a:t>Interpretar la pregunta y REDACTAR el texto. Nunca genera cifras.</a:t>
                      </a:r>
                    </a:p>
                  </a:txBody>
                  <a:tcPr anchor="ctr" marL="101600" marT="25400" marB="25400">
                    <a:solidFill>
                      <a:srgbClr val="FFFFFF"/>
                    </a:solidFill>
                  </a:tcPr>
                </a:tc>
                <a:tc>
                  <a:txBody>
                    <a:bodyPr/>
                    <a:lstStyle/>
                    <a:p>
                      <a:r>
                        <a:rPr sz="1350" b="0">
                          <a:solidFill>
                            <a:srgbClr val="1B2A38"/>
                          </a:solidFill>
                          <a:latin typeface="Calibri"/>
                        </a:rPr>
                        <a:t>API de OpenAI (GPT-4o-mini)</a:t>
                      </a:r>
                    </a:p>
                  </a:txBody>
                  <a:tcPr anchor="ctr" marL="101600"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Las tres capas de datos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No hay una única base de datos: hay tres capas con funciones distintas. Y solo UNA guarda cifras.</a:t>
            </a:r>
          </a:p>
        </p:txBody>
      </p:sp>
      <p:sp>
        <p:nvSpPr>
          <p:cNvPr id="9" name="Rounded Rectangle 8"/>
          <p:cNvSpPr/>
          <p:nvPr/>
        </p:nvSpPr>
        <p:spPr>
          <a:xfrm>
            <a:off x="548640"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7548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1</a:t>
            </a:r>
          </a:p>
        </p:txBody>
      </p:sp>
      <p:sp>
        <p:nvSpPr>
          <p:cNvPr id="12" name="TextBox 11"/>
          <p:cNvSpPr txBox="1"/>
          <p:nvPr/>
        </p:nvSpPr>
        <p:spPr>
          <a:xfrm>
            <a:off x="713232"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Documentos oficiales</a:t>
            </a:r>
          </a:p>
        </p:txBody>
      </p:sp>
      <p:sp>
        <p:nvSpPr>
          <p:cNvPr id="13" name="TextBox 12"/>
          <p:cNvSpPr txBox="1"/>
          <p:nvPr/>
        </p:nvSpPr>
        <p:spPr>
          <a:xfrm>
            <a:off x="713232"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Los ~22 PDF de las normas: BOE, ERSE, GRTgaz, DVGW, Fluxys…</a:t>
            </a:r>
          </a:p>
          <a:p>
            <a:pPr algn="l">
              <a:spcAft>
                <a:spcPts val="900"/>
              </a:spcAft>
            </a:pPr>
            <a:r>
              <a:rPr sz="1250" b="0">
                <a:solidFill>
                  <a:srgbClr val="1B2A38"/>
                </a:solidFill>
                <a:latin typeface="Calibri"/>
              </a:rPr>
              <a:t>• Archivados en local (data/raw) para no depender de webs externas.</a:t>
            </a:r>
          </a:p>
          <a:p>
            <a:pPr algn="l">
              <a:spcAft>
                <a:spcPts val="900"/>
              </a:spcAft>
            </a:pPr>
            <a:r>
              <a:rPr sz="1250" b="0">
                <a:solidFill>
                  <a:srgbClr val="1B2A38"/>
                </a:solidFill>
                <a:latin typeface="Calibri"/>
              </a:rPr>
              <a:t>• Es la FUENTE ÚLTIMA DE VERDAD.</a:t>
            </a:r>
          </a:p>
        </p:txBody>
      </p:sp>
      <p:sp>
        <p:nvSpPr>
          <p:cNvPr id="14" name="Rectangle 13"/>
          <p:cNvSpPr/>
          <p:nvPr/>
        </p:nvSpPr>
        <p:spPr>
          <a:xfrm>
            <a:off x="713232" y="5257800"/>
            <a:ext cx="1554480" cy="320040"/>
          </a:xfrm>
          <a:prstGeom prst="rect">
            <a:avLst/>
          </a:prstGeom>
          <a:solidFill>
            <a:srgbClr val="FFFFFF"/>
          </a:solidFill>
          <a:ln w="12700">
            <a:solidFill>
              <a:srgbClr val="0A5A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3232"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0A5A82"/>
                </a:solidFill>
                <a:latin typeface="Calibri"/>
              </a:rPr>
              <a:t>pdfplumber</a:t>
            </a:r>
          </a:p>
        </p:txBody>
      </p:sp>
      <p:sp>
        <p:nvSpPr>
          <p:cNvPr id="16" name="Rounded Rectangle 15"/>
          <p:cNvSpPr/>
          <p:nvPr/>
        </p:nvSpPr>
        <p:spPr>
          <a:xfrm>
            <a:off x="4270248"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270248" y="1737360"/>
            <a:ext cx="3593592" cy="47548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2</a:t>
            </a:r>
          </a:p>
        </p:txBody>
      </p:sp>
      <p:sp>
        <p:nvSpPr>
          <p:cNvPr id="19" name="TextBox 18"/>
          <p:cNvSpPr txBox="1"/>
          <p:nvPr/>
        </p:nvSpPr>
        <p:spPr>
          <a:xfrm>
            <a:off x="4434840"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La ontología</a:t>
            </a:r>
          </a:p>
        </p:txBody>
      </p:sp>
      <p:sp>
        <p:nvSpPr>
          <p:cNvPr id="20" name="TextBox 19"/>
          <p:cNvSpPr txBox="1"/>
          <p:nvPr/>
        </p:nvSpPr>
        <p:spPr>
          <a:xfrm>
            <a:off x="4434840"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Las 210 cifras extraídas de esos PDF, cada una con su contexto y su cita.</a:t>
            </a:r>
          </a:p>
          <a:p>
            <a:pPr algn="l">
              <a:spcAft>
                <a:spcPts val="900"/>
              </a:spcAft>
            </a:pPr>
            <a:r>
              <a:rPr sz="1250" b="0">
                <a:solidFill>
                  <a:srgbClr val="1B2A38"/>
                </a:solidFill>
                <a:latin typeface="Calibri"/>
              </a:rPr>
              <a:t>• Un único fichero YAML, legible y versionado en git.</a:t>
            </a:r>
          </a:p>
          <a:p>
            <a:pPr algn="l">
              <a:spcAft>
                <a:spcPts val="900"/>
              </a:spcAft>
            </a:pPr>
            <a:r>
              <a:rPr sz="1250" b="0">
                <a:solidFill>
                  <a:srgbClr val="1B2A38"/>
                </a:solidFill>
                <a:latin typeface="Calibri"/>
              </a:rPr>
              <a:t>• De aquí salen TODAS las respuestas.</a:t>
            </a:r>
          </a:p>
        </p:txBody>
      </p:sp>
      <p:sp>
        <p:nvSpPr>
          <p:cNvPr id="21" name="Rectangle 20"/>
          <p:cNvSpPr/>
          <p:nvPr/>
        </p:nvSpPr>
        <p:spPr>
          <a:xfrm>
            <a:off x="4434840" y="5257800"/>
            <a:ext cx="1554480" cy="320040"/>
          </a:xfrm>
          <a:prstGeom prst="rect">
            <a:avLst/>
          </a:prstGeom>
          <a:solidFill>
            <a:srgbClr val="FFFFFF"/>
          </a:solidFill>
          <a:ln w="12700">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34840"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6CB33E"/>
                </a:solidFill>
                <a:latin typeface="Calibri"/>
              </a:rPr>
              <a:t>PyYAML</a:t>
            </a:r>
          </a:p>
        </p:txBody>
      </p:sp>
      <p:sp>
        <p:nvSpPr>
          <p:cNvPr id="23" name="Rounded Rectangle 22"/>
          <p:cNvSpPr/>
          <p:nvPr/>
        </p:nvSpPr>
        <p:spPr>
          <a:xfrm>
            <a:off x="7991856"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991856" y="1737360"/>
            <a:ext cx="3593592" cy="47548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3</a:t>
            </a:r>
          </a:p>
        </p:txBody>
      </p:sp>
      <p:sp>
        <p:nvSpPr>
          <p:cNvPr id="26" name="TextBox 25"/>
          <p:cNvSpPr txBox="1"/>
          <p:nvPr/>
        </p:nvSpPr>
        <p:spPr>
          <a:xfrm>
            <a:off x="8156448"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Índice documental (RAG)</a:t>
            </a:r>
          </a:p>
        </p:txBody>
      </p:sp>
      <p:sp>
        <p:nvSpPr>
          <p:cNvPr id="27" name="TextBox 26"/>
          <p:cNvSpPr txBox="1"/>
          <p:nvPr/>
        </p:nvSpPr>
        <p:spPr>
          <a:xfrm>
            <a:off x="8156448"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El TEXTO de los PDF troceado en fragmentos con solape.</a:t>
            </a:r>
          </a:p>
          <a:p>
            <a:pPr algn="l">
              <a:spcAft>
                <a:spcPts val="900"/>
              </a:spcAft>
            </a:pPr>
            <a:r>
              <a:rPr sz="1250" b="0">
                <a:solidFill>
                  <a:srgbClr val="1B2A38"/>
                </a:solidFill>
                <a:latin typeface="Calibri"/>
              </a:rPr>
              <a:t>• Sirve para localizar el pasaje en consultas de texto abierto.</a:t>
            </a:r>
          </a:p>
          <a:p>
            <a:pPr algn="l">
              <a:spcAft>
                <a:spcPts val="900"/>
              </a:spcAft>
            </a:pPr>
            <a:r>
              <a:rPr sz="1250" b="0">
                <a:solidFill>
                  <a:srgbClr val="1B2A38"/>
                </a:solidFill>
                <a:latin typeface="Calibri"/>
              </a:rPr>
              <a:t>• NO ALMACENA NINGUNA CIFRA.</a:t>
            </a:r>
          </a:p>
        </p:txBody>
      </p:sp>
      <p:sp>
        <p:nvSpPr>
          <p:cNvPr id="28" name="Rectangle 27"/>
          <p:cNvSpPr/>
          <p:nvPr/>
        </p:nvSpPr>
        <p:spPr>
          <a:xfrm>
            <a:off x="8156448" y="5257800"/>
            <a:ext cx="1554480" cy="320040"/>
          </a:xfrm>
          <a:prstGeom prst="rect">
            <a:avLst/>
          </a:prstGeom>
          <a:solidFill>
            <a:srgbClr val="FFFFFF"/>
          </a:solidFill>
          <a:ln w="12700">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56448"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E88A1A"/>
                </a:solidFill>
                <a:latin typeface="Calibri"/>
              </a:rPr>
              <a:t>SQLite</a:t>
            </a:r>
          </a:p>
        </p:txBody>
      </p:sp>
      <p:sp>
        <p:nvSpPr>
          <p:cNvPr id="30" name="Rectangle 29"/>
          <p:cNvSpPr/>
          <p:nvPr/>
        </p:nvSpPr>
        <p:spPr>
          <a:xfrm>
            <a:off x="548640" y="594360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77240" y="5961888"/>
            <a:ext cx="1078992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Las CIFRAS residen solo en la capa 2. La capa 3 es un buscador de texto: no puede producir un número.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03</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 ontología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El corazón del sistema: la extracción verificada de los PDF oficiales, con todo su contexto.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ontología: estructura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Un único fichero YAML. Cinco claves. Toda la base de conocimiento del sistema.</a:t>
            </a:r>
          </a:p>
        </p:txBody>
      </p:sp>
      <p:sp>
        <p:nvSpPr>
          <p:cNvPr id="9" name="Rounded Rectangle 8"/>
          <p:cNvSpPr/>
          <p:nvPr/>
        </p:nvSpPr>
        <p:spPr>
          <a:xfrm>
            <a:off x="457200" y="1920240"/>
            <a:ext cx="2880360" cy="324612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103120"/>
            <a:ext cx="2514600" cy="2926080"/>
          </a:xfrm>
          <a:prstGeom prst="rect">
            <a:avLst/>
          </a:prstGeom>
          <a:noFill/>
        </p:spPr>
        <p:txBody>
          <a:bodyPr wrap="square" anchor="t" lIns="38100" rIns="38100" tIns="12700" bIns="12700">
            <a:spAutoFit/>
          </a:bodyPr>
          <a:lstStyle/>
          <a:p>
            <a:pPr algn="l">
              <a:spcAft>
                <a:spcPts val="400"/>
              </a:spcAft>
            </a:pPr>
            <a:r>
              <a:rPr sz="1100" b="1">
                <a:solidFill>
                  <a:srgbClr val="0099D6"/>
                </a:solidFill>
                <a:latin typeface="Calibri"/>
              </a:rPr>
              <a:t>FICHERO ÚNICO</a:t>
            </a:r>
          </a:p>
          <a:p>
            <a:pPr algn="l">
              <a:spcAft>
                <a:spcPts val="400"/>
              </a:spcAft>
            </a:pPr>
            <a:r>
              <a:rPr sz="1500" b="1">
                <a:solidFill>
                  <a:srgbClr val="FFFFFF"/>
                </a:solidFill>
                <a:latin typeface="Calibri"/>
              </a:rPr>
              <a:t>ontologia_enagas.yaml</a:t>
            </a:r>
          </a:p>
          <a:p>
            <a:pPr algn="l">
              <a:spcAft>
                <a:spcPts val="400"/>
              </a:spcAft>
            </a:pPr>
            <a:r>
              <a:rPr sz="1100" b="0">
                <a:solidFill>
                  <a:srgbClr val="9FB3C4"/>
                </a:solidFill>
                <a:latin typeface="Calibri"/>
              </a:rPr>
              <a:t>data/ontologia/</a:t>
            </a:r>
          </a:p>
          <a:p>
            <a:pPr algn="l">
              <a:spcAft>
                <a:spcPts val="400"/>
              </a:spcAft>
            </a:pPr>
            <a:r>
              <a:rPr sz="1100" b="0">
                <a:solidFill>
                  <a:srgbClr val="9FB3C4"/>
                </a:solidFill>
                <a:latin typeface="Calibri"/>
              </a:rPr>
              <a:t>versión 3.2.0</a:t>
            </a:r>
          </a:p>
          <a:p>
            <a:pPr algn="l">
              <a:spcAft>
                <a:spcPts val="400"/>
              </a:spcAft>
            </a:pPr>
            <a:r>
              <a:rPr sz="600" b="0">
                <a:solidFill>
                  <a:srgbClr val="FFFFFF"/>
                </a:solidFill>
                <a:latin typeface="Calibri"/>
              </a:rPr>
              <a:t/>
            </a:r>
          </a:p>
          <a:p>
            <a:pPr algn="l">
              <a:spcAft>
                <a:spcPts val="400"/>
              </a:spcAft>
            </a:pPr>
            <a:r>
              <a:rPr sz="1200" b="0">
                <a:solidFill>
                  <a:srgbClr val="C9D6E0"/>
                </a:solidFill>
                <a:latin typeface="Calibri"/>
              </a:rPr>
              <a:t>Legible por una persona.</a:t>
            </a:r>
          </a:p>
          <a:p>
            <a:pPr algn="l">
              <a:spcAft>
                <a:spcPts val="400"/>
              </a:spcAft>
            </a:pPr>
            <a:r>
              <a:rPr sz="1200" b="0">
                <a:solidFill>
                  <a:srgbClr val="C9D6E0"/>
                </a:solidFill>
                <a:latin typeface="Calibri"/>
              </a:rPr>
              <a:t>Versionado en git junto al código.</a:t>
            </a:r>
          </a:p>
          <a:p>
            <a:pPr algn="l">
              <a:spcAft>
                <a:spcPts val="400"/>
              </a:spcAft>
            </a:pPr>
            <a:r>
              <a:rPr sz="1200" b="0">
                <a:solidFill>
                  <a:srgbClr val="C9D6E0"/>
                </a:solidFill>
                <a:latin typeface="Calibri"/>
              </a:rPr>
              <a:t>Auditable celda a celda.</a:t>
            </a:r>
          </a:p>
        </p:txBody>
      </p:sp>
      <p:sp>
        <p:nvSpPr>
          <p:cNvPr id="11" name="Rectangle 10"/>
          <p:cNvSpPr/>
          <p:nvPr/>
        </p:nvSpPr>
        <p:spPr>
          <a:xfrm>
            <a:off x="3657600" y="2057400"/>
            <a:ext cx="41148" cy="3017520"/>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698748" y="2185416"/>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4160520" y="1920240"/>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60520" y="1920240"/>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43400" y="1947672"/>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ontologia.fuentes_normativas</a:t>
            </a:r>
          </a:p>
        </p:txBody>
      </p:sp>
      <p:sp>
        <p:nvSpPr>
          <p:cNvPr id="16" name="TextBox 15"/>
          <p:cNvSpPr txBox="1"/>
          <p:nvPr/>
        </p:nvSpPr>
        <p:spPr>
          <a:xfrm>
            <a:off x="7360920" y="1947672"/>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catálogo de las 39 normas oficiales: id, organismo, publicación, URL y copia local del PDF.</a:t>
            </a:r>
          </a:p>
        </p:txBody>
      </p:sp>
      <p:sp>
        <p:nvSpPr>
          <p:cNvPr id="17" name="Rectangle 16"/>
          <p:cNvSpPr/>
          <p:nvPr/>
        </p:nvSpPr>
        <p:spPr>
          <a:xfrm>
            <a:off x="3698748" y="2843784"/>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60520" y="2578608"/>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160520" y="2578608"/>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43400" y="2606040"/>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ontologia.tipos_gas</a:t>
            </a:r>
          </a:p>
        </p:txBody>
      </p:sp>
      <p:sp>
        <p:nvSpPr>
          <p:cNvPr id="21" name="TextBox 20"/>
          <p:cNvSpPr txBox="1"/>
          <p:nvPr/>
        </p:nvSpPr>
        <p:spPr>
          <a:xfrm>
            <a:off x="7360920" y="2606040"/>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registro de los 3 tipos de gas y a qué sección de parámetros apunta cada uno.</a:t>
            </a:r>
          </a:p>
        </p:txBody>
      </p:sp>
      <p:sp>
        <p:nvSpPr>
          <p:cNvPr id="22" name="Rectangle 21"/>
          <p:cNvSpPr/>
          <p:nvPr/>
        </p:nvSpPr>
        <p:spPr>
          <a:xfrm>
            <a:off x="3698748" y="3502152"/>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60520" y="3236976"/>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60520" y="3236976"/>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43400" y="3264408"/>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a:t>
            </a:r>
          </a:p>
        </p:txBody>
      </p:sp>
      <p:sp>
        <p:nvSpPr>
          <p:cNvPr id="26" name="TextBox 25"/>
          <p:cNvSpPr txBox="1"/>
          <p:nvPr/>
        </p:nvSpPr>
        <p:spPr>
          <a:xfrm>
            <a:off x="7360920" y="3264408"/>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GAS NATURAL — 10 parámetros × 21 jurisdicciones = 210 celdas.</a:t>
            </a:r>
          </a:p>
        </p:txBody>
      </p:sp>
      <p:sp>
        <p:nvSpPr>
          <p:cNvPr id="27" name="Rectangle 26"/>
          <p:cNvSpPr/>
          <p:nvPr/>
        </p:nvSpPr>
        <p:spPr>
          <a:xfrm>
            <a:off x="3698748" y="4160520"/>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4160520" y="3895344"/>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160520" y="3895344"/>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43400" y="3922776"/>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parametros_biometano</a:t>
            </a:r>
          </a:p>
        </p:txBody>
      </p:sp>
      <p:sp>
        <p:nvSpPr>
          <p:cNvPr id="31" name="TextBox 30"/>
          <p:cNvSpPr txBox="1"/>
          <p:nvPr/>
        </p:nvSpPr>
        <p:spPr>
          <a:xfrm>
            <a:off x="7360920" y="3922776"/>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BIOMETANO — 12 parámetros × 4 jurisdicciones (ES · PT · FR · UE).</a:t>
            </a:r>
          </a:p>
        </p:txBody>
      </p:sp>
      <p:sp>
        <p:nvSpPr>
          <p:cNvPr id="32" name="Rectangle 31"/>
          <p:cNvSpPr/>
          <p:nvPr/>
        </p:nvSpPr>
        <p:spPr>
          <a:xfrm>
            <a:off x="3698748" y="4818888"/>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4160520" y="4553712"/>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60520" y="4553712"/>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43400" y="4581144"/>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parametros_hidrogeno</a:t>
            </a:r>
          </a:p>
        </p:txBody>
      </p:sp>
      <p:sp>
        <p:nvSpPr>
          <p:cNvPr id="36" name="TextBox 35"/>
          <p:cNvSpPr txBox="1"/>
          <p:nvPr/>
        </p:nvSpPr>
        <p:spPr>
          <a:xfrm>
            <a:off x="7360920" y="4581144"/>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HIDRÓGENO — 18 parámetros · dominio de RED y dominio de PRODUCTO.</a:t>
            </a:r>
          </a:p>
        </p:txBody>
      </p:sp>
      <p:sp>
        <p:nvSpPr>
          <p:cNvPr id="37" name="Rectangle 36"/>
          <p:cNvSpPr/>
          <p:nvPr/>
        </p:nvSpPr>
        <p:spPr>
          <a:xfrm>
            <a:off x="457200" y="5394960"/>
            <a:ext cx="11292840" cy="9144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57200" y="5394960"/>
            <a:ext cx="82296"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 y="5468112"/>
            <a:ext cx="10881360" cy="82296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Las tres secciones de parámetros comparten EXACTAMENTE el mismo esquema.</a:t>
            </a:r>
          </a:p>
          <a:p>
            <a:pPr algn="l">
              <a:spcAft>
                <a:spcPts val="300"/>
              </a:spcAft>
            </a:pPr>
            <a:r>
              <a:rPr sz="1250" b="0">
                <a:solidFill>
                  <a:srgbClr val="4A5B68"/>
                </a:solidFill>
                <a:latin typeface="Calibri"/>
              </a:rPr>
              <a:t>Por eso la ampliación a biometano e hidrógeno no cambió la arquitectura: reutiliza la misma maquinaria (consulta, comparativa, matriz, normalización ISO 13443 y estados de verificación).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Anatomía de un valor</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10</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límite NO es solo un número: guarda todo su contexto normativo. Ejemplo real — el O2 de España:</a:t>
            </a:r>
          </a:p>
        </p:txBody>
      </p:sp>
      <p:sp>
        <p:nvSpPr>
          <p:cNvPr id="9" name="Rounded Rectangle 8"/>
          <p:cNvSpPr/>
          <p:nvPr/>
        </p:nvSpPr>
        <p:spPr>
          <a:xfrm>
            <a:off x="502920" y="1691640"/>
            <a:ext cx="5989320" cy="3154680"/>
          </a:xfrm>
          <a:prstGeom prst="roundRect">
            <a:avLst>
              <a:gd name="adj" fmla="val 6000"/>
            </a:avLst>
          </a:prstGeom>
          <a:solidFill>
            <a:srgbClr val="F5F8FA"/>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02920" y="1691640"/>
            <a:ext cx="5989320" cy="38404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1728216"/>
            <a:ext cx="5577840" cy="320040"/>
          </a:xfrm>
          <a:prstGeom prst="rect">
            <a:avLst/>
          </a:prstGeom>
          <a:noFill/>
        </p:spPr>
        <p:txBody>
          <a:bodyPr wrap="square" anchor="t" lIns="38100" rIns="38100" tIns="12700" bIns="12700">
            <a:spAutoFit/>
          </a:bodyPr>
          <a:lstStyle/>
          <a:p>
            <a:pPr algn="l">
              <a:spcAft>
                <a:spcPts val="600"/>
              </a:spcAft>
            </a:pPr>
            <a:r>
              <a:rPr sz="1100" b="0">
                <a:solidFill>
                  <a:srgbClr val="FFFFFF"/>
                </a:solidFill>
                <a:latin typeface="Consolas"/>
              </a:rPr>
              <a:t>ontologia_enagas.yaml  →  parametros → O2 → limites → ES</a:t>
            </a:r>
          </a:p>
        </p:txBody>
      </p:sp>
      <p:sp>
        <p:nvSpPr>
          <p:cNvPr id="12" name="TextBox 11"/>
          <p:cNvSpPr txBox="1"/>
          <p:nvPr/>
        </p:nvSpPr>
        <p:spPr>
          <a:xfrm>
            <a:off x="731520" y="2194560"/>
            <a:ext cx="5577840" cy="2560320"/>
          </a:xfrm>
          <a:prstGeom prst="rect">
            <a:avLst/>
          </a:prstGeom>
          <a:noFill/>
        </p:spPr>
        <p:txBody>
          <a:bodyPr wrap="square" anchor="t" lIns="38100" rIns="38100" tIns="12700" bIns="12700">
            <a:spAutoFit/>
          </a:bodyPr>
          <a:lstStyle/>
          <a:p>
            <a:pPr algn="l">
              <a:spcAft>
                <a:spcPts val="300"/>
              </a:spcAft>
            </a:pPr>
            <a:r>
              <a:rPr sz="1250" b="1">
                <a:solidFill>
                  <a:srgbClr val="013A57"/>
                </a:solidFill>
                <a:latin typeface="Consolas"/>
              </a:rPr>
              <a:t>ES:</a:t>
            </a:r>
          </a:p>
          <a:p>
            <a:pPr algn="l">
              <a:spcAft>
                <a:spcPts val="300"/>
              </a:spcAft>
            </a:pPr>
            <a:r>
              <a:rPr sz="1200" b="0">
                <a:solidFill>
                  <a:srgbClr val="1B2A38"/>
                </a:solidFill>
                <a:latin typeface="Consolas"/>
              </a:rPr>
              <a:t>  fuente: ORDEN_TED_181_2025</a:t>
            </a:r>
          </a:p>
          <a:p>
            <a:pPr algn="l">
              <a:spcAft>
                <a:spcPts val="300"/>
              </a:spcAft>
            </a:pPr>
            <a:r>
              <a:rPr sz="1200" b="0">
                <a:solidFill>
                  <a:srgbClr val="1B2A38"/>
                </a:solidFill>
                <a:latin typeface="Consolas"/>
              </a:rPr>
              <a:t>  articulo: "Tabla 3, apdo. 2.5.2.1 (pág. 27)"</a:t>
            </a:r>
          </a:p>
          <a:p>
            <a:pPr algn="l">
              <a:spcAft>
                <a:spcPts val="300"/>
              </a:spcAft>
            </a:pPr>
            <a:r>
              <a:rPr sz="1200" b="0">
                <a:solidFill>
                  <a:srgbClr val="1B2A38"/>
                </a:solidFill>
                <a:latin typeface="Consolas"/>
              </a:rPr>
              <a:t>  tipo_limite: maximo</a:t>
            </a:r>
          </a:p>
          <a:p>
            <a:pPr algn="l">
              <a:spcAft>
                <a:spcPts val="300"/>
              </a:spcAft>
            </a:pPr>
            <a:r>
              <a:rPr sz="1200" b="0">
                <a:solidFill>
                  <a:srgbClr val="1B2A38"/>
                </a:solidFill>
                <a:latin typeface="Consolas"/>
              </a:rPr>
              <a:t>  valor: 0.01</a:t>
            </a:r>
          </a:p>
          <a:p>
            <a:pPr algn="l">
              <a:spcAft>
                <a:spcPts val="300"/>
              </a:spcAft>
            </a:pPr>
            <a:r>
              <a:rPr sz="1200" b="0">
                <a:solidFill>
                  <a:srgbClr val="1B2A38"/>
                </a:solidFill>
                <a:latin typeface="Consolas"/>
              </a:rPr>
              <a:t>  unidad: pct_mol</a:t>
            </a:r>
          </a:p>
          <a:p>
            <a:pPr algn="l">
              <a:spcAft>
                <a:spcPts val="300"/>
              </a:spcAft>
            </a:pPr>
            <a:r>
              <a:rPr sz="1200" b="1">
                <a:solidFill>
                  <a:srgbClr val="013A57"/>
                </a:solidFill>
                <a:latin typeface="Consolas"/>
              </a:rPr>
              <a:t>  expresion_original: "O2: – / 0,01 % mol"</a:t>
            </a:r>
          </a:p>
          <a:p>
            <a:pPr algn="l">
              <a:spcAft>
                <a:spcPts val="300"/>
              </a:spcAft>
            </a:pPr>
            <a:r>
              <a:rPr sz="1200" b="0">
                <a:solidFill>
                  <a:srgbClr val="1B2A38"/>
                </a:solidFill>
                <a:latin typeface="Consolas"/>
              </a:rPr>
              <a:t>  condiciones_referencia:</a:t>
            </a:r>
          </a:p>
          <a:p>
            <a:pPr algn="l">
              <a:spcAft>
                <a:spcPts val="300"/>
              </a:spcAft>
            </a:pPr>
            <a:r>
              <a:rPr sz="1200" b="0">
                <a:solidFill>
                  <a:srgbClr val="1B2A38"/>
                </a:solidFill>
                <a:latin typeface="Consolas"/>
              </a:rPr>
              <a:t>    temperatura_volumen_C: 0</a:t>
            </a:r>
          </a:p>
          <a:p>
            <a:pPr algn="l">
              <a:spcAft>
                <a:spcPts val="300"/>
              </a:spcAft>
            </a:pPr>
            <a:r>
              <a:rPr sz="1200" b="0">
                <a:solidFill>
                  <a:srgbClr val="1B2A38"/>
                </a:solidFill>
                <a:latin typeface="Consolas"/>
              </a:rPr>
              <a:t>    presion_bar: 1.01325</a:t>
            </a:r>
          </a:p>
          <a:p>
            <a:pPr algn="l">
              <a:spcAft>
                <a:spcPts val="300"/>
              </a:spcAft>
            </a:pPr>
            <a:r>
              <a:rPr sz="1200" b="1">
                <a:solidFill>
                  <a:srgbClr val="3E6B22"/>
                </a:solidFill>
                <a:latin typeface="Consolas"/>
              </a:rPr>
              <a:t>  estado_verificacion: VERIFICADO</a:t>
            </a:r>
          </a:p>
        </p:txBody>
      </p:sp>
      <p:sp>
        <p:nvSpPr>
          <p:cNvPr id="13" name="Rounded Rectangle 12"/>
          <p:cNvSpPr/>
          <p:nvPr/>
        </p:nvSpPr>
        <p:spPr>
          <a:xfrm>
            <a:off x="502920" y="4983480"/>
            <a:ext cx="5989320" cy="132588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02920" y="4983480"/>
            <a:ext cx="82296" cy="132588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5074920"/>
            <a:ext cx="5532120" cy="1188720"/>
          </a:xfrm>
          <a:prstGeom prst="rect">
            <a:avLst/>
          </a:prstGeom>
          <a:noFill/>
        </p:spPr>
        <p:txBody>
          <a:bodyPr wrap="square" anchor="t" lIns="38100" rIns="38100" tIns="12700" bIns="12700">
            <a:spAutoFit/>
          </a:bodyPr>
          <a:lstStyle/>
          <a:p>
            <a:pPr algn="l">
              <a:spcAft>
                <a:spcPts val="300"/>
              </a:spcAft>
            </a:pPr>
            <a:r>
              <a:rPr sz="1400" b="1">
                <a:solidFill>
                  <a:srgbClr val="3E6B22"/>
                </a:solidFill>
                <a:latin typeface="Calibri"/>
              </a:rPr>
              <a:t>Así son las 210 celdas. Todas.</a:t>
            </a:r>
          </a:p>
          <a:p>
            <a:pPr algn="l">
              <a:spcAft>
                <a:spcPts val="300"/>
              </a:spcAft>
            </a:pPr>
            <a:r>
              <a:rPr sz="1250" b="0">
                <a:solidFill>
                  <a:srgbClr val="1B2A38"/>
                </a:solidFill>
                <a:latin typeface="Calibri"/>
              </a:rPr>
              <a:t>Ninguna es «solo un número»: el valor viaja siempre con su unidad, sus condiciones de referencia, su cita exacta y el texto literal de la norma del que se extrajo.</a:t>
            </a:r>
          </a:p>
        </p:txBody>
      </p:sp>
      <p:sp>
        <p:nvSpPr>
          <p:cNvPr id="16" name="Rectangle 15"/>
          <p:cNvSpPr/>
          <p:nvPr/>
        </p:nvSpPr>
        <p:spPr>
          <a:xfrm>
            <a:off x="6812280" y="169164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812280" y="16916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8" y="170992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fuente</a:t>
            </a:r>
          </a:p>
        </p:txBody>
      </p:sp>
      <p:sp>
        <p:nvSpPr>
          <p:cNvPr id="19" name="TextBox 18"/>
          <p:cNvSpPr txBox="1"/>
          <p:nvPr/>
        </p:nvSpPr>
        <p:spPr>
          <a:xfrm>
            <a:off x="8961120" y="170992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De qué norma sale (enlaza al catálogo).</a:t>
            </a:r>
          </a:p>
        </p:txBody>
      </p:sp>
      <p:sp>
        <p:nvSpPr>
          <p:cNvPr id="20" name="Rectangle 19"/>
          <p:cNvSpPr/>
          <p:nvPr/>
        </p:nvSpPr>
        <p:spPr>
          <a:xfrm>
            <a:off x="6812280" y="219456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812280" y="219456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67728" y="221284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articulo</a:t>
            </a:r>
          </a:p>
        </p:txBody>
      </p:sp>
      <p:sp>
        <p:nvSpPr>
          <p:cNvPr id="23" name="TextBox 22"/>
          <p:cNvSpPr txBox="1"/>
          <p:nvPr/>
        </p:nvSpPr>
        <p:spPr>
          <a:xfrm>
            <a:off x="8961120" y="221284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Dónde exactamente: tabla, apartado y página.</a:t>
            </a:r>
          </a:p>
        </p:txBody>
      </p:sp>
      <p:sp>
        <p:nvSpPr>
          <p:cNvPr id="24" name="Rectangle 23"/>
          <p:cNvSpPr/>
          <p:nvPr/>
        </p:nvSpPr>
        <p:spPr>
          <a:xfrm>
            <a:off x="6812280" y="269748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812280" y="269748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67728" y="271576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tipo_limite</a:t>
            </a:r>
          </a:p>
        </p:txBody>
      </p:sp>
      <p:sp>
        <p:nvSpPr>
          <p:cNvPr id="27" name="TextBox 26"/>
          <p:cNvSpPr txBox="1"/>
          <p:nvPr/>
        </p:nvSpPr>
        <p:spPr>
          <a:xfrm>
            <a:off x="8961120" y="271576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Máximo, mínimo o rango.</a:t>
            </a:r>
          </a:p>
        </p:txBody>
      </p:sp>
      <p:sp>
        <p:nvSpPr>
          <p:cNvPr id="28" name="Rectangle 27"/>
          <p:cNvSpPr/>
          <p:nvPr/>
        </p:nvSpPr>
        <p:spPr>
          <a:xfrm>
            <a:off x="6812280" y="320040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812280" y="320040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67728" y="321868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valor + unidad</a:t>
            </a:r>
          </a:p>
        </p:txBody>
      </p:sp>
      <p:sp>
        <p:nvSpPr>
          <p:cNvPr id="31" name="TextBox 30"/>
          <p:cNvSpPr txBox="1"/>
          <p:nvPr/>
        </p:nvSpPr>
        <p:spPr>
          <a:xfrm>
            <a:off x="8961120" y="321868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cifra y la unidad en que se expresa.</a:t>
            </a:r>
          </a:p>
        </p:txBody>
      </p:sp>
      <p:sp>
        <p:nvSpPr>
          <p:cNvPr id="32" name="Rectangle 31"/>
          <p:cNvSpPr/>
          <p:nvPr/>
        </p:nvSpPr>
        <p:spPr>
          <a:xfrm>
            <a:off x="6812280" y="370332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812280" y="370332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67728" y="372160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expresion_original</a:t>
            </a:r>
          </a:p>
        </p:txBody>
      </p:sp>
      <p:sp>
        <p:nvSpPr>
          <p:cNvPr id="35" name="TextBox 34"/>
          <p:cNvSpPr txBox="1"/>
          <p:nvPr/>
        </p:nvSpPr>
        <p:spPr>
          <a:xfrm>
            <a:off x="8961120" y="372160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TEXTO LITERAL de la norma.</a:t>
            </a:r>
          </a:p>
        </p:txBody>
      </p:sp>
      <p:sp>
        <p:nvSpPr>
          <p:cNvPr id="36" name="Rectangle 35"/>
          <p:cNvSpPr/>
          <p:nvPr/>
        </p:nvSpPr>
        <p:spPr>
          <a:xfrm>
            <a:off x="6812280" y="420624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812280" y="42062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67728" y="422452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condiciones_referencia</a:t>
            </a:r>
          </a:p>
        </p:txBody>
      </p:sp>
      <p:sp>
        <p:nvSpPr>
          <p:cNvPr id="39" name="TextBox 38"/>
          <p:cNvSpPr txBox="1"/>
          <p:nvPr/>
        </p:nvSpPr>
        <p:spPr>
          <a:xfrm>
            <a:off x="8961120" y="422452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Temperatura y presión de referencia.</a:t>
            </a:r>
          </a:p>
        </p:txBody>
      </p:sp>
      <p:sp>
        <p:nvSpPr>
          <p:cNvPr id="40" name="Rectangle 39"/>
          <p:cNvSpPr/>
          <p:nvPr/>
        </p:nvSpPr>
        <p:spPr>
          <a:xfrm>
            <a:off x="6812280" y="4709159"/>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812280" y="4709159"/>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67728" y="472744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estado_verificacion</a:t>
            </a:r>
          </a:p>
        </p:txBody>
      </p:sp>
      <p:sp>
        <p:nvSpPr>
          <p:cNvPr id="43" name="TextBox 42"/>
          <p:cNvSpPr txBox="1"/>
          <p:nvPr/>
        </p:nvSpPr>
        <p:spPr>
          <a:xfrm>
            <a:off x="8961120" y="472744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garantía frente a la invención de datos.</a:t>
            </a:r>
          </a:p>
        </p:txBody>
      </p:sp>
      <p:sp>
        <p:nvSpPr>
          <p:cNvPr id="44" name="Rectangle 43"/>
          <p:cNvSpPr/>
          <p:nvPr/>
        </p:nvSpPr>
        <p:spPr>
          <a:xfrm>
            <a:off x="6812280" y="5257800"/>
            <a:ext cx="4937760" cy="7772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95160" y="5321808"/>
            <a:ext cx="4617720" cy="685800"/>
          </a:xfrm>
          <a:prstGeom prst="rect">
            <a:avLst/>
          </a:prstGeom>
          <a:noFill/>
        </p:spPr>
        <p:txBody>
          <a:bodyPr wrap="square" anchor="ctr" lIns="38100" rIns="38100" tIns="12700" bIns="12700">
            <a:spAutoFit/>
          </a:bodyPr>
          <a:lstStyle/>
          <a:p>
            <a:pPr algn="l">
              <a:spcAft>
                <a:spcPts val="600"/>
              </a:spcAft>
            </a:pPr>
            <a:r>
              <a:rPr sz="1250" b="1">
                <a:solidFill>
                  <a:srgbClr val="013A57"/>
                </a:solidFill>
                <a:latin typeface="Calibri"/>
              </a:rPr>
              <a:t>Gracias a expresion_original, un auditor puede recomprobar la transcripción SIN abrir el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Estados de verificación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11</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garantía anti-invención. Solo hay dos estados; no existe un punto intermedio.</a:t>
            </a:r>
          </a:p>
        </p:txBody>
      </p:sp>
      <p:sp>
        <p:nvSpPr>
          <p:cNvPr id="9" name="Rounded Rectangle 8"/>
          <p:cNvSpPr/>
          <p:nvPr/>
        </p:nvSpPr>
        <p:spPr>
          <a:xfrm>
            <a:off x="548640" y="1691640"/>
            <a:ext cx="5440680" cy="214884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3E6B22"/>
                </a:solidFill>
                <a:latin typeface="Calibri"/>
              </a:rPr>
              <a:t>176</a:t>
            </a:r>
          </a:p>
          <a:p>
            <a:pPr algn="l">
              <a:spcAft>
                <a:spcPts val="300"/>
              </a:spcAft>
            </a:pPr>
            <a:r>
              <a:rPr sz="1700" b="1">
                <a:solidFill>
                  <a:srgbClr val="3E6B22"/>
                </a:solidFill>
                <a:latin typeface="Calibri"/>
              </a:rPr>
              <a:t>VERIFICADO</a:t>
            </a:r>
          </a:p>
          <a:p>
            <a:pPr algn="l">
              <a:spcAft>
                <a:spcPts val="300"/>
              </a:spcAft>
            </a:pPr>
            <a:r>
              <a:rPr sz="1300" b="0">
                <a:solidFill>
                  <a:srgbClr val="1B2A38"/>
                </a:solidFill>
                <a:latin typeface="Calibri"/>
              </a:rPr>
              <a:t>Cifra contrastada VERBATIM contra su boletín oficial, con artículo y página.</a:t>
            </a:r>
          </a:p>
        </p:txBody>
      </p:sp>
      <p:sp>
        <p:nvSpPr>
          <p:cNvPr id="12" name="Rounded Rectangle 11"/>
          <p:cNvSpPr/>
          <p:nvPr/>
        </p:nvSpPr>
        <p:spPr>
          <a:xfrm>
            <a:off x="6199632" y="1691640"/>
            <a:ext cx="5440680" cy="214884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99632" y="1691640"/>
            <a:ext cx="54406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3952"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A5610E"/>
                </a:solidFill>
                <a:latin typeface="Calibri"/>
              </a:rPr>
              <a:t>34</a:t>
            </a:r>
          </a:p>
          <a:p>
            <a:pPr algn="l">
              <a:spcAft>
                <a:spcPts val="300"/>
              </a:spcAft>
            </a:pPr>
            <a:r>
              <a:rPr sz="1700" b="1">
                <a:solidFill>
                  <a:srgbClr val="A5610E"/>
                </a:solidFill>
                <a:latin typeface="Calibri"/>
              </a:rPr>
              <a:t>NO VERIFICABLE</a:t>
            </a:r>
          </a:p>
          <a:p>
            <a:pPr algn="l">
              <a:spcAft>
                <a:spcPts val="300"/>
              </a:spcAft>
            </a:pPr>
            <a:r>
              <a:rPr sz="1300" b="0">
                <a:solidFill>
                  <a:srgbClr val="1B2A38"/>
                </a:solidFill>
                <a:latin typeface="Calibri"/>
              </a:rPr>
              <a:t>La norma de ese país NO FIJA ese parámetro. No se inventa: se declara el hueco y se explica.</a:t>
            </a:r>
          </a:p>
        </p:txBody>
      </p:sp>
      <p:sp>
        <p:nvSpPr>
          <p:cNvPr id="15" name="Rectangle 14"/>
          <p:cNvSpPr/>
          <p:nvPr/>
        </p:nvSpPr>
        <p:spPr>
          <a:xfrm>
            <a:off x="548640" y="4069080"/>
            <a:ext cx="11091672" cy="12344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4069080"/>
            <a:ext cx="82296" cy="12344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4160520"/>
            <a:ext cx="10607040" cy="1097280"/>
          </a:xfrm>
          <a:prstGeom prst="rect">
            <a:avLst/>
          </a:prstGeom>
          <a:noFill/>
        </p:spPr>
        <p:txBody>
          <a:bodyPr wrap="square" anchor="t" lIns="38100" rIns="38100" tIns="12700" bIns="12700">
            <a:spAutoFit/>
          </a:bodyPr>
          <a:lstStyle/>
          <a:p>
            <a:pPr algn="l">
              <a:spcAft>
                <a:spcPts val="400"/>
              </a:spcAft>
            </a:pPr>
            <a:r>
              <a:rPr sz="1700" b="1">
                <a:solidFill>
                  <a:srgbClr val="013A57"/>
                </a:solidFill>
                <a:latin typeface="Calibri"/>
              </a:rPr>
              <a:t>Los huecos no son errores: son honestidad.</a:t>
            </a:r>
          </a:p>
          <a:p>
            <a:pPr algn="l">
              <a:spcAft>
                <a:spcPts val="400"/>
              </a:spcAft>
            </a:pPr>
            <a:r>
              <a:rPr sz="1300" b="0">
                <a:solidFill>
                  <a:srgbClr val="1B2A38"/>
                </a:solidFill>
                <a:latin typeface="Calibri"/>
              </a:rPr>
              <a:t>Ejemplo real — DINAMARCA: los límites de O2 y CO2 de su norma corresponden al BIOGÁS DE DISTRIBUCIÓN, no al gas natural de transporte. Trasladar ese valor sería un error metodológico; por eso, para gas natural, se marcaron como no verificable en lugar de rellenar el hueco.</a:t>
            </a:r>
          </a:p>
        </p:txBody>
      </p:sp>
      <p:sp>
        <p:nvSpPr>
          <p:cNvPr id="18" name="Rectangle 17"/>
          <p:cNvSpPr/>
          <p:nvPr/>
        </p:nvSpPr>
        <p:spPr>
          <a:xfrm>
            <a:off x="548640" y="5486400"/>
            <a:ext cx="11091672" cy="82296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559552"/>
            <a:ext cx="10607040" cy="73152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En biometano e hidrógeno existe además VERIFICADO_SECUNDARIO:</a:t>
            </a:r>
          </a:p>
          <a:p>
            <a:pPr algn="l">
              <a:spcAft>
                <a:spcPts val="200"/>
              </a:spcAft>
            </a:pPr>
            <a:r>
              <a:rPr sz="1250" b="0">
                <a:solidFill>
                  <a:srgbClr val="4A5B68"/>
                </a:solidFill>
                <a:latin typeface="Calibri"/>
              </a:rPr>
              <a:t>valor tomado de una fuente pública secundaria citada, porque la norma primaria es de pago.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04</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Las herramientas</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Con qué está construida la aplicación, pieza a pieza, y qué papel cumple cada una.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stack tecnológico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13</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pieza que manda en cada capa, y por qué. En pequeño, las de apoyo.</a:t>
            </a:r>
          </a:p>
        </p:txBody>
      </p:sp>
      <p:sp>
        <p:nvSpPr>
          <p:cNvPr id="9" name="Rounded Rectangle 8"/>
          <p:cNvSpPr/>
          <p:nvPr/>
        </p:nvSpPr>
        <p:spPr>
          <a:xfrm>
            <a:off x="548640"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269748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FRONTEND</a:t>
            </a:r>
          </a:p>
        </p:txBody>
      </p:sp>
      <p:sp>
        <p:nvSpPr>
          <p:cNvPr id="12" name="Rectangle 11"/>
          <p:cNvSpPr/>
          <p:nvPr/>
        </p:nvSpPr>
        <p:spPr>
          <a:xfrm>
            <a:off x="731520" y="2331720"/>
            <a:ext cx="50292" cy="23774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68680"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JavaScript vanilla</a:t>
            </a:r>
          </a:p>
        </p:txBody>
      </p:sp>
      <p:sp>
        <p:nvSpPr>
          <p:cNvPr id="14" name="TextBox 13"/>
          <p:cNvSpPr txBox="1"/>
          <p:nvPr/>
        </p:nvSpPr>
        <p:spPr>
          <a:xfrm>
            <a:off x="868680"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La interfaz (index.html). Sin framework.</a:t>
            </a:r>
          </a:p>
        </p:txBody>
      </p:sp>
      <p:sp>
        <p:nvSpPr>
          <p:cNvPr id="15" name="Rectangle 14"/>
          <p:cNvSpPr/>
          <p:nvPr/>
        </p:nvSpPr>
        <p:spPr>
          <a:xfrm>
            <a:off x="731520" y="3383279"/>
            <a:ext cx="50292" cy="23774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8680"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DOMPurify</a:t>
            </a:r>
          </a:p>
        </p:txBody>
      </p:sp>
      <p:sp>
        <p:nvSpPr>
          <p:cNvPr id="17" name="TextBox 16"/>
          <p:cNvSpPr txBox="1"/>
          <p:nvPr/>
        </p:nvSpPr>
        <p:spPr>
          <a:xfrm>
            <a:off x="868680"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Sanea el HTML antes de pintarlo (anti-XSS).</a:t>
            </a:r>
          </a:p>
        </p:txBody>
      </p:sp>
      <p:sp>
        <p:nvSpPr>
          <p:cNvPr id="18" name="Rectangle 17"/>
          <p:cNvSpPr/>
          <p:nvPr/>
        </p:nvSpPr>
        <p:spPr>
          <a:xfrm>
            <a:off x="731520"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31520"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marked (pinta el Markdown) · localStorage (historial)</a:t>
            </a:r>
          </a:p>
        </p:txBody>
      </p:sp>
      <p:sp>
        <p:nvSpPr>
          <p:cNvPr id="20" name="Rounded Rectangle 19"/>
          <p:cNvSpPr/>
          <p:nvPr/>
        </p:nvSpPr>
        <p:spPr>
          <a:xfrm>
            <a:off x="3392424"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3392424" y="1691640"/>
            <a:ext cx="26974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92424"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BACKEND</a:t>
            </a:r>
          </a:p>
        </p:txBody>
      </p:sp>
      <p:sp>
        <p:nvSpPr>
          <p:cNvPr id="23" name="Rectangle 22"/>
          <p:cNvSpPr/>
          <p:nvPr/>
        </p:nvSpPr>
        <p:spPr>
          <a:xfrm>
            <a:off x="3575304" y="2331720"/>
            <a:ext cx="50292" cy="237744"/>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12463"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FastAPI</a:t>
            </a:r>
          </a:p>
        </p:txBody>
      </p:sp>
      <p:sp>
        <p:nvSpPr>
          <p:cNvPr id="25" name="TextBox 24"/>
          <p:cNvSpPr txBox="1"/>
          <p:nvPr/>
        </p:nvSpPr>
        <p:spPr>
          <a:xfrm>
            <a:off x="3712463"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NUESTRO servidor: define y expone los endpoints.</a:t>
            </a:r>
          </a:p>
        </p:txBody>
      </p:sp>
      <p:sp>
        <p:nvSpPr>
          <p:cNvPr id="26" name="Rectangle 25"/>
          <p:cNvSpPr/>
          <p:nvPr/>
        </p:nvSpPr>
        <p:spPr>
          <a:xfrm>
            <a:off x="3575304" y="3383279"/>
            <a:ext cx="50292" cy="237744"/>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12463"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uvicorn</a:t>
            </a:r>
          </a:p>
        </p:txBody>
      </p:sp>
      <p:sp>
        <p:nvSpPr>
          <p:cNvPr id="28" name="TextBox 27"/>
          <p:cNvSpPr txBox="1"/>
          <p:nvPr/>
        </p:nvSpPr>
        <p:spPr>
          <a:xfrm>
            <a:off x="3712463"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Lo ejecuta y atiende el puerto 8000.</a:t>
            </a:r>
          </a:p>
        </p:txBody>
      </p:sp>
      <p:sp>
        <p:nvSpPr>
          <p:cNvPr id="29" name="Rectangle 28"/>
          <p:cNvSpPr/>
          <p:nvPr/>
        </p:nvSpPr>
        <p:spPr>
          <a:xfrm>
            <a:off x="3575304"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75304"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pydantic (valida) · python-dotenv (custodia la clave)</a:t>
            </a:r>
          </a:p>
        </p:txBody>
      </p:sp>
      <p:sp>
        <p:nvSpPr>
          <p:cNvPr id="31" name="Rounded Rectangle 30"/>
          <p:cNvSpPr/>
          <p:nvPr/>
        </p:nvSpPr>
        <p:spPr>
          <a:xfrm>
            <a:off x="6236208"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36208" y="1691640"/>
            <a:ext cx="269748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36208"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DATOS Y DOCUMENTOS</a:t>
            </a:r>
          </a:p>
        </p:txBody>
      </p:sp>
      <p:sp>
        <p:nvSpPr>
          <p:cNvPr id="34" name="Rectangle 33"/>
          <p:cNvSpPr/>
          <p:nvPr/>
        </p:nvSpPr>
        <p:spPr>
          <a:xfrm>
            <a:off x="6419088" y="2331720"/>
            <a:ext cx="50292" cy="23774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56248"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PyYAML</a:t>
            </a:r>
          </a:p>
        </p:txBody>
      </p:sp>
      <p:sp>
        <p:nvSpPr>
          <p:cNvPr id="36" name="TextBox 35"/>
          <p:cNvSpPr txBox="1"/>
          <p:nvPr/>
        </p:nvSpPr>
        <p:spPr>
          <a:xfrm>
            <a:off x="6556248"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Lee la ONTOLOGÍA: la puerta a TODAS las cifras.</a:t>
            </a:r>
          </a:p>
        </p:txBody>
      </p:sp>
      <p:sp>
        <p:nvSpPr>
          <p:cNvPr id="37" name="Rectangle 36"/>
          <p:cNvSpPr/>
          <p:nvPr/>
        </p:nvSpPr>
        <p:spPr>
          <a:xfrm>
            <a:off x="6419088" y="3383279"/>
            <a:ext cx="50292" cy="23774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56248"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pdfplumber + SQLite</a:t>
            </a:r>
          </a:p>
        </p:txBody>
      </p:sp>
      <p:sp>
        <p:nvSpPr>
          <p:cNvPr id="39" name="TextBox 38"/>
          <p:cNvSpPr txBox="1"/>
          <p:nvPr/>
        </p:nvSpPr>
        <p:spPr>
          <a:xfrm>
            <a:off x="6556248"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Indexan el texto de los PDF (RAG). Ninguna cifra.</a:t>
            </a:r>
          </a:p>
        </p:txBody>
      </p:sp>
      <p:sp>
        <p:nvSpPr>
          <p:cNvPr id="40" name="Rectangle 39"/>
          <p:cNvSpPr/>
          <p:nvPr/>
        </p:nvSpPr>
        <p:spPr>
          <a:xfrm>
            <a:off x="6419088"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19088"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openpyxl · xhtml2pdf (informes Excel y PDF)</a:t>
            </a:r>
          </a:p>
        </p:txBody>
      </p:sp>
      <p:sp>
        <p:nvSpPr>
          <p:cNvPr id="42" name="Rounded Rectangle 41"/>
          <p:cNvSpPr/>
          <p:nvPr/>
        </p:nvSpPr>
        <p:spPr>
          <a:xfrm>
            <a:off x="9079992" y="1691640"/>
            <a:ext cx="2697480" cy="3429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9079992" y="1691640"/>
            <a:ext cx="26974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079992" y="173736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IA  (opcional)</a:t>
            </a:r>
          </a:p>
        </p:txBody>
      </p:sp>
      <p:sp>
        <p:nvSpPr>
          <p:cNvPr id="45" name="Rectangle 44"/>
          <p:cNvSpPr/>
          <p:nvPr/>
        </p:nvSpPr>
        <p:spPr>
          <a:xfrm>
            <a:off x="9262872" y="2331720"/>
            <a:ext cx="50292" cy="237744"/>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400032" y="2276856"/>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GPT-4o-mini</a:t>
            </a:r>
          </a:p>
        </p:txBody>
      </p:sp>
      <p:sp>
        <p:nvSpPr>
          <p:cNvPr id="47" name="TextBox 46"/>
          <p:cNvSpPr txBox="1"/>
          <p:nvPr/>
        </p:nvSpPr>
        <p:spPr>
          <a:xfrm>
            <a:off x="9400032" y="2569463"/>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Interpreta y REDACTA, a temperatura 0.</a:t>
            </a:r>
          </a:p>
        </p:txBody>
      </p:sp>
      <p:sp>
        <p:nvSpPr>
          <p:cNvPr id="48" name="Rectangle 47"/>
          <p:cNvSpPr/>
          <p:nvPr/>
        </p:nvSpPr>
        <p:spPr>
          <a:xfrm>
            <a:off x="9262872" y="3383279"/>
            <a:ext cx="50292" cy="237744"/>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400032" y="3328415"/>
            <a:ext cx="2240280" cy="274320"/>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function calling</a:t>
            </a:r>
          </a:p>
        </p:txBody>
      </p:sp>
      <p:sp>
        <p:nvSpPr>
          <p:cNvPr id="50" name="TextBox 49"/>
          <p:cNvSpPr txBox="1"/>
          <p:nvPr/>
        </p:nvSpPr>
        <p:spPr>
          <a:xfrm>
            <a:off x="9400032" y="3621024"/>
            <a:ext cx="2240280" cy="73152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PIDE la cifra en vez de inventarla.</a:t>
            </a:r>
          </a:p>
        </p:txBody>
      </p:sp>
      <p:sp>
        <p:nvSpPr>
          <p:cNvPr id="51" name="Rectangle 50"/>
          <p:cNvSpPr/>
          <p:nvPr/>
        </p:nvSpPr>
        <p:spPr>
          <a:xfrm>
            <a:off x="9262872" y="4526280"/>
            <a:ext cx="2331720"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262872" y="4590288"/>
            <a:ext cx="2377440" cy="502920"/>
          </a:xfrm>
          <a:prstGeom prst="rect">
            <a:avLst/>
          </a:prstGeom>
          <a:noFill/>
        </p:spPr>
        <p:txBody>
          <a:bodyPr wrap="square" anchor="t" lIns="38100" rIns="38100" tIns="12700" bIns="12700">
            <a:spAutoFit/>
          </a:bodyPr>
          <a:lstStyle/>
          <a:p>
            <a:pPr algn="l">
              <a:spcAft>
                <a:spcPts val="600"/>
              </a:spcAft>
            </a:pPr>
            <a:r>
              <a:rPr sz="1050" b="0">
                <a:solidFill>
                  <a:srgbClr val="4A5B68"/>
                </a:solidFill>
                <a:latin typeface="Calibri"/>
              </a:rPr>
              <a:t>+ sustituible por un modelo on-premise</a:t>
            </a:r>
          </a:p>
        </p:txBody>
      </p:sp>
      <p:sp>
        <p:nvSpPr>
          <p:cNvPr id="53" name="Rectangle 52"/>
          <p:cNvSpPr/>
          <p:nvPr/>
        </p:nvSpPr>
        <p:spPr>
          <a:xfrm>
            <a:off x="548640" y="5321808"/>
            <a:ext cx="11091672" cy="10058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548640" y="5321808"/>
            <a:ext cx="82296" cy="10058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22960" y="5394960"/>
            <a:ext cx="10698480" cy="91440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Todo es software libre salvo la API de OpenAI — el único componente de pago, y además opcional.</a:t>
            </a:r>
          </a:p>
          <a:p>
            <a:pPr algn="l">
              <a:spcAft>
                <a:spcPts val="300"/>
              </a:spcAft>
            </a:pPr>
            <a:r>
              <a:rPr sz="1150" b="0">
                <a:solidFill>
                  <a:srgbClr val="4A5B68"/>
                </a:solidFill>
                <a:latin typeface="Calibri"/>
              </a:rPr>
              <a:t>Y por honestidad: pint, PyPDF2, pandas y cryptography están declarados en requirements pero HOY NO SE USAN (el Excel que leía pandas se retiró; la fuente es la ontología).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motor determinista y la normalización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14</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«Determinista» = ante la misma consulta, siempre la misma respuesta, calculada por código, sin azar ni IA.</a:t>
            </a:r>
          </a:p>
        </p:txBody>
      </p:sp>
      <p:sp>
        <p:nvSpPr>
          <p:cNvPr id="9" name="Rounded Rectangle 8"/>
          <p:cNvSpPr/>
          <p:nvPr/>
        </p:nvSpPr>
        <p:spPr>
          <a:xfrm>
            <a:off x="548640"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RESUELVE SIN IA — 7 tipos de intención</a:t>
            </a:r>
          </a:p>
        </p:txBody>
      </p:sp>
      <p:sp>
        <p:nvSpPr>
          <p:cNvPr id="12" name="TextBox 11"/>
          <p:cNvSpPr txBox="1"/>
          <p:nvPr/>
        </p:nvSpPr>
        <p:spPr>
          <a:xfrm>
            <a:off x="731520" y="2286000"/>
            <a:ext cx="5074920" cy="1600200"/>
          </a:xfrm>
          <a:prstGeom prst="rect">
            <a:avLst/>
          </a:prstGeom>
          <a:noFill/>
        </p:spPr>
        <p:txBody>
          <a:bodyPr wrap="square" anchor="t" lIns="38100" rIns="38100" tIns="12700" bIns="12700">
            <a:spAutoFit/>
          </a:bodyPr>
          <a:lstStyle/>
          <a:p>
            <a:pPr algn="l">
              <a:spcAft>
                <a:spcPts val="400"/>
              </a:spcAft>
            </a:pPr>
            <a:r>
              <a:rPr sz="1250" b="0">
                <a:solidFill>
                  <a:srgbClr val="1B2A38"/>
                </a:solidFill>
                <a:latin typeface="Calibri"/>
              </a:rPr>
              <a:t>• El valor de un límite</a:t>
            </a:r>
          </a:p>
          <a:p>
            <a:pPr algn="l">
              <a:spcAft>
                <a:spcPts val="400"/>
              </a:spcAft>
            </a:pPr>
            <a:r>
              <a:rPr sz="1250" b="0">
                <a:solidFill>
                  <a:srgbClr val="1B2A38"/>
                </a:solidFill>
                <a:latin typeface="Calibri"/>
              </a:rPr>
              <a:t>• Si un valor medido cumple</a:t>
            </a:r>
          </a:p>
          <a:p>
            <a:pPr algn="l">
              <a:spcAft>
                <a:spcPts val="400"/>
              </a:spcAft>
            </a:pPr>
            <a:r>
              <a:rPr sz="1250" b="0">
                <a:solidFill>
                  <a:srgbClr val="1B2A38"/>
                </a:solidFill>
                <a:latin typeface="Calibri"/>
              </a:rPr>
              <a:t>• De qué norma procede</a:t>
            </a:r>
          </a:p>
          <a:p>
            <a:pPr algn="l">
              <a:spcAft>
                <a:spcPts val="400"/>
              </a:spcAft>
            </a:pPr>
            <a:r>
              <a:rPr sz="1250" b="0">
                <a:solidFill>
                  <a:srgbClr val="1B2A38"/>
                </a:solidFill>
                <a:latin typeface="Calibri"/>
              </a:rPr>
              <a:t>• Si dos gases son intercambiables</a:t>
            </a:r>
          </a:p>
          <a:p>
            <a:pPr algn="l">
              <a:spcAft>
                <a:spcPts val="400"/>
              </a:spcAft>
            </a:pPr>
            <a:r>
              <a:rPr sz="1250" b="0">
                <a:solidFill>
                  <a:srgbClr val="1B2A38"/>
                </a:solidFill>
                <a:latin typeface="Calibri"/>
              </a:rPr>
              <a:t>• Si un país es más restrictivo que España</a:t>
            </a:r>
          </a:p>
          <a:p>
            <a:pPr algn="l">
              <a:spcAft>
                <a:spcPts val="400"/>
              </a:spcAft>
            </a:pPr>
            <a:r>
              <a:rPr sz="1250" b="0">
                <a:solidFill>
                  <a:srgbClr val="1B2A38"/>
                </a:solidFill>
                <a:latin typeface="Calibri"/>
              </a:rPr>
              <a:t>• La comparación directa entre dos países</a:t>
            </a:r>
          </a:p>
          <a:p>
            <a:pPr algn="l">
              <a:spcAft>
                <a:spcPts val="400"/>
              </a:spcAft>
            </a:pPr>
            <a:r>
              <a:rPr sz="1250" b="0">
                <a:solidFill>
                  <a:srgbClr val="1B2A38"/>
                </a:solidFill>
                <a:latin typeface="Calibri"/>
              </a:rPr>
              <a:t>• La conversión de condiciones</a:t>
            </a:r>
          </a:p>
        </p:txBody>
      </p:sp>
      <p:sp>
        <p:nvSpPr>
          <p:cNvPr id="13" name="Rounded Rectangle 12"/>
          <p:cNvSpPr/>
          <p:nvPr/>
        </p:nvSpPr>
        <p:spPr>
          <a:xfrm>
            <a:off x="6199632"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199632" y="1691640"/>
            <a:ext cx="54406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4224"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EL PROBLEMA DE LA COMPARABILIDAD</a:t>
            </a:r>
          </a:p>
        </p:txBody>
      </p:sp>
      <p:sp>
        <p:nvSpPr>
          <p:cNvPr id="16" name="TextBox 15"/>
          <p:cNvSpPr txBox="1"/>
          <p:nvPr/>
        </p:nvSpPr>
        <p:spPr>
          <a:xfrm>
            <a:off x="6382512" y="2286000"/>
            <a:ext cx="5074920" cy="1600200"/>
          </a:xfrm>
          <a:prstGeom prst="rect">
            <a:avLst/>
          </a:prstGeom>
          <a:noFill/>
        </p:spPr>
        <p:txBody>
          <a:bodyPr wrap="square" anchor="t" lIns="38100" rIns="38100" tIns="12700" bIns="12700">
            <a:spAutoFit/>
          </a:bodyPr>
          <a:lstStyle/>
          <a:p>
            <a:pPr algn="l">
              <a:spcAft>
                <a:spcPts val="600"/>
              </a:spcAft>
            </a:pPr>
            <a:r>
              <a:rPr sz="1250" b="0">
                <a:solidFill>
                  <a:srgbClr val="1B2A38"/>
                </a:solidFill>
                <a:latin typeface="Calibri"/>
              </a:rPr>
              <a:t>• Unos países miden en kWh/m3, otros en MJ/m3 o kcal/m3.</a:t>
            </a:r>
          </a:p>
          <a:p>
            <a:pPr algn="l">
              <a:spcAft>
                <a:spcPts val="600"/>
              </a:spcAft>
            </a:pPr>
            <a:r>
              <a:rPr sz="1250" b="0">
                <a:solidFill>
                  <a:srgbClr val="1B2A38"/>
                </a:solidFill>
                <a:latin typeface="Calibri"/>
              </a:rPr>
              <a:t>• Unos refieren el volumen a 0 °C, otros a 15 o a 25 °C.</a:t>
            </a:r>
          </a:p>
          <a:p>
            <a:pPr algn="l">
              <a:spcAft>
                <a:spcPts val="600"/>
              </a:spcAft>
            </a:pPr>
            <a:r>
              <a:rPr sz="1250" b="0">
                <a:solidFill>
                  <a:srgbClr val="1B2A38"/>
                </a:solidFill>
                <a:latin typeface="Calibri"/>
              </a:rPr>
              <a:t>• Comparar esos valores EN BRUTO sería metodológicamente incorrecto.</a:t>
            </a:r>
          </a:p>
          <a:p>
            <a:pPr algn="l">
              <a:spcAft>
                <a:spcPts val="600"/>
              </a:spcAft>
            </a:pPr>
            <a:r>
              <a:rPr sz="1250" b="1">
                <a:solidFill>
                  <a:srgbClr val="013A57"/>
                </a:solidFill>
                <a:latin typeface="Calibri"/>
              </a:rPr>
              <a:t>• Solución: llevar TODO a la base española (0/0) con la norma ISO 13443.</a:t>
            </a:r>
          </a:p>
        </p:txBody>
      </p:sp>
      <p:sp>
        <p:nvSpPr>
          <p:cNvPr id="17" name="Rectangle 16"/>
          <p:cNvSpPr/>
          <p:nvPr/>
        </p:nvSpPr>
        <p:spPr>
          <a:xfrm>
            <a:off x="548640" y="4160520"/>
            <a:ext cx="11091672"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 y="4187952"/>
            <a:ext cx="4572000" cy="365760"/>
          </a:xfrm>
          <a:prstGeom prst="rect">
            <a:avLst/>
          </a:prstGeom>
          <a:noFill/>
        </p:spPr>
        <p:txBody>
          <a:bodyPr wrap="square" anchor="ctr" lIns="38100" rIns="38100" tIns="12700" bIns="12700">
            <a:spAutoFit/>
          </a:bodyPr>
          <a:lstStyle/>
          <a:p>
            <a:pPr algn="l">
              <a:spcAft>
                <a:spcPts val="600"/>
              </a:spcAft>
            </a:pPr>
            <a:r>
              <a:rPr sz="1300" b="1">
                <a:solidFill>
                  <a:srgbClr val="FFFFFF"/>
                </a:solidFill>
                <a:latin typeface="Calibri"/>
              </a:rPr>
              <a:t>Factores literales de la Tabla A.1 · ISO 13443</a:t>
            </a:r>
          </a:p>
        </p:txBody>
      </p:sp>
      <p:sp>
        <p:nvSpPr>
          <p:cNvPr id="19" name="TextBox 18"/>
          <p:cNvSpPr txBox="1"/>
          <p:nvPr/>
        </p:nvSpPr>
        <p:spPr>
          <a:xfrm>
            <a:off x="777240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PCS</a:t>
            </a:r>
          </a:p>
        </p:txBody>
      </p:sp>
      <p:sp>
        <p:nvSpPr>
          <p:cNvPr id="20" name="TextBox 19"/>
          <p:cNvSpPr txBox="1"/>
          <p:nvPr/>
        </p:nvSpPr>
        <p:spPr>
          <a:xfrm>
            <a:off x="969264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Wobbe</a:t>
            </a:r>
          </a:p>
        </p:txBody>
      </p:sp>
      <p:sp>
        <p:nvSpPr>
          <p:cNvPr id="21" name="Rectangle 20"/>
          <p:cNvSpPr/>
          <p:nvPr/>
        </p:nvSpPr>
        <p:spPr>
          <a:xfrm>
            <a:off x="548640" y="4572000"/>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 y="4581144"/>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25/0 → 0/0</a:t>
            </a:r>
          </a:p>
        </p:txBody>
      </p:sp>
      <p:sp>
        <p:nvSpPr>
          <p:cNvPr id="23" name="TextBox 22"/>
          <p:cNvSpPr txBox="1"/>
          <p:nvPr/>
        </p:nvSpPr>
        <p:spPr>
          <a:xfrm>
            <a:off x="2377440" y="4581144"/>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Portugal, Alemania, P. Bajos, Bélgica, Noruega, Polonia, Dinamarca, Hungría, Austria, Suiza, Grecia</a:t>
            </a:r>
          </a:p>
        </p:txBody>
      </p:sp>
      <p:sp>
        <p:nvSpPr>
          <p:cNvPr id="24" name="TextBox 23"/>
          <p:cNvSpPr txBox="1"/>
          <p:nvPr/>
        </p:nvSpPr>
        <p:spPr>
          <a:xfrm>
            <a:off x="777240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5" name="TextBox 24"/>
          <p:cNvSpPr txBox="1"/>
          <p:nvPr/>
        </p:nvSpPr>
        <p:spPr>
          <a:xfrm>
            <a:off x="969264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6" name="Rectangle 25"/>
          <p:cNvSpPr/>
          <p:nvPr/>
        </p:nvSpPr>
        <p:spPr>
          <a:xfrm>
            <a:off x="548640" y="4974336"/>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 y="4983480"/>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15/15 → 0/0</a:t>
            </a:r>
          </a:p>
        </p:txBody>
      </p:sp>
      <p:sp>
        <p:nvSpPr>
          <p:cNvPr id="28" name="TextBox 27"/>
          <p:cNvSpPr txBox="1"/>
          <p:nvPr/>
        </p:nvSpPr>
        <p:spPr>
          <a:xfrm>
            <a:off x="2377440" y="4983480"/>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Italia, UE, Chequia, Irlanda, Rumanía, Turquía, Reino Unido</a:t>
            </a:r>
          </a:p>
        </p:txBody>
      </p:sp>
      <p:sp>
        <p:nvSpPr>
          <p:cNvPr id="29" name="TextBox 28"/>
          <p:cNvSpPr txBox="1"/>
          <p:nvPr/>
        </p:nvSpPr>
        <p:spPr>
          <a:xfrm>
            <a:off x="777240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1,0570</a:t>
            </a:r>
          </a:p>
        </p:txBody>
      </p:sp>
      <p:sp>
        <p:nvSpPr>
          <p:cNvPr id="30" name="TextBox 29"/>
          <p:cNvSpPr txBox="1"/>
          <p:nvPr/>
        </p:nvSpPr>
        <p:spPr>
          <a:xfrm>
            <a:off x="969264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1,0569</a:t>
            </a:r>
          </a:p>
        </p:txBody>
      </p:sp>
      <p:sp>
        <p:nvSpPr>
          <p:cNvPr id="31" name="Rectangle 30"/>
          <p:cNvSpPr/>
          <p:nvPr/>
        </p:nvSpPr>
        <p:spPr>
          <a:xfrm>
            <a:off x="548640" y="5376672"/>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5385816"/>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25/20 → 0/0</a:t>
            </a:r>
          </a:p>
        </p:txBody>
      </p:sp>
      <p:sp>
        <p:nvSpPr>
          <p:cNvPr id="33" name="TextBox 32"/>
          <p:cNvSpPr txBox="1"/>
          <p:nvPr/>
        </p:nvSpPr>
        <p:spPr>
          <a:xfrm>
            <a:off x="2377440" y="5385816"/>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Eslovaquia — par no tabulado: se calcula con las ecuaciones del Anexo B de la norma</a:t>
            </a:r>
          </a:p>
        </p:txBody>
      </p:sp>
      <p:sp>
        <p:nvSpPr>
          <p:cNvPr id="34" name="TextBox 33"/>
          <p:cNvSpPr txBox="1"/>
          <p:nvPr/>
        </p:nvSpPr>
        <p:spPr>
          <a:xfrm>
            <a:off x="777240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5" name="TextBox 34"/>
          <p:cNvSpPr txBox="1"/>
          <p:nvPr/>
        </p:nvSpPr>
        <p:spPr>
          <a:xfrm>
            <a:off x="969264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6" name="Rectangle 35"/>
          <p:cNvSpPr/>
          <p:nvPr/>
        </p:nvSpPr>
        <p:spPr>
          <a:xfrm>
            <a:off x="548640" y="5779008"/>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31520" y="5788152"/>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0/0 → 0/0</a:t>
            </a:r>
          </a:p>
        </p:txBody>
      </p:sp>
      <p:sp>
        <p:nvSpPr>
          <p:cNvPr id="38" name="TextBox 37"/>
          <p:cNvSpPr txBox="1"/>
          <p:nvPr/>
        </p:nvSpPr>
        <p:spPr>
          <a:xfrm>
            <a:off x="2377440" y="5788152"/>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España (base) y Francia — identidad, no hay conversión</a:t>
            </a:r>
          </a:p>
        </p:txBody>
      </p:sp>
      <p:sp>
        <p:nvSpPr>
          <p:cNvPr id="39" name="TextBox 38"/>
          <p:cNvSpPr txBox="1"/>
          <p:nvPr/>
        </p:nvSpPr>
        <p:spPr>
          <a:xfrm>
            <a:off x="777240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0" name="TextBox 39"/>
          <p:cNvSpPr txBox="1"/>
          <p:nvPr/>
        </p:nvSpPr>
        <p:spPr>
          <a:xfrm>
            <a:off x="969264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1" name="TextBox 40"/>
          <p:cNvSpPr txBox="1"/>
          <p:nvPr/>
        </p:nvSpPr>
        <p:spPr>
          <a:xfrm>
            <a:off x="548640" y="6199632"/>
            <a:ext cx="11091672" cy="274320"/>
          </a:xfrm>
          <a:prstGeom prst="rect">
            <a:avLst/>
          </a:prstGeom>
          <a:noFill/>
        </p:spPr>
        <p:txBody>
          <a:bodyPr wrap="square" anchor="t" lIns="38100" rIns="38100" tIns="12700" bIns="12700">
            <a:spAutoFit/>
          </a:bodyPr>
          <a:lstStyle/>
          <a:p>
            <a:pPr algn="l">
              <a:spcAft>
                <a:spcPts val="600"/>
              </a:spcAft>
            </a:pPr>
            <a:r>
              <a:rPr sz="1200" b="1">
                <a:solidFill>
                  <a:srgbClr val="013A57"/>
                </a:solidFill>
                <a:latin typeface="Calibri"/>
              </a:rPr>
              <a:t>Estos factores NO se estiman: se toman literalmente de la norma. España es siempre la base de referencia.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IA y sus salvaguardas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15</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Cuando una consulta sí llega al modelo, opera atada en corto.</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PUEDE</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Interpretar la pregunta y detectar la intención.</a:t>
            </a:r>
          </a:p>
          <a:p>
            <a:pPr algn="l">
              <a:spcAft>
                <a:spcPts val="1000"/>
              </a:spcAft>
            </a:pPr>
            <a:r>
              <a:rPr sz="1450" b="0">
                <a:solidFill>
                  <a:srgbClr val="1B2A38"/>
                </a:solidFill>
                <a:latin typeface="Calibri"/>
              </a:rPr>
              <a:t>• Identificar entidades (parámetro, país, gas).</a:t>
            </a:r>
          </a:p>
          <a:p>
            <a:pPr algn="l">
              <a:spcAft>
                <a:spcPts val="1000"/>
              </a:spcAft>
            </a:pPr>
            <a:r>
              <a:rPr sz="1450" b="0">
                <a:solidFill>
                  <a:srgbClr val="1B2A38"/>
                </a:solidFill>
                <a:latin typeface="Calibri"/>
              </a:rPr>
              <a:t>• Reformular la consulta.</a:t>
            </a:r>
          </a:p>
          <a:p>
            <a:pPr algn="l">
              <a:spcAft>
                <a:spcPts val="1000"/>
              </a:spcAft>
            </a:pPr>
            <a:r>
              <a:rPr sz="1450" b="0">
                <a:solidFill>
                  <a:srgbClr val="1B2A38"/>
                </a:solidFill>
                <a:latin typeface="Calibri"/>
              </a:rPr>
              <a:t>• REDACTAR la respuesta final en lenguaje natural.</a:t>
            </a:r>
          </a:p>
          <a:p>
            <a:pPr algn="l" lvl="1">
              <a:spcAft>
                <a:spcPts val="1000"/>
              </a:spcAft>
            </a:pPr>
            <a:r>
              <a:rPr sz="1250" b="0">
                <a:solidFill>
                  <a:srgbClr val="4A5B68"/>
                </a:solidFill>
                <a:latin typeface="Calibri"/>
              </a:rPr>
              <a:t>Es la capa de LENGUAJE, no la fuente del dato.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NO PUEDE</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Generar límites regulatorios.</a:t>
            </a:r>
          </a:p>
          <a:p>
            <a:pPr algn="l">
              <a:spcAft>
                <a:spcPts val="1000"/>
              </a:spcAft>
            </a:pPr>
            <a:r>
              <a:rPr sz="1450" b="0">
                <a:solidFill>
                  <a:srgbClr val="1B2A38"/>
                </a:solidFill>
                <a:latin typeface="Calibri"/>
              </a:rPr>
              <a:t>• Inventar valores.</a:t>
            </a:r>
          </a:p>
          <a:p>
            <a:pPr algn="l">
              <a:spcAft>
                <a:spcPts val="1000"/>
              </a:spcAft>
            </a:pPr>
            <a:r>
              <a:rPr sz="1450" b="0">
                <a:solidFill>
                  <a:srgbClr val="1B2A38"/>
                </a:solidFill>
                <a:latin typeface="Calibri"/>
              </a:rPr>
              <a:t>• Deducir conversiones ni calcular equivalencias.</a:t>
            </a:r>
          </a:p>
          <a:p>
            <a:pPr algn="l">
              <a:spcAft>
                <a:spcPts val="1000"/>
              </a:spcAft>
            </a:pPr>
            <a:r>
              <a:rPr sz="1450" b="0">
                <a:solidFill>
                  <a:srgbClr val="1B2A38"/>
                </a:solidFill>
                <a:latin typeface="Calibri"/>
              </a:rPr>
              <a:t>• Inferir comparabilidad por su cuenta.</a:t>
            </a:r>
          </a:p>
          <a:p>
            <a:pPr algn="l" lvl="1">
              <a:spcAft>
                <a:spcPts val="1000"/>
              </a:spcAft>
            </a:pPr>
            <a:r>
              <a:rPr sz="1250" b="0">
                <a:solidFill>
                  <a:srgbClr val="4A5B68"/>
                </a:solidFill>
                <a:latin typeface="Calibri"/>
              </a:rPr>
              <a:t>Para cualquier número invoca una herramienta: consultar · evaluar_cumplimiento · convertir_unidades · convertir_condiciones_iso13443 · buscar_pdfs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Tres salvaguardas más:</a:t>
            </a:r>
          </a:p>
          <a:p>
            <a:pPr algn="l">
              <a:spcAft>
                <a:spcPts val="300"/>
              </a:spcAft>
            </a:pPr>
            <a:r>
              <a:rPr sz="1250" b="0">
                <a:solidFill>
                  <a:srgbClr val="1B2A38"/>
                </a:solidFill>
                <a:latin typeface="Calibri"/>
              </a:rPr>
              <a:t>1) El SYSTEM_PROMPT le prohíbe inventar cifras, le obliga a citar y limita su ámbito a la calidad del gas.   2) Temperatura 0 (máxima previsibilidad) y hasta 5 iteraciones de llamadas a herramientas.</a:t>
            </a:r>
          </a:p>
          <a:p>
            <a:pPr algn="l">
              <a:spcAft>
                <a:spcPts val="300"/>
              </a:spcAft>
            </a:pPr>
            <a:r>
              <a:rPr sz="1250" b="0">
                <a:solidFill>
                  <a:srgbClr val="1B2A38"/>
                </a:solidFill>
                <a:latin typeface="Calibri"/>
              </a:rPr>
              <a:t>3) Si OpenAI no está disponible —sin clave, sin red o por límite—, el sistema conmuta al motor determinista: EL CHAT NUNCA DEVUELVE ERROR.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recuperación documental (RAG)</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Para las consultas de texto abierto, la respuesta se fundamenta en los documentos oficiales.</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1 · INDEXACIÓN</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pdfplumber extrae el texto de los PDF oficiales.</a:t>
            </a:r>
          </a:p>
          <a:p>
            <a:pPr algn="l">
              <a:spcAft>
                <a:spcPts val="1000"/>
              </a:spcAft>
            </a:pPr>
            <a:r>
              <a:rPr sz="1450" b="0">
                <a:solidFill>
                  <a:srgbClr val="1B2A38"/>
                </a:solidFill>
                <a:latin typeface="Calibri"/>
              </a:rPr>
              <a:t>• Se trocea en fragmentos CON SOLAPE, con una ventana deslizante sobre el documento completo (no por página).</a:t>
            </a:r>
          </a:p>
          <a:p>
            <a:pPr algn="l" lvl="1">
              <a:spcAft>
                <a:spcPts val="1000"/>
              </a:spcAft>
            </a:pPr>
            <a:r>
              <a:rPr sz="1250" b="0">
                <a:solidFill>
                  <a:srgbClr val="4A5B68"/>
                </a:solidFill>
                <a:latin typeface="Calibri"/>
              </a:rPr>
              <a:t>Así, una respuesta partida entre dos páginas queda ENTERA dentro de un mismo fragmento, y sigue siendo recuperable.</a:t>
            </a:r>
          </a:p>
          <a:p>
            <a:pPr algn="l">
              <a:spcAft>
                <a:spcPts val="1000"/>
              </a:spcAft>
            </a:pPr>
            <a:r>
              <a:rPr sz="1450" b="0">
                <a:solidFill>
                  <a:srgbClr val="1B2A38"/>
                </a:solidFill>
                <a:latin typeface="Calibri"/>
              </a:rPr>
              <a:t>• Es incremental: solo se reprocesa lo nuevo o modificado, así que el arranque es casi inmediato.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2 · RECUPERACIÓN</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buscar_pdfs() hace una búsqueda LÉXICA (SQLite LIKE sobre el texto normalizado).</a:t>
            </a:r>
          </a:p>
          <a:p>
            <a:pPr algn="l">
              <a:spcAft>
                <a:spcPts val="1000"/>
              </a:spcAft>
            </a:pPr>
            <a:r>
              <a:rPr sz="1450" b="0">
                <a:solidFill>
                  <a:srgbClr val="1B2A38"/>
                </a:solidFill>
                <a:latin typeface="Calibri"/>
              </a:rPr>
              <a:t>• Devuelve los fragmentos relevantes con su archivo, su página y un extracto.</a:t>
            </a:r>
          </a:p>
          <a:p>
            <a:pPr algn="l" lvl="1">
              <a:spcAft>
                <a:spcPts val="1000"/>
              </a:spcAft>
            </a:pPr>
            <a:r>
              <a:rPr sz="1250" b="0">
                <a:solidFill>
                  <a:srgbClr val="4A5B68"/>
                </a:solidFill>
                <a:latin typeface="Calibri"/>
              </a:rPr>
              <a:t>Es léxica, NO vectorial: sin embeddings ni similitud semántica.</a:t>
            </a:r>
          </a:p>
          <a:p>
            <a:pPr algn="l">
              <a:spcAft>
                <a:spcPts val="1000"/>
              </a:spcAft>
            </a:pPr>
            <a:r>
              <a:rPr sz="1450" b="0">
                <a:solidFill>
                  <a:srgbClr val="1B2A38"/>
                </a:solidFill>
                <a:latin typeface="Calibri"/>
              </a:rPr>
              <a:t>• Decisión consciente: plenamente reproducible y sin depender de servicios externos.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¿Y si hiciera falta búsqueda semántica? Lo medimos antes de decidir.</a:t>
            </a:r>
          </a:p>
          <a:p>
            <a:pPr algn="l">
              <a:spcAft>
                <a:spcPts val="300"/>
              </a:spcAft>
            </a:pPr>
            <a:r>
              <a:rPr sz="1250" b="0">
                <a:solidFill>
                  <a:srgbClr val="1B2A38"/>
                </a:solidFill>
                <a:latin typeface="Calibri"/>
              </a:rPr>
              <a:t>El estudio de terminología cuantificó cuánto varían los NOMBRES de un mismo parámetro entre normas: índice de variación 27,4 en gas natural · 9,2 en biometano · 7,3 en hidrógeno (umbral 7,0).</a:t>
            </a:r>
          </a:p>
          <a:p>
            <a:pPr algn="l">
              <a:spcAft>
                <a:spcPts val="300"/>
              </a:spcAft>
            </a:pPr>
            <a:r>
              <a:rPr sz="1250" b="0">
                <a:solidFill>
                  <a:srgbClr val="1B2A38"/>
                </a:solidFill>
                <a:latin typeface="Calibri"/>
              </a:rPr>
              <a:t>Ese estudio JUSTIFICA una capa semántica multilingüe, que queda preparada y activable, pero desactivada por defecto por reproducibilidad.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ALCANCE</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Ampliación: biometano e hidrógeno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Añadidos como CAPA ADITIVA: se introduce la dimensión «tipo_gas», con gas_natural por defecto. El gas natural queda intacto.</a:t>
            </a:r>
          </a:p>
        </p:txBody>
      </p:sp>
      <p:sp>
        <p:nvSpPr>
          <p:cNvPr id="9" name="Rounded Rectangle 8"/>
          <p:cNvSpPr/>
          <p:nvPr/>
        </p:nvSpPr>
        <p:spPr>
          <a:xfrm>
            <a:off x="548640"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GAS NATURAL</a:t>
            </a:r>
          </a:p>
        </p:txBody>
      </p:sp>
      <p:sp>
        <p:nvSpPr>
          <p:cNvPr id="12" name="TextBox 11"/>
          <p:cNvSpPr txBox="1"/>
          <p:nvPr/>
        </p:nvSpPr>
        <p:spPr>
          <a:xfrm>
            <a:off x="713232"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013A57"/>
                </a:solidFill>
                <a:latin typeface="Consolas"/>
              </a:rPr>
              <a:t>parametros</a:t>
            </a:r>
          </a:p>
        </p:txBody>
      </p:sp>
      <p:sp>
        <p:nvSpPr>
          <p:cNvPr id="13" name="TextBox 12"/>
          <p:cNvSpPr txBox="1"/>
          <p:nvPr/>
        </p:nvSpPr>
        <p:spPr>
          <a:xfrm>
            <a:off x="713232"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21 jurisdicciones</a:t>
            </a:r>
          </a:p>
          <a:p>
            <a:pPr algn="l">
              <a:spcAft>
                <a:spcPts val="600"/>
              </a:spcAft>
            </a:pPr>
            <a:r>
              <a:rPr sz="1300" b="0">
                <a:solidFill>
                  <a:srgbClr val="1B2A38"/>
                </a:solidFill>
                <a:latin typeface="Calibri"/>
              </a:rPr>
              <a:t>• 10 parámetros</a:t>
            </a:r>
          </a:p>
          <a:p>
            <a:pPr algn="l" lvl="1">
              <a:spcAft>
                <a:spcPts val="600"/>
              </a:spcAft>
            </a:pPr>
            <a:r>
              <a:rPr sz="1150" b="0">
                <a:solidFill>
                  <a:srgbClr val="4A5B68"/>
                </a:solidFill>
                <a:latin typeface="Calibri"/>
              </a:rPr>
              <a:t>176 verificados · 34 no verificables</a:t>
            </a:r>
          </a:p>
        </p:txBody>
      </p:sp>
      <p:sp>
        <p:nvSpPr>
          <p:cNvPr id="14" name="Rounded Rectangle 13"/>
          <p:cNvSpPr/>
          <p:nvPr/>
        </p:nvSpPr>
        <p:spPr>
          <a:xfrm>
            <a:off x="4270248"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70248" y="1737360"/>
            <a:ext cx="3593592"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BIOMETANO</a:t>
            </a:r>
          </a:p>
        </p:txBody>
      </p:sp>
      <p:sp>
        <p:nvSpPr>
          <p:cNvPr id="17" name="TextBox 16"/>
          <p:cNvSpPr txBox="1"/>
          <p:nvPr/>
        </p:nvSpPr>
        <p:spPr>
          <a:xfrm>
            <a:off x="4434840"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6CB33E"/>
                </a:solidFill>
                <a:latin typeface="Consolas"/>
              </a:rPr>
              <a:t>parametros_biometano</a:t>
            </a:r>
          </a:p>
        </p:txBody>
      </p:sp>
      <p:sp>
        <p:nvSpPr>
          <p:cNvPr id="18" name="TextBox 17"/>
          <p:cNvSpPr txBox="1"/>
          <p:nvPr/>
        </p:nvSpPr>
        <p:spPr>
          <a:xfrm>
            <a:off x="4434840"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4 · ES · PT · FR · UE</a:t>
            </a:r>
          </a:p>
          <a:p>
            <a:pPr algn="l">
              <a:spcAft>
                <a:spcPts val="600"/>
              </a:spcAft>
            </a:pPr>
            <a:r>
              <a:rPr sz="1300" b="0">
                <a:solidFill>
                  <a:srgbClr val="1B2A38"/>
                </a:solidFill>
                <a:latin typeface="Calibri"/>
              </a:rPr>
              <a:t>• 12 parámetros</a:t>
            </a:r>
          </a:p>
          <a:p>
            <a:pPr algn="l" lvl="1">
              <a:spcAft>
                <a:spcPts val="600"/>
              </a:spcAft>
            </a:pPr>
            <a:r>
              <a:rPr sz="1150" b="0">
                <a:solidFill>
                  <a:srgbClr val="4A5B68"/>
                </a:solidFill>
                <a:latin typeface="Calibri"/>
              </a:rPr>
              <a:t>Inyección en red: CH4 mín · CO2 máx · siloxanos</a:t>
            </a:r>
          </a:p>
        </p:txBody>
      </p:sp>
      <p:sp>
        <p:nvSpPr>
          <p:cNvPr id="19" name="Rounded Rectangle 18"/>
          <p:cNvSpPr/>
          <p:nvPr/>
        </p:nvSpPr>
        <p:spPr>
          <a:xfrm>
            <a:off x="7991856"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1856" y="1737360"/>
            <a:ext cx="3593592"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HIDRÓGENO</a:t>
            </a:r>
          </a:p>
        </p:txBody>
      </p:sp>
      <p:sp>
        <p:nvSpPr>
          <p:cNvPr id="22" name="TextBox 21"/>
          <p:cNvSpPr txBox="1"/>
          <p:nvPr/>
        </p:nvSpPr>
        <p:spPr>
          <a:xfrm>
            <a:off x="8156448"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E88A1A"/>
                </a:solidFill>
                <a:latin typeface="Consolas"/>
              </a:rPr>
              <a:t>parametros_hidrogeno</a:t>
            </a:r>
          </a:p>
        </p:txBody>
      </p:sp>
      <p:sp>
        <p:nvSpPr>
          <p:cNvPr id="23" name="TextBox 22"/>
          <p:cNvSpPr txBox="1"/>
          <p:nvPr/>
        </p:nvSpPr>
        <p:spPr>
          <a:xfrm>
            <a:off x="8156448"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RED + PRODUCTO</a:t>
            </a:r>
          </a:p>
          <a:p>
            <a:pPr algn="l">
              <a:spcAft>
                <a:spcPts val="600"/>
              </a:spcAft>
            </a:pPr>
            <a:r>
              <a:rPr sz="1300" b="0">
                <a:solidFill>
                  <a:srgbClr val="1B2A38"/>
                </a:solidFill>
                <a:latin typeface="Calibri"/>
              </a:rPr>
              <a:t>• 18 parámetros</a:t>
            </a:r>
          </a:p>
          <a:p>
            <a:pPr algn="l" lvl="1">
              <a:spcAft>
                <a:spcPts val="600"/>
              </a:spcAft>
            </a:pPr>
            <a:r>
              <a:rPr sz="1150" b="0">
                <a:solidFill>
                  <a:srgbClr val="4A5B68"/>
                </a:solidFill>
                <a:latin typeface="Calibri"/>
              </a:rPr>
              <a:t>Marco aún en construcción: prospección normativa</a:t>
            </a:r>
          </a:p>
        </p:txBody>
      </p:sp>
      <p:sp>
        <p:nvSpPr>
          <p:cNvPr id="24" name="Rectangle 23"/>
          <p:cNvSpPr/>
          <p:nvPr/>
        </p:nvSpPr>
        <p:spPr>
          <a:xfrm>
            <a:off x="548640" y="4434840"/>
            <a:ext cx="11091672" cy="132588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48640" y="4434840"/>
            <a:ext cx="82296" cy="132588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2960" y="4507992"/>
            <a:ext cx="10698480" cy="1188720"/>
          </a:xfrm>
          <a:prstGeom prst="rect">
            <a:avLst/>
          </a:prstGeom>
          <a:noFill/>
        </p:spPr>
        <p:txBody>
          <a:bodyPr wrap="square" anchor="t" lIns="38100" rIns="38100" tIns="12700" bIns="12700">
            <a:spAutoFit/>
          </a:bodyPr>
          <a:lstStyle/>
          <a:p>
            <a:pPr algn="l">
              <a:spcAft>
                <a:spcPts val="300"/>
              </a:spcAft>
            </a:pPr>
            <a:r>
              <a:rPr sz="1400" b="1">
                <a:solidFill>
                  <a:srgbClr val="A5610E"/>
                </a:solidFill>
                <a:latin typeface="Calibri"/>
              </a:rPr>
              <a:t>Hidrógeno — la distinción esencial es de DOMINIO:</a:t>
            </a:r>
          </a:p>
          <a:p>
            <a:pPr algn="l">
              <a:spcAft>
                <a:spcPts val="300"/>
              </a:spcAft>
            </a:pPr>
            <a:r>
              <a:rPr sz="1250" b="0">
                <a:solidFill>
                  <a:srgbClr val="1B2A38"/>
                </a:solidFill>
                <a:latin typeface="Calibri"/>
              </a:rPr>
              <a:t>RED (el gasoducto, lo que compete a Enagás): CEN/TS 17977 y recomendación GIE — pureza H2 &gt;= 98 % mol.   Hoy solo PORTUGAL lo fija como vinculante; España y Francia regulan el blending; la UE lo recomienda.</a:t>
            </a:r>
          </a:p>
          <a:p>
            <a:pPr algn="l">
              <a:spcAft>
                <a:spcPts val="300"/>
              </a:spcAft>
            </a:pPr>
            <a:r>
              <a:rPr sz="1250" b="0">
                <a:solidFill>
                  <a:srgbClr val="1B2A38"/>
                </a:solidFill>
                <a:latin typeface="Calibri"/>
              </a:rPr>
              <a:t>PRODUCTO / VEHÍCULO: ISO 14687 Grade D — pureza 99,97 % para pilas de combustible. NO es lo que necesita un operador de red. La herramienta los mantiene SEPARADOS para no confundirlos.</a:t>
            </a:r>
          </a:p>
        </p:txBody>
      </p:sp>
      <p:sp>
        <p:nvSpPr>
          <p:cNvPr id="27" name="Rectangle 26"/>
          <p:cNvSpPr/>
          <p:nvPr/>
        </p:nvSpPr>
        <p:spPr>
          <a:xfrm>
            <a:off x="548640" y="589788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916168"/>
            <a:ext cx="1069848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Mismo motor, mismas garantías, mismas pruebas: la ampliación no degradó nada de lo anterior.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32588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822960" y="457200"/>
            <a:ext cx="10515600" cy="731520"/>
          </a:xfrm>
          <a:prstGeom prst="rect">
            <a:avLst/>
          </a:prstGeom>
          <a:noFill/>
        </p:spPr>
        <p:txBody>
          <a:bodyPr wrap="square" anchor="t" lIns="38100" rIns="38100" tIns="12700" bIns="12700">
            <a:spAutoFit/>
          </a:bodyPr>
          <a:lstStyle/>
          <a:p>
            <a:pPr algn="l">
              <a:spcAft>
                <a:spcPts val="600"/>
              </a:spcAft>
            </a:pPr>
            <a:r>
              <a:rPr sz="3200" b="1">
                <a:solidFill>
                  <a:srgbClr val="FFFFFF"/>
                </a:solidFill>
                <a:latin typeface="Calibri"/>
              </a:rPr>
              <a:t>Las garantías del sistema</a:t>
            </a:r>
          </a:p>
        </p:txBody>
      </p:sp>
      <p:sp>
        <p:nvSpPr>
          <p:cNvPr id="5" name="Rectangle 4"/>
          <p:cNvSpPr/>
          <p:nvPr/>
        </p:nvSpPr>
        <p:spPr>
          <a:xfrm>
            <a:off x="822960" y="1828800"/>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1801368"/>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Cero cifras inventadas</a:t>
            </a:r>
          </a:p>
        </p:txBody>
      </p:sp>
      <p:sp>
        <p:nvSpPr>
          <p:cNvPr id="7" name="TextBox 6"/>
          <p:cNvSpPr txBox="1"/>
          <p:nvPr/>
        </p:nvSpPr>
        <p:spPr>
          <a:xfrm>
            <a:off x="1143000" y="2130552"/>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Los valores proceden de código y datos verificados, nunca del modelo.</a:t>
            </a:r>
          </a:p>
        </p:txBody>
      </p:sp>
      <p:sp>
        <p:nvSpPr>
          <p:cNvPr id="8" name="Rectangle 7"/>
          <p:cNvSpPr/>
          <p:nvPr/>
        </p:nvSpPr>
        <p:spPr>
          <a:xfrm>
            <a:off x="822960" y="2670048"/>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43000" y="2642616"/>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Trazabilidad completa</a:t>
            </a:r>
          </a:p>
        </p:txBody>
      </p:sp>
      <p:sp>
        <p:nvSpPr>
          <p:cNvPr id="10" name="TextBox 9"/>
          <p:cNvSpPr txBox="1"/>
          <p:nvPr/>
        </p:nvSpPr>
        <p:spPr>
          <a:xfrm>
            <a:off x="1143000" y="2971800"/>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Cada valor cita su norma, su artículo, su página y su enlace.</a:t>
            </a:r>
          </a:p>
        </p:txBody>
      </p:sp>
      <p:sp>
        <p:nvSpPr>
          <p:cNvPr id="11" name="Rectangle 10"/>
          <p:cNvSpPr/>
          <p:nvPr/>
        </p:nvSpPr>
        <p:spPr>
          <a:xfrm>
            <a:off x="822960" y="3511296"/>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3483864"/>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Transparencia</a:t>
            </a:r>
          </a:p>
        </p:txBody>
      </p:sp>
      <p:sp>
        <p:nvSpPr>
          <p:cNvPr id="13" name="TextBox 12"/>
          <p:cNvSpPr txBox="1"/>
          <p:nvPr/>
        </p:nvSpPr>
        <p:spPr>
          <a:xfrm>
            <a:off x="1143000" y="3813048"/>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 que la norma no fija se declara explícitamente; no se completa.</a:t>
            </a:r>
          </a:p>
        </p:txBody>
      </p:sp>
      <p:sp>
        <p:nvSpPr>
          <p:cNvPr id="14" name="Rectangle 13"/>
          <p:cNvSpPr/>
          <p:nvPr/>
        </p:nvSpPr>
        <p:spPr>
          <a:xfrm>
            <a:off x="822960" y="4352544"/>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325112"/>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Reproducibilidad</a:t>
            </a:r>
          </a:p>
        </p:txBody>
      </p:sp>
      <p:sp>
        <p:nvSpPr>
          <p:cNvPr id="16" name="TextBox 15"/>
          <p:cNvSpPr txBox="1"/>
          <p:nvPr/>
        </p:nvSpPr>
        <p:spPr>
          <a:xfrm>
            <a:off x="1143000" y="4654296"/>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Con el mismo código y los mismos datos, el resultado es idéntico en cualquier entorno.</a:t>
            </a:r>
          </a:p>
        </p:txBody>
      </p:sp>
      <p:sp>
        <p:nvSpPr>
          <p:cNvPr id="17" name="Rectangle 16"/>
          <p:cNvSpPr/>
          <p:nvPr/>
        </p:nvSpPr>
        <p:spPr>
          <a:xfrm>
            <a:off x="822960" y="5193792"/>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5166359"/>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Auditabilidad</a:t>
            </a:r>
          </a:p>
        </p:txBody>
      </p:sp>
      <p:sp>
        <p:nvSpPr>
          <p:cNvPr id="19" name="TextBox 18"/>
          <p:cNvSpPr txBox="1"/>
          <p:nvPr/>
        </p:nvSpPr>
        <p:spPr>
          <a:xfrm>
            <a:off x="1143000" y="5495544"/>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La base de conocimiento es consultable: se puede verificar el origen de cada valor.</a:t>
            </a:r>
          </a:p>
        </p:txBody>
      </p:sp>
      <p:sp>
        <p:nvSpPr>
          <p:cNvPr id="20" name="Rectangle 19"/>
          <p:cNvSpPr/>
          <p:nvPr/>
        </p:nvSpPr>
        <p:spPr>
          <a:xfrm>
            <a:off x="822960" y="6035040"/>
            <a:ext cx="10607040" cy="5486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6172200"/>
            <a:ext cx="10607040" cy="457200"/>
          </a:xfrm>
          <a:prstGeom prst="rect">
            <a:avLst/>
          </a:prstGeom>
          <a:noFill/>
        </p:spPr>
        <p:txBody>
          <a:bodyPr wrap="square" anchor="t" lIns="38100" rIns="38100" tIns="12700" bIns="12700">
            <a:spAutoFit/>
          </a:bodyPr>
          <a:lstStyle/>
          <a:p>
            <a:pPr algn="l">
              <a:spcAft>
                <a:spcPts val="600"/>
              </a:spcAft>
            </a:pPr>
            <a:r>
              <a:rPr sz="1800" b="1">
                <a:solidFill>
                  <a:srgbClr val="FFFFFF"/>
                </a:solidFill>
                <a:latin typeface="Calibri"/>
              </a:rPr>
              <a:t>La IA redacta el texto. Los números salen siempre de la normativa oficial.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