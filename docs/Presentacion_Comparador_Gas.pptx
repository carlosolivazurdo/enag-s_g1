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Presentación del sistema ante Enagás. Objetivo: explicar de forma clara qué hace la aplicación, cómo está construida y por qué es fiable. El hilo de la exposición es por componentes y capas.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Presentar la agenda. Insistir en que el hilo es por componentes: primero la visión general, luego cada pieza, y por último la metodología y las garantías.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Cada país regula la calidad admisible del gas mediante su propia normativa. Esa información está dispersa, en varios idiomas y con unidades distintas; compararla a mano es costoso y arriesgado. Hemos desarrollado un sistema que la compara entre 21 jurisdicciones y 10 parámetros. Su principio de diseño es que no genera ninguna cifra por estimación: todas proceden de una base contrastada frente a la normativa oficial y se presentan con su cita.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Cuatro cifras que resumen el alcance: 21 jurisdicciones, 10 parámetros, 210 valores y cero cifras inventadas. De los 210, 175 están verificados verbatim contra su boletín oficial y 35 se marcan como 'no verificable' porque la norma de ese país no los fija.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sistema se estructura en cuatro componentes. La interfaz web presenta la información al usuario. El servidor de aplicación, desarrollado con FastAPI, concentra la lógica y decide cómo resolver cada consulta. La base de conocimiento (la ontología) almacena los datos verificados. Y el servicio de IA es un proveedor externo que se emplea de forma acotada, solo para redactar respuestas de texto, sin capacidad de generar cifras.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sistema ofrece cuatro funcionalidades. La consulta libre (chat) responde en lenguaje natural e incluye el análisis de interconexión en cadena: para una ruta de varios países calcula qué gas puede atravesarla entera e identifica el país y el parámetro que más restringen (el cuello de botella). La comparativa permite comparar un parámetro entre países y ver la matriz completa, con exportación a Excel o PDF. Analizar gas valida la composición de un gas concreto país a país. Todo se sirve por HTTPS y mantiene la garantía de cero cifras inventadas.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 habitual asumir que hay una gran base de datos única; no es el caso. Las cifras residen en la capa 2, la ontología, y cada una referencia su documento oficial de la capa 1. La capa 3 no almacena ninguna cifra: es un índice de búsqueda sobre el texto de los documentos, para las consultas abiertas.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ontología es el elemento central. Para cada jurisdicción y parámetro se registra no solo el valor, sino todo su contexto: unidad, condiciones de referencia, el texto literal de la norma, la cita completa (norma, artículo, página y enlace), una nota aclaratoria y el estado de verificación. Nota técnica: se usa un fichero estructurado (YAML) en lugar de una base de datos relacional porque, a esta escala, es más auditable y trazable, y se versiona junto con el código.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estado de verificación es la garantía anti-invención. Verificado: 175 valores contrastados verbatim. No verificable: 35 valores que la norma del país no fija; no se completan con una estimación, se marcan y se explica el motivo. No hay un tercer estado intermedio. Ejemplo: en Dinamarca, los límites de O₂ y CO₂ de la norma son de biogás, no de gas natural, así que para gas natural se dejaron como no verificable.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Conviene distinguir dos componentes que a veces se confunden por su nombre. FastAPI es el framework con el que hemos desarrollado nuestro servidor; es infraestructura propia y gratuita. La API de OpenAI es un servicio de terceros que consumimos puntualmente para tareas de lenguaje. El servidor es imprescindible: atiende la web, accede a los datos, ejecuta los cálculos exactos, decide cuándo usar la IA (en la mayoría de casos no la usa) y custodia las credenciales, que nunca se exponen en el navegador.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Toda consulta pasa primero por el motor determinista. Determinista significa que, ante la misma consulta, produce siempre la misma respuesta, calculada por código, sin aleatoriedad ni IA. Distingue dos tipos: las cuantitativas (límites, cumplimiento, comparaciones, conversiones), que resuelve el código leyendo la ontología, sin IA; y las de texto abierto, que deriva al servicio de IA. La mayoría se resuelven sin 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 aspecto clave para la credibilidad es la comparabilidad. Cada país expresa sus límites en unidades y condiciones distintas; compararlos en bruto sería incorrecto. Para una comparación rigurosa, todos los valores se llevan a la base española aplicando los factores de la norma internacional ISO 13443, que se toman literalmente y están verificados. Así, al comparar dos jurisdicciones, ambas cifras están en la misma base.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Cuando una consulta llega al servicio de IA, este opera atado en corto: tiene prohibido generar cifras (si necesita un número, lo pide a las herramientas internas, que lo sacan de la ontología), debe citar los documentos y se limita a la calidad del gas. Además, si la IA no está disponible, el sistema conmuta automáticamente al modo determinista, de modo que el servicio nunca se interrumpe.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sistema incorpora recuperación documental (RAG). Su fin es que, en consultas de texto abierto, la respuesta se apoye en los documentos oficiales. Funciona en dos fases: indexación (procesar los PDF y almacenar su texto segmentado por página) y recuperación (localizar los fragmentos pertinentes y redactar citándolos). La búsqueda es léxica, no semántica: es reproducible, no depende de una caja negra externa.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fiabilidad es consecuencia del rigor del proceso de carga: identificar la norma vigente, obtener el documento, transcribir cada cifra literalmente, verificarla una a una, marcar como no verificable lo que la norma no fija, y normalizar con la ISO 13443. Además hay controles de calidad automatizados.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Cinco garantías que se llevan: cero cifras inventadas por diseño, trazabilidad completa (cada valor con su cita), transparencia (lo que no está en la norma se dice), reproducibilidad (mismo resultado en cualquier entorno) y auditabilidad (se puede verificar el origen de cada valor).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conversación es persistente: cada pregunta y respuesta se guarda en el navegador y se restaura al recargar o tras reiniciar el servidor, de modo que el usuario no pierde su historial. «Nueva consulta» empieza una sesión limpia, y el asistente conserva el contexto para las preguntas de seguimiento.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Cierre. Mensaje que se llevan: el sistema compara la calidad regulatoria del gas entre 21 jurisdicciones con trazabilidad total y sin cifras inventadas. Las cifras salen de normativa oficial verificada; la IA solo redacta texto.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60520"/>
            <a:ext cx="12191695" cy="63500"/>
          </a:xfrm>
          <a:prstGeom prst="rect">
            <a:avLst/>
          </a:prstGeom>
          <a:solidFill>
            <a:srgbClr val="009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828800"/>
            <a:ext cx="146304" cy="2011680"/>
          </a:xfrm>
          <a:prstGeom prst="rect">
            <a:avLst/>
          </a:prstGeom>
          <a:solidFill>
            <a:srgbClr val="6CB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1828800"/>
            <a:ext cx="10058400" cy="21031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Comparador Regulatorio de</a:t>
            </a:r>
          </a:p>
          <a:p>
            <a:pPr algn="l"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Calidad de Gas Natural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" y="4343400"/>
            <a:ext cx="10058400" cy="10972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0099D6"/>
                </a:solidFill>
                <a:latin typeface="Calibri"/>
              </a:rPr>
              <a:t>Arquitectura y funcionamiento del sistema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C9D6E0"/>
                </a:solidFill>
                <a:latin typeface="Calibri"/>
              </a:rPr>
              <a:t>Comparativa regulatoria entre 21 jurisdicciones y 10 parámetros de calidad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5943600"/>
            <a:ext cx="1005840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FB3C4"/>
                </a:solidFill>
                <a:latin typeface="Calibri"/>
              </a:rPr>
              <a:t>Documento de presentación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0800"/>
          </a:xfrm>
          <a:prstGeom prst="rect">
            <a:avLst/>
          </a:prstGeom>
          <a:solidFill>
            <a:srgbClr val="009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Índice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82296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4A5B68"/>
                </a:solidFill>
                <a:latin typeface="Calibri"/>
              </a:rPr>
              <a:t>Comparador Regulatorio de Calidad de Gas Natural — Enagás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4A5B68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106424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4A5B68"/>
                </a:solidFill>
                <a:latin typeface="Calibri"/>
              </a:rPr>
              <a:t>Recorrido de la presentación: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10881360" cy="47548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1B2A38"/>
                </a:solidFill>
                <a:latin typeface="Calibri"/>
              </a:rPr>
              <a:t>• Contexto y objetivo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B2A38"/>
                </a:solidFill>
                <a:latin typeface="Calibri"/>
              </a:rPr>
              <a:t>• Arquitectura general del sistema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B2A38"/>
                </a:solidFill>
                <a:latin typeface="Calibri"/>
              </a:rPr>
              <a:t>• Funcionalidades: consulta libre, comparativa, analizar gas e interconexión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B2A38"/>
                </a:solidFill>
                <a:latin typeface="Calibri"/>
              </a:rPr>
              <a:t>• Las tres capas de datos y la base de conocimiento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B2A38"/>
                </a:solidFill>
                <a:latin typeface="Calibri"/>
              </a:rPr>
              <a:t>• El servidor de aplicación (FastAPI) frente a la API de OpenAI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B2A38"/>
                </a:solidFill>
                <a:latin typeface="Calibri"/>
              </a:rPr>
              <a:t>• El motor determinista y la normalización (ISO 13443)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B2A38"/>
                </a:solidFill>
                <a:latin typeface="Calibri"/>
              </a:rPr>
              <a:t>• La capa de inteligencia artificial y la recuperación documental (RAG)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B2A38"/>
                </a:solidFill>
                <a:latin typeface="Calibri"/>
              </a:rPr>
              <a:t>• Metodología de construcción, verificación y garantías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0800"/>
          </a:xfrm>
          <a:prstGeom prst="rect">
            <a:avLst/>
          </a:prstGeom>
          <a:solidFill>
            <a:srgbClr val="009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Contexto y objetivo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82296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4A5B68"/>
                </a:solidFill>
                <a:latin typeface="Calibri"/>
              </a:rPr>
              <a:t>Comparador Regulatorio de Calidad de Gas Natural — Enagás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4A5B68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106424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4A5B68"/>
                </a:solidFill>
                <a:latin typeface="Calibri"/>
              </a:rPr>
              <a:t>El problema y la propuesta de valor.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10881360" cy="47548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1B2A38"/>
                </a:solidFill>
                <a:latin typeface="Calibri"/>
              </a:rPr>
              <a:t>• Cada país regula la calidad admisible del gas natural con su propia normativa (poder calorífico, Wobbe, azufre, CO₂, puntos de rocío…).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B2A38"/>
                </a:solidFill>
                <a:latin typeface="Calibri"/>
              </a:rPr>
              <a:t>• Están dispersas en boletines oficiales distintos, en varios idiomas y con unidades y condiciones de referencia diferentes.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B2A38"/>
                </a:solidFill>
                <a:latin typeface="Calibri"/>
              </a:rPr>
              <a:t>• Comparar dos marcos a mano es laborioso y propenso a error.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B2A38"/>
                </a:solidFill>
                <a:latin typeface="Calibri"/>
              </a:rPr>
              <a:t>• Solución: un asistente que compara esa calidad entre 21 jurisdicciones y 10 parámetros, en lenguaje natural.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B2A38"/>
                </a:solidFill>
                <a:latin typeface="Calibri"/>
              </a:rPr>
              <a:t>• Principio de diseño: AUSENCIA DE CIFRAS NO VERIFICADAS. Ningún valor se estima; todos proceden de normativa oficial, con su cita.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0800"/>
          </a:xfrm>
          <a:prstGeom prst="rect">
            <a:avLst/>
          </a:prstGeom>
          <a:solidFill>
            <a:srgbClr val="009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El sistema en cifras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82296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4A5B68"/>
                </a:solidFill>
                <a:latin typeface="Calibri"/>
              </a:rPr>
              <a:t>Comparador Regulatorio de Calidad de Gas Natural — Enagás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4A5B68"/>
                </a:solidFill>
                <a:latin typeface="Calibri"/>
              </a:rPr>
              <a:t>3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103120"/>
            <a:ext cx="2697480" cy="2377440"/>
          </a:xfrm>
          <a:prstGeom prst="rect">
            <a:avLst/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103120"/>
            <a:ext cx="2697480" cy="76200"/>
          </a:xfrm>
          <a:prstGeom prst="rect">
            <a:avLst/>
          </a:prstGeom>
          <a:solidFill>
            <a:srgbClr val="009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514600"/>
            <a:ext cx="2697480" cy="11887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5400" b="1">
                <a:solidFill>
                  <a:srgbClr val="013A57"/>
                </a:solidFill>
                <a:latin typeface="Calibri"/>
              </a:rPr>
              <a:t>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657600"/>
            <a:ext cx="269748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4A5B68"/>
                </a:solidFill>
                <a:latin typeface="Calibri"/>
              </a:rPr>
              <a:t>jurisdicciones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64992" y="2103120"/>
            <a:ext cx="2697480" cy="2377440"/>
          </a:xfrm>
          <a:prstGeom prst="rect">
            <a:avLst/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64992" y="2103120"/>
            <a:ext cx="2697480" cy="76200"/>
          </a:xfrm>
          <a:prstGeom prst="rect">
            <a:avLst/>
          </a:prstGeom>
          <a:solidFill>
            <a:srgbClr val="009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64992" y="2514600"/>
            <a:ext cx="2697480" cy="11887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5400" b="1">
                <a:solidFill>
                  <a:srgbClr val="013A57"/>
                </a:solidFill>
                <a:latin typeface="Calibri"/>
              </a:rPr>
              <a:t>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64992" y="3657600"/>
            <a:ext cx="269748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4A5B68"/>
                </a:solidFill>
                <a:latin typeface="Calibri"/>
              </a:rPr>
              <a:t>parámetros de calidad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81344" y="2103120"/>
            <a:ext cx="2697480" cy="2377440"/>
          </a:xfrm>
          <a:prstGeom prst="rect">
            <a:avLst/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81344" y="2103120"/>
            <a:ext cx="2697480" cy="76200"/>
          </a:xfrm>
          <a:prstGeom prst="rect">
            <a:avLst/>
          </a:prstGeom>
          <a:solidFill>
            <a:srgbClr val="009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1344" y="2514600"/>
            <a:ext cx="2697480" cy="11887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5400" b="1">
                <a:solidFill>
                  <a:srgbClr val="013A57"/>
                </a:solidFill>
                <a:latin typeface="Calibri"/>
              </a:rPr>
              <a:t>210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1344" y="3657600"/>
            <a:ext cx="269748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4A5B68"/>
                </a:solidFill>
                <a:latin typeface="Calibri"/>
              </a:rPr>
              <a:t>valores verificables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97696" y="2103120"/>
            <a:ext cx="2697480" cy="2377440"/>
          </a:xfrm>
          <a:prstGeom prst="rect">
            <a:avLst/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97696" y="2103120"/>
            <a:ext cx="2697480" cy="76200"/>
          </a:xfrm>
          <a:prstGeom prst="rect">
            <a:avLst/>
          </a:prstGeom>
          <a:solidFill>
            <a:srgbClr val="009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97696" y="2514600"/>
            <a:ext cx="2697480" cy="11887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5400" b="1">
                <a:solidFill>
                  <a:srgbClr val="013A57"/>
                </a:solidFill>
                <a:latin typeface="Calibri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97696" y="3657600"/>
            <a:ext cx="269748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4A5B68"/>
                </a:solidFill>
                <a:latin typeface="Calibri"/>
              </a:rPr>
              <a:t>cifras inventadas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029200"/>
            <a:ext cx="11064240" cy="7315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1B2A38"/>
                </a:solidFill>
                <a:latin typeface="Calibri"/>
              </a:rPr>
              <a:t>Cobertura: 175 valores VERIFICADOS y 35 NO VERIFICABLES (la norma no los fija) — nunca inventados.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0800"/>
          </a:xfrm>
          <a:prstGeom prst="rect">
            <a:avLst/>
          </a:prstGeom>
          <a:solidFill>
            <a:srgbClr val="009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Arquitectura general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82296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4A5B68"/>
                </a:solidFill>
                <a:latin typeface="Calibri"/>
              </a:rPr>
              <a:t>Comparador Regulatorio de Calidad de Gas Natural — Enagás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4A5B68"/>
                </a:solidFill>
                <a:latin typeface="Calibri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34440"/>
            <a:ext cx="1097280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4A5B68"/>
                </a:solidFill>
                <a:latin typeface="Calibri"/>
              </a:rPr>
              <a:t>Cuatro componentes con responsabilidades bien delimitadas.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480560" y="1920240"/>
            <a:ext cx="3200400" cy="777240"/>
          </a:xfrm>
          <a:prstGeom prst="rect">
            <a:avLst/>
          </a:prstGeom>
          <a:solidFill>
            <a:srgbClr val="009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2029968"/>
            <a:ext cx="3200400" cy="594359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INTERFAZ WEB</a:t>
            </a:r>
          </a:p>
          <a:p>
            <a:pPr algn="ctr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El usuario formula su consulta</a:t>
            </a:r>
          </a:p>
        </p:txBody>
      </p:sp>
      <p:sp>
        <p:nvSpPr>
          <p:cNvPr id="10" name="Down Arrow 9"/>
          <p:cNvSpPr/>
          <p:nvPr/>
        </p:nvSpPr>
        <p:spPr>
          <a:xfrm>
            <a:off x="5897880" y="2761488"/>
            <a:ext cx="365760" cy="457200"/>
          </a:xfrm>
          <a:prstGeom prst="downArrow">
            <a:avLst/>
          </a:prstGeom>
          <a:solidFill>
            <a:srgbClr val="009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23360" y="3291840"/>
            <a:ext cx="4114800" cy="868680"/>
          </a:xfrm>
          <a:prstGeom prst="rect">
            <a:avLst/>
          </a:prstGeom>
          <a:solidFill>
            <a:srgbClr val="0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23360" y="3401568"/>
            <a:ext cx="4114800" cy="6858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SERVIDOR DE APLICACIÓN</a:t>
            </a:r>
          </a:p>
          <a:p>
            <a:pPr algn="ctr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FastAPI · recibe, aplica la lógica y orquesta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3383280" y="4251960"/>
            <a:ext cx="320040" cy="457200"/>
          </a:xfrm>
          <a:prstGeom prst="downArrow">
            <a:avLst/>
          </a:prstGeom>
          <a:solidFill>
            <a:srgbClr val="009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own Arrow 13"/>
          <p:cNvSpPr/>
          <p:nvPr/>
        </p:nvSpPr>
        <p:spPr>
          <a:xfrm>
            <a:off x="8458200" y="4251960"/>
            <a:ext cx="320040" cy="457200"/>
          </a:xfrm>
          <a:prstGeom prst="downArrow">
            <a:avLst/>
          </a:prstGeom>
          <a:solidFill>
            <a:srgbClr val="009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34440" y="4800600"/>
            <a:ext cx="3931920" cy="1051560"/>
          </a:xfrm>
          <a:prstGeom prst="rect">
            <a:avLst/>
          </a:prstGeom>
          <a:solidFill>
            <a:srgbClr val="6CB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34440" y="4910328"/>
            <a:ext cx="3931920" cy="8686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BASE DE CONOCIMIENTO</a:t>
            </a:r>
          </a:p>
          <a:p>
            <a:pPr algn="ctr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Ontología: 210 cifras verificadas + sus fuentes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995160" y="4800600"/>
            <a:ext cx="3931920" cy="1051560"/>
          </a:xfrm>
          <a:prstGeom prst="rect">
            <a:avLst/>
          </a:prstGeom>
          <a:solidFill>
            <a:srgbClr val="4A5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95160" y="4910328"/>
            <a:ext cx="3931920" cy="8686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SERVICIO DE IA (externo)</a:t>
            </a:r>
          </a:p>
          <a:p>
            <a:pPr algn="ctr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OpenAI: solo texto abierto · no genera cifras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0800"/>
          </a:xfrm>
          <a:prstGeom prst="rect">
            <a:avLst/>
          </a:prstGeom>
          <a:solidFill>
            <a:srgbClr val="009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Funcionalidades: qué puede hacer el sistema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82296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4A5B68"/>
                </a:solidFill>
                <a:latin typeface="Calibri"/>
              </a:rPr>
              <a:t>Comparador Regulatorio de Calidad de Gas Natural — Enagás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4A5B68"/>
                </a:solidFill>
                <a:latin typeface="Calibr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106424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4A5B68"/>
                </a:solidFill>
                <a:latin typeface="Calibri"/>
              </a:rPr>
              <a:t>Cuatro formas de usarlo, todas con la misma garantía de cero cifras inventadas: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10881360" cy="47548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1B2A38"/>
                </a:solidFill>
                <a:latin typeface="Calibri"/>
              </a:rPr>
              <a:t>• CONSULTA LIBRE (chat): preguntas en lenguaje natural sobre límites, cumplimiento, fuentes y comparaciones. Incluye ANÁLISIS DE INTERCONEXIÓN EN CADENA: para una ruta (p. ej. España-Francia-Alemania) identifica el cuello de botella regulatorio y avisa de incompatibilidades.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B2A38"/>
                </a:solidFill>
                <a:latin typeface="Calibri"/>
              </a:rPr>
              <a:t>• COMPARATIVA: comparación puntual de un parámetro entre países y MATRIZ (heatmap) de países × parámetros, con EXPORTACIÓN a Excel/PDF de las jurisdicciones elegidas.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B2A38"/>
                </a:solidFill>
                <a:latin typeface="Calibri"/>
              </a:rPr>
              <a:t>• ANALIZAR GAS: se introduce la composición de un gas concreto y el sistema responde, país a país, si CUMPLE / está en ALERTA / NO CUMPLE, con la cita de cada límite.</a:t>
            </a:r>
          </a:p>
          <a:p>
            <a:pPr algn="l" lvl="1">
              <a:spcAft>
                <a:spcPts val="1000"/>
              </a:spcAft>
            </a:pPr>
            <a:r>
              <a:rPr sz="1300" b="0">
                <a:solidFill>
                  <a:srgbClr val="4A5B68"/>
                </a:solidFill>
                <a:latin typeface="Calibri"/>
              </a:rPr>
              <a:t>• Acceso por HTTPS (conexión cifrada). La IA solo interviene en el texto abierto; el resto es determinista.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0800"/>
          </a:xfrm>
          <a:prstGeom prst="rect">
            <a:avLst/>
          </a:prstGeom>
          <a:solidFill>
            <a:srgbClr val="009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Las tres capas de datos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82296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4A5B68"/>
                </a:solidFill>
                <a:latin typeface="Calibri"/>
              </a:rPr>
              <a:t>Comparador Regulatorio de Calidad de Gas Natural — Enagás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4A5B68"/>
                </a:solidFill>
                <a:latin typeface="Calibri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1064240" cy="7315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4A5B68"/>
                </a:solidFill>
                <a:latin typeface="Calibri"/>
              </a:rPr>
              <a:t>No hay una única base de datos gigante: la información se organiza en tres capas.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1064238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35555"/>
                <a:gridCol w="4840604"/>
                <a:gridCol w="3688079"/>
              </a:tblGrid>
              <a:tr h="1143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Capa</a:t>
                      </a:r>
                    </a:p>
                  </a:txBody>
                  <a:tcPr anchor="ctr">
                    <a:solidFill>
                      <a:srgbClr val="013A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Contenido</a:t>
                      </a:r>
                    </a:p>
                  </a:txBody>
                  <a:tcPr anchor="ctr">
                    <a:solidFill>
                      <a:srgbClr val="013A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Función</a:t>
                      </a:r>
                    </a:p>
                  </a:txBody>
                  <a:tcPr anchor="ctr">
                    <a:solidFill>
                      <a:srgbClr val="013A57"/>
                    </a:solidFill>
                  </a:tcPr>
                </a:tc>
              </a:tr>
              <a:tr h="1143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2A38"/>
                          </a:solidFill>
                          <a:latin typeface="Calibri"/>
                        </a:rPr>
                        <a:t>1. Documentos oficiales</a:t>
                      </a:r>
                    </a:p>
                  </a:txBody>
                  <a:tcPr anchor="ctr" marT="38100" marB="38100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A38"/>
                          </a:solidFill>
                          <a:latin typeface="Calibri"/>
                        </a:rPr>
                        <a:t>PDF de las normas (BOE, ERSE, DVGW, Fluxys, National Grid…)</a:t>
                      </a:r>
                    </a:p>
                  </a:txBody>
                  <a:tcPr anchor="ctr" marT="38100" marB="38100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A38"/>
                          </a:solidFill>
                          <a:latin typeface="Calibri"/>
                        </a:rPr>
                        <a:t>Fuente primaria y última de verdad</a:t>
                      </a:r>
                    </a:p>
                  </a:txBody>
                  <a:tcPr anchor="ctr" marT="38100" marB="38100">
                    <a:solidFill>
                      <a:srgbClr val="EEF2F6"/>
                    </a:solidFill>
                  </a:tcPr>
                </a:tc>
              </a:tr>
              <a:tr h="1143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2A38"/>
                          </a:solidFill>
                          <a:latin typeface="Calibri"/>
                        </a:rPr>
                        <a:t>2. Ontología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A38"/>
                          </a:solidFill>
                          <a:latin typeface="Calibri"/>
                        </a:rPr>
                        <a:t>Fichero estructurado con las 210 cifras extraídas de esos PDF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A38"/>
                          </a:solidFill>
                          <a:latin typeface="Calibri"/>
                        </a:rPr>
                        <a:t>Repositorio del que salen las respuestas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  <a:tr h="1143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2A38"/>
                          </a:solidFill>
                          <a:latin typeface="Calibri"/>
                        </a:rPr>
                        <a:t>3. Índice documental (RAG)</a:t>
                      </a:r>
                    </a:p>
                  </a:txBody>
                  <a:tcPr anchor="ctr" marT="38100" marB="38100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A38"/>
                          </a:solidFill>
                          <a:latin typeface="Calibri"/>
                        </a:rPr>
                        <a:t>Índice del texto de los PDF, segmentado por página</a:t>
                      </a:r>
                    </a:p>
                  </a:txBody>
                  <a:tcPr anchor="ctr" marT="38100" marB="38100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A38"/>
                          </a:solidFill>
                          <a:latin typeface="Calibri"/>
                        </a:rPr>
                        <a:t>Buscador interno para consultas abiertas</a:t>
                      </a:r>
                    </a:p>
                  </a:txBody>
                  <a:tcPr anchor="ctr" marT="38100" marB="38100">
                    <a:solidFill>
                      <a:srgbClr val="EEF2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0800"/>
          </a:xfrm>
          <a:prstGeom prst="rect">
            <a:avLst/>
          </a:prstGeom>
          <a:solidFill>
            <a:srgbClr val="009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La base de conocimiento (ontología)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82296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4A5B68"/>
                </a:solidFill>
                <a:latin typeface="Calibri"/>
              </a:rPr>
              <a:t>Comparador Regulatorio de Calidad de Gas Natural — Enagás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4A5B68"/>
                </a:solidFill>
                <a:latin typeface="Calibri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106424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4A5B68"/>
                </a:solidFill>
                <a:latin typeface="Calibri"/>
              </a:rPr>
              <a:t>El elemento central. De cada valor se registra su valor y todo su contexto normativo: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10881360" cy="47548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1B2A38"/>
                </a:solidFill>
                <a:latin typeface="Calibri"/>
              </a:rPr>
              <a:t>• El valor numérico (o su rango) y la unidad.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B2A38"/>
                </a:solidFill>
                <a:latin typeface="Calibri"/>
              </a:rPr>
              <a:t>• Las condiciones de referencia (a qué temperatura se mide).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B2A38"/>
                </a:solidFill>
                <a:latin typeface="Calibri"/>
              </a:rPr>
              <a:t>• El texto literal de la norma, tal como está redactado.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B2A38"/>
                </a:solidFill>
                <a:latin typeface="Calibri"/>
              </a:rPr>
              <a:t>• La cita completa: norma, artículo, página y enlace.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B2A38"/>
                </a:solidFill>
                <a:latin typeface="Calibri"/>
              </a:rPr>
              <a:t>• Una nota aclaratoria con los matices.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B2A38"/>
                </a:solidFill>
                <a:latin typeface="Calibri"/>
              </a:rPr>
              <a:t>• El estado de verificación (garantía frente a la invención de datos).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0800"/>
          </a:xfrm>
          <a:prstGeom prst="rect">
            <a:avLst/>
          </a:prstGeom>
          <a:solidFill>
            <a:srgbClr val="009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Estados de verificación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82296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4A5B68"/>
                </a:solidFill>
                <a:latin typeface="Calibri"/>
              </a:rPr>
              <a:t>Comparador Regulatorio de Calidad de Gas Natural — Enagás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4A5B68"/>
                </a:solidFill>
                <a:latin typeface="Calibri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34440"/>
            <a:ext cx="1097280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4A5B68"/>
                </a:solidFill>
                <a:latin typeface="Calibri"/>
              </a:rPr>
              <a:t>La garantía frente a la invención de datos: cada cifra está en uno de dos estados.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011680"/>
            <a:ext cx="5303520" cy="2468880"/>
          </a:xfrm>
          <a:prstGeom prst="rect">
            <a:avLst/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011680"/>
            <a:ext cx="5303520" cy="76200"/>
          </a:xfrm>
          <a:prstGeom prst="rect">
            <a:avLst/>
          </a:prstGeom>
          <a:solidFill>
            <a:srgbClr val="6CB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240280"/>
            <a:ext cx="4754880" cy="21945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>
                <a:solidFill>
                  <a:srgbClr val="013A57"/>
                </a:solidFill>
                <a:latin typeface="Calibri"/>
              </a:rPr>
              <a:t>VERIFICADO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6CB33E"/>
                </a:solidFill>
                <a:latin typeface="Calibri"/>
              </a:rPr>
              <a:t>175 valores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B2A38"/>
                </a:solidFill>
                <a:latin typeface="Calibri"/>
              </a:rPr>
              <a:t>Cifra contrastada literalmente contra su boletín oficial.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2011680"/>
            <a:ext cx="5303520" cy="2468880"/>
          </a:xfrm>
          <a:prstGeom prst="rect">
            <a:avLst/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2011680"/>
            <a:ext cx="5303520" cy="76200"/>
          </a:xfrm>
          <a:prstGeom prst="rect">
            <a:avLst/>
          </a:prstGeom>
          <a:solidFill>
            <a:srgbClr val="009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2240280"/>
            <a:ext cx="4754880" cy="21945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>
                <a:solidFill>
                  <a:srgbClr val="013A57"/>
                </a:solidFill>
                <a:latin typeface="Calibri"/>
              </a:rPr>
              <a:t>NO VERIFICABLE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0099D6"/>
                </a:solidFill>
                <a:latin typeface="Calibri"/>
              </a:rPr>
              <a:t>35 valores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B2A38"/>
                </a:solidFill>
                <a:latin typeface="Calibri"/>
              </a:rPr>
              <a:t>La norma de esa jurisdicción no fija ese parámetro. No se estima: se marca y se explica.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892040"/>
            <a:ext cx="1088136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1B2A38"/>
                </a:solidFill>
                <a:latin typeface="Calibri"/>
              </a:rPr>
              <a:t>No existe un estado intermedio: un valor consta en la norma, o se declara explícitamente que la norma no lo establece.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0800"/>
          </a:xfrm>
          <a:prstGeom prst="rect">
            <a:avLst/>
          </a:prstGeom>
          <a:solidFill>
            <a:srgbClr val="009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FastAPI y la API de OpenAI: son cosas distintas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82296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4A5B68"/>
                </a:solidFill>
                <a:latin typeface="Calibri"/>
              </a:rPr>
              <a:t>Comparador Regulatorio de Calidad de Gas Natural — Enagás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4A5B68"/>
                </a:solidFill>
                <a:latin typeface="Calibri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1064240" cy="7315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4A5B68"/>
                </a:solidFill>
                <a:latin typeface="Calibri"/>
              </a:rPr>
              <a:t>Ambos incluyen el término «API», pero son componentes de niveles distintos.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1064239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46985"/>
                <a:gridCol w="4658627"/>
                <a:gridCol w="4658627"/>
              </a:tblGrid>
              <a:tr h="9144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>
                    <a:solidFill>
                      <a:srgbClr val="013A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FastAPI</a:t>
                      </a:r>
                    </a:p>
                  </a:txBody>
                  <a:tcPr anchor="ctr">
                    <a:solidFill>
                      <a:srgbClr val="013A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API de OpenAI</a:t>
                      </a:r>
                    </a:p>
                  </a:txBody>
                  <a:tcPr anchor="ctr">
                    <a:solidFill>
                      <a:srgbClr val="013A57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2A38"/>
                          </a:solidFill>
                          <a:latin typeface="Calibri"/>
                        </a:rPr>
                        <a:t>Naturaleza</a:t>
                      </a:r>
                    </a:p>
                  </a:txBody>
                  <a:tcPr anchor="ctr" marT="38100" marB="38100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A38"/>
                          </a:solidFill>
                          <a:latin typeface="Calibri"/>
                        </a:rPr>
                        <a:t>Framework para construir NUESTRO servidor</a:t>
                      </a:r>
                    </a:p>
                  </a:txBody>
                  <a:tcPr anchor="ctr" marT="38100" marB="38100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A38"/>
                          </a:solidFill>
                          <a:latin typeface="Calibri"/>
                        </a:rPr>
                        <a:t>Servicio externo que consumimos</a:t>
                      </a:r>
                    </a:p>
                  </a:txBody>
                  <a:tcPr anchor="ctr" marT="38100" marB="38100">
                    <a:solidFill>
                      <a:srgbClr val="EEF2F6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2A38"/>
                          </a:solidFill>
                          <a:latin typeface="Calibri"/>
                        </a:rPr>
                        <a:t>Titularidad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A38"/>
                          </a:solidFill>
                          <a:latin typeface="Calibri"/>
                        </a:rPr>
                        <a:t>Propia (es nuestro backend)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A38"/>
                          </a:solidFill>
                          <a:latin typeface="Calibri"/>
                        </a:rPr>
                        <a:t>De OpenAI (somos cliente)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2A38"/>
                          </a:solidFill>
                          <a:latin typeface="Calibri"/>
                        </a:rPr>
                        <a:t>Coste</a:t>
                      </a:r>
                    </a:p>
                  </a:txBody>
                  <a:tcPr anchor="ctr" marT="38100" marB="38100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A38"/>
                          </a:solidFill>
                          <a:latin typeface="Calibri"/>
                        </a:rPr>
                        <a:t>Sin coste (código abierto)</a:t>
                      </a:r>
                    </a:p>
                  </a:txBody>
                  <a:tcPr anchor="ctr" marT="38100" marB="38100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A38"/>
                          </a:solidFill>
                          <a:latin typeface="Calibri"/>
                        </a:rPr>
                        <a:t>De pago, por uso</a:t>
                      </a:r>
                    </a:p>
                  </a:txBody>
                  <a:tcPr anchor="ctr" marT="38100" marB="38100">
                    <a:solidFill>
                      <a:srgbClr val="EEF2F6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2A38"/>
                          </a:solidFill>
                          <a:latin typeface="Calibri"/>
                        </a:rPr>
                        <a:t>Papel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A38"/>
                          </a:solidFill>
                          <a:latin typeface="Calibri"/>
                        </a:rPr>
                        <a:t>Núcleo de la aplicación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A38"/>
                          </a:solidFill>
                          <a:latin typeface="Calibri"/>
                        </a:rPr>
                        <a:t>Proveedor auxiliar, invocado de forma controlada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0800"/>
          </a:xfrm>
          <a:prstGeom prst="rect">
            <a:avLst/>
          </a:prstGeom>
          <a:solidFill>
            <a:srgbClr val="009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El motor determinista: enrutado de consultas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82296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4A5B68"/>
                </a:solidFill>
                <a:latin typeface="Calibri"/>
              </a:rPr>
              <a:t>Comparador Regulatorio de Calidad de Gas Natural — Enagás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4A5B68"/>
                </a:solidFill>
                <a:latin typeface="Calibr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106424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4A5B68"/>
                </a:solidFill>
                <a:latin typeface="Calibri"/>
              </a:rPr>
              <a:t>Toda consulta pasa primero por un enrutado que decide cómo resolverla. «Determinista» = misma consulta, misma respuesta, por código, sin IA.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10881360" cy="47548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1B2A38"/>
                </a:solidFill>
                <a:latin typeface="Calibri"/>
              </a:rPr>
              <a:t>• Consultas CUANTITATIVAS (un límite, un cumplimiento, una comparación, una conversión): las resuelve el código leyendo la ontología. Sin IA, sin posibilidad de generar un valor incorrecto.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B2A38"/>
                </a:solidFill>
                <a:latin typeface="Calibri"/>
              </a:rPr>
              <a:t>• Consultas de TEXTO ABIERTO («¿en qué consiste el índice de Wobbe?»): se derivan al servicio de IA.</a:t>
            </a:r>
          </a:p>
          <a:p>
            <a:pPr algn="l" lvl="1">
              <a:spcAft>
                <a:spcPts val="1000"/>
              </a:spcAft>
            </a:pPr>
            <a:r>
              <a:rPr sz="1500" b="0">
                <a:solidFill>
                  <a:srgbClr val="4A5B68"/>
                </a:solidFill>
                <a:latin typeface="Calibri"/>
              </a:rPr>
              <a:t>• En la práctica, la mayoría de consultas se resuelven sin recurrir a la IA.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0800"/>
          </a:xfrm>
          <a:prstGeom prst="rect">
            <a:avLst/>
          </a:prstGeom>
          <a:solidFill>
            <a:srgbClr val="009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Normalización de condiciones (ISO 13443)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82296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4A5B68"/>
                </a:solidFill>
                <a:latin typeface="Calibri"/>
              </a:rPr>
              <a:t>Comparador Regulatorio de Calidad de Gas Natural — Enagás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4A5B68"/>
                </a:solidFill>
                <a:latin typeface="Calibr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106424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4A5B68"/>
                </a:solidFill>
                <a:latin typeface="Calibri"/>
              </a:rPr>
              <a:t>Comparar de forma rigurosa: cada país usa unidades y condiciones de referencia distintas.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10881360" cy="47548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1B2A38"/>
                </a:solidFill>
                <a:latin typeface="Calibri"/>
              </a:rPr>
              <a:t>• Unos expresan en kWh/m³, otros en MJ/m³; unos miden a 0 °C, otros a 15 o 25 °C.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B2A38"/>
                </a:solidFill>
                <a:latin typeface="Calibri"/>
              </a:rPr>
              <a:t>• Comparar los valores en bruto sería metodológicamente incorrecto (como comparar millas con kilómetros).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B2A38"/>
                </a:solidFill>
                <a:latin typeface="Calibri"/>
              </a:rPr>
              <a:t>• Todos los valores se llevan a la base de referencia española con los factores de la norma ISO 13443.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B2A38"/>
                </a:solidFill>
                <a:latin typeface="Calibri"/>
              </a:rPr>
              <a:t>• Esos factores no se estiman: se toman literalmente de la norma y están implementados y verificados.</a:t>
            </a:r>
          </a:p>
          <a:p>
            <a:pPr algn="l" lvl="1">
              <a:spcAft>
                <a:spcPts val="1000"/>
              </a:spcAft>
            </a:pPr>
            <a:r>
              <a:rPr sz="1500" b="0">
                <a:solidFill>
                  <a:srgbClr val="4A5B68"/>
                </a:solidFill>
                <a:latin typeface="Calibri"/>
              </a:rPr>
              <a:t>• Los valores derivados se muestran con 2 decimales (sin falsa precisión); los originales, con su precisión de origen.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0800"/>
          </a:xfrm>
          <a:prstGeom prst="rect">
            <a:avLst/>
          </a:prstGeom>
          <a:solidFill>
            <a:srgbClr val="009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La inteligencia artificial y sus salvaguardas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82296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4A5B68"/>
                </a:solidFill>
                <a:latin typeface="Calibri"/>
              </a:rPr>
              <a:t>Comparador Regulatorio de Calidad de Gas Natural — Enagás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4A5B68"/>
                </a:solidFill>
                <a:latin typeface="Calibr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106424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4A5B68"/>
                </a:solidFill>
                <a:latin typeface="Calibri"/>
              </a:rPr>
              <a:t>Cuando una consulta se deriva al servicio de IA, este opera bajo restricciones estrictas: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10881360" cy="47548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1B2A38"/>
                </a:solidFill>
                <a:latin typeface="Calibri"/>
              </a:rPr>
              <a:t>• Tiene PROHIBIDO generar cifras: si necesita un dato, lo solicita a las herramientas internas, que lo obtienen de la ontología.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B2A38"/>
                </a:solidFill>
                <a:latin typeface="Calibri"/>
              </a:rPr>
              <a:t>• Debe CITAR los documentos oficiales.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B2A38"/>
                </a:solidFill>
                <a:latin typeface="Calibri"/>
              </a:rPr>
              <a:t>• Su ámbito se limita a la calidad del gas natural.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B2A38"/>
                </a:solidFill>
                <a:latin typeface="Calibri"/>
              </a:rPr>
              <a:t>• Si el servicio de IA no está disponible, el sistema conmuta automáticamente al modo determinista: nunca se interrumpe.</a:t>
            </a:r>
          </a:p>
          <a:p>
            <a:pPr algn="l" lvl="1">
              <a:spcAft>
                <a:spcPts val="1000"/>
              </a:spcAft>
            </a:pPr>
            <a:r>
              <a:rPr sz="1500" b="0">
                <a:solidFill>
                  <a:srgbClr val="4A5B68"/>
                </a:solidFill>
                <a:latin typeface="Calibri"/>
              </a:rPr>
              <a:t>• Modelo: OpenAI GPT-4o-mini, con temperatura 0 (máxima previsibilidad).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0800"/>
          </a:xfrm>
          <a:prstGeom prst="rect">
            <a:avLst/>
          </a:prstGeom>
          <a:solidFill>
            <a:srgbClr val="009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Recuperación documental (RAG)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82296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4A5B68"/>
                </a:solidFill>
                <a:latin typeface="Calibri"/>
              </a:rPr>
              <a:t>Comparador Regulatorio de Calidad de Gas Natural — Enagás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4A5B68"/>
                </a:solidFill>
                <a:latin typeface="Calibr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106424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4A5B68"/>
                </a:solidFill>
                <a:latin typeface="Calibri"/>
              </a:rPr>
              <a:t>Para las consultas de texto abierto, la respuesta se fundamenta en los documentos oficiales, no en el conocimiento general del modelo.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10881360" cy="47548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1B2A38"/>
                </a:solidFill>
                <a:latin typeface="Calibri"/>
              </a:rPr>
              <a:t>• Fase 1 — INDEXACIÓN: el sistema procesa los PDF, extrae su texto, lo segmenta por página y lo almacena en un índice de búsqueda.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B2A38"/>
                </a:solidFill>
                <a:latin typeface="Calibri"/>
              </a:rPr>
              <a:t>• Fase 2 — RECUPERACIÓN: cuando la IA necesita fundamentar una respuesta, localiza los fragmentos pertinentes (con documento y página) y redacta citándolos.</a:t>
            </a:r>
          </a:p>
          <a:p>
            <a:pPr algn="l" lvl="1">
              <a:spcAft>
                <a:spcPts val="1000"/>
              </a:spcAft>
            </a:pPr>
            <a:r>
              <a:rPr sz="1500" b="0">
                <a:solidFill>
                  <a:srgbClr val="4A5B68"/>
                </a:solidFill>
                <a:latin typeface="Calibri"/>
              </a:rPr>
              <a:t>• La búsqueda es léxica (por términos), no semántica: más simple, suficiente y plenamente reproducible.</a:t>
            </a:r>
          </a:p>
          <a:p>
            <a:pPr algn="l" lvl="1">
              <a:spcAft>
                <a:spcPts val="1000"/>
              </a:spcAft>
            </a:pPr>
            <a:r>
              <a:rPr sz="1500" b="0">
                <a:solidFill>
                  <a:srgbClr val="4A5B68"/>
                </a:solidFill>
                <a:latin typeface="Calibri"/>
              </a:rPr>
              <a:t>• La indexación es incremental: solo se reprocesa lo nuevo o modificado → arranque casi inmediato.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0800"/>
          </a:xfrm>
          <a:prstGeom prst="rect">
            <a:avLst/>
          </a:prstGeom>
          <a:solidFill>
            <a:srgbClr val="009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Metodología de construcción y verificación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82296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4A5B68"/>
                </a:solidFill>
                <a:latin typeface="Calibri"/>
              </a:rPr>
              <a:t>Comparador Regulatorio de Calidad de Gas Natural — Enagás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4A5B68"/>
                </a:solidFill>
                <a:latin typeface="Calibr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106424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4A5B68"/>
                </a:solidFill>
                <a:latin typeface="Calibri"/>
              </a:rPr>
              <a:t>La fiabilidad es consecuencia del rigor del proceso de carga. Para cada jurisdicción: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10881360" cy="47548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1B2A38"/>
                </a:solidFill>
                <a:latin typeface="Calibri"/>
              </a:rPr>
              <a:t>• 1. Se identificó la normativa oficial vigente.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B2A38"/>
                </a:solidFill>
                <a:latin typeface="Calibri"/>
              </a:rPr>
              <a:t>• 2. Se obtuvo el documento y se archivó localmente.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B2A38"/>
                </a:solidFill>
                <a:latin typeface="Calibri"/>
              </a:rPr>
              <a:t>• 3. Se transcribió cada cifra literalmente, sin interpretación.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B2A38"/>
                </a:solidFill>
                <a:latin typeface="Calibri"/>
              </a:rPr>
              <a:t>• 4. Se verificó individualmente contra el documento.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B2A38"/>
                </a:solidFill>
                <a:latin typeface="Calibri"/>
              </a:rPr>
              <a:t>• 5. Lo que la norma no establece, no se completa: se marca como «no verificable», con su justificación.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B2A38"/>
                </a:solidFill>
                <a:latin typeface="Calibri"/>
              </a:rPr>
              <a:t>• 6. Se incorporó la normalización (ISO 13443) para comparaciones homogéneas.</a:t>
            </a:r>
          </a:p>
          <a:p>
            <a:pPr algn="l" lvl="1">
              <a:spcAft>
                <a:spcPts val="1000"/>
              </a:spcAft>
            </a:pPr>
            <a:r>
              <a:rPr sz="1400" b="0">
                <a:solidFill>
                  <a:srgbClr val="4A5B68"/>
                </a:solidFill>
                <a:latin typeface="Calibri"/>
              </a:rPr>
              <a:t>• Controles automáticos: comprueban que los 210 valores se resuelven, que los enlaces funcionan y que no hay incoherencias.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0800"/>
          </a:xfrm>
          <a:prstGeom prst="rect">
            <a:avLst/>
          </a:prstGeom>
          <a:solidFill>
            <a:srgbClr val="009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Garantías del sistema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82296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4A5B68"/>
                </a:solidFill>
                <a:latin typeface="Calibri"/>
              </a:rPr>
              <a:t>Comparador Regulatorio de Calidad de Gas Natural — Enagás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4A5B68"/>
                </a:solidFill>
                <a:latin typeface="Calibri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881360" cy="47548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1B2A38"/>
                </a:solidFill>
                <a:latin typeface="Calibri"/>
              </a:rPr>
              <a:t>• Ausencia de cifras inventadas, por diseño: los valores proceden de código y datos verificados, no del modelo.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B2A38"/>
                </a:solidFill>
                <a:latin typeface="Calibri"/>
              </a:rPr>
              <a:t>• Trazabilidad completa: cada valor cita norma, artículo, página y enlace.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B2A38"/>
                </a:solidFill>
                <a:latin typeface="Calibri"/>
              </a:rPr>
              <a:t>• Transparencia: lo que la norma no fija se declara explícitamente; no se completa.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B2A38"/>
                </a:solidFill>
                <a:latin typeface="Calibri"/>
              </a:rPr>
              <a:t>• Reproducibilidad: con el mismo código y datos, el resultado es idéntico en cualquier entorno.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B2A38"/>
                </a:solidFill>
                <a:latin typeface="Calibri"/>
              </a:rPr>
              <a:t>• Auditabilidad: la base de conocimiento es consultable y permite verificar el origen de cada valor.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0800"/>
          </a:xfrm>
          <a:prstGeom prst="rect">
            <a:avLst/>
          </a:prstGeom>
          <a:solidFill>
            <a:srgbClr val="009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El chat: historial persistente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82296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4A5B68"/>
                </a:solidFill>
                <a:latin typeface="Calibri"/>
              </a:rPr>
              <a:t>Comparador Regulatorio de Calidad de Gas Natural — Enagás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4A5B68"/>
                </a:solidFill>
                <a:latin typeface="Calibri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106424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4A5B68"/>
                </a:solidFill>
                <a:latin typeface="Calibri"/>
              </a:rPr>
              <a:t>La conversación no se pierde.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10881360" cy="47548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1B2A38"/>
                </a:solidFill>
                <a:latin typeface="Calibri"/>
              </a:rPr>
              <a:t>• Cada consulta y su respuesta se guardan en el navegador y se restauran al recargar la página o tras reiniciar el servidor.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B2A38"/>
                </a:solidFill>
                <a:latin typeface="Calibri"/>
              </a:rPr>
              <a:t>• El usuario no pierde su historial de consultas.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B2A38"/>
                </a:solidFill>
                <a:latin typeface="Calibri"/>
              </a:rPr>
              <a:t>• La opción «Nueva consulta» inicia una sesión limpia.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B2A38"/>
                </a:solidFill>
                <a:latin typeface="Calibri"/>
              </a:rPr>
              <a:t>• El asistente conserva el contexto de la conversación para las preguntas de seguimiento.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194560"/>
            <a:ext cx="146304" cy="2377440"/>
          </a:xfrm>
          <a:prstGeom prst="rect">
            <a:avLst/>
          </a:prstGeom>
          <a:solidFill>
            <a:srgbClr val="6CB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286000"/>
            <a:ext cx="10058400" cy="23774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>
                <a:solidFill>
                  <a:srgbClr val="0099D6"/>
                </a:solidFill>
                <a:latin typeface="Calibri"/>
              </a:rPr>
              <a:t>En síntesis</a:t>
            </a:r>
          </a:p>
          <a:p>
            <a:pPr algn="l"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Un asistente que compara la calidad regulatoria del gas natural</a:t>
            </a:r>
          </a:p>
          <a:p>
            <a:pPr algn="l"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entre 21 jurisdicciones, con trazabilidad total y sin cifras inventadas.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07008" y="4937760"/>
            <a:ext cx="1005840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C9D6E0"/>
                </a:solidFill>
                <a:latin typeface="Calibri"/>
              </a:rPr>
              <a:t>Las cifras salen de normativa oficial verificada. La IA solo redacta texto; nunca inventa un número.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