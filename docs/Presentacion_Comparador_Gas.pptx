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Presentación del sistema. El hilo conductor es doble: CÓMO ESTÁ CONSTRUIDO (arquitectura, ontología y herramientas) y POR QUÉ ES FIABLE (trazabilidad total y cero cifras inventadas). Presentar el equipo y pasar al índice.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Tres bloques: primero la ARQUITECTURA (la forma del sistema), luego la ONTOLOGÍA (el corazón del dato), y luego las HERRAMIENTAS (con qué está hecho, pieza a pieza). Cerramos con las garantías.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problema es concreto: la información regulatoria está dispersa y no es directamente comparable (unidades y condiciones distintas). Nuestra solución compara 21 jurisdicciones y 10 parámetros en lenguaje natural, y su principio de diseño es que no genera ninguna cifra por estimación.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cifras fijan el alcance: 21 jurisdicciones, 10 parámetros, 210 valores trazables y CERO cifras inventadas. Detrás de ese cero está lo importante: 176 verificados verbatim y 34 declarados 'no verificable' porque la norma no los fija. Esa disciplina es la que sostiene todo el proyecto.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esquema del sistema. Cuatro cajas: la INTERFAZ WEB, donde se formula la consulta; el SERVIDOR DE APLICACIÓN (FastAPI), que concentra la lógica y decide cómo resolver cada pregunta; la BASE DE CONOCIMIENTO (la ontología), con los datos verificados y sus fuentes; y el SERVICIO DE IA, externo, usado de forma acotada. El mensaje clave: los DATOS y los CÁLCULOS son propios; la IA es un proveedor auxiliar bajo control.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componente tiene una responsabilidad y una sola. La separación es deliberada: el mundo determinista (servidor + ontología) es el único que produce números; el mundo conversacional (la IA) solo redacta. Esa separación es lo que hace imposible la alucinación numérica.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 consulta pasa primero por el router. Si es cuantitativa —un límite, un cumplimiento, una comparación, una conversión— la resuelve el código leyendo la ontología, sin IA y sin posibilidad de error. Si es de texto abierto, va al LLM, pero incluso ahí el LLM no inventa: llama a las herramientas, que leen la ontología. Y si OpenAI cae, conmutamos a determinista. La cifra siempre viene del mismo sitio.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Suele asumirse que hay una gran base de datos única. No es así. Las CIFRAS viven SOLO en la capa 2, la ontología. La capa 3, el índice documental, no guarda ningún número: solo sirve para localizar el pasaje pertinente en las consultas de texto abierto. Y los PDF los guardamos localmente para no depender de que una web externa siga disponible.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ontología es el elemento central. Es la extracción verificada de los PDF oficiales, en un formato estructurado y legible por una persona. El motor determinista lee de aquí; el LLM nunca calcula ni inventa valores. Recorrer el diagrama: el catálogo de fuentes, los tipos de gas y las tres secciones de parámetros.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tres secciones de parámetros comparten EXACTAMENTE el mismo esquema; solo cambian el conjunto de jurisdicciones y las fuentes. Por eso la ampliación a biometano e hidrógeno no cambió la arquitectura: se reutiliza la misma maquinaria.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está el valor real del diseño: de cada dato no guardamos solo el número, sino todo su contexto. El campo clave es 'expresion_original': el texto literal de la norma, tal cual está redactado. Eso convierte la confianza en verificabilidad: no hay que creerse el dato, se puede comprobar.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diapositiva es la garantía anti-invención. Dos estados y ninguno intermedio: o la cifra consta en la norma, o se declara que la norma no la establece. El ejemplo de Dinamarca es el que mejor lo ilustra: era fácil rellenar el hueco con un número de la misma norma, pero era de otro contexto (biogás de distribución, no transporte). Preferimos el hueco honesto.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mapa completo de herramientas. Cuatro capas. Lo importante: todo es software libre excepto la API de OpenAI, que además es OPCIONAL: sin ella el sistema sigue funcionando en modo determinista. En las siguientes diapositivas vemos el papel exacto de cada pieza.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Ojo con una confusión frecuente: FastAPI y la API de OpenAI no son lo mismo aunque ambas lleven 'API'. FastAPI es el framework con el que construimos NUESTRO servidor: es infraestructura propia y gratuita. La API de OpenAI es un servicio de terceros, de pago, que consumimos puntualmente.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está el reparto real del dato. PyYAML abre la ontología, que es de donde salen TODAS las cifras. pdfplumber y sqlite3 son solo para el buscador documental: el índice NO guarda números. openpyxl y xhtml2pdf son para exportar informes: serializan los mismos datos que ya están en pantalla, no generan cifras nuevas.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capa de IA lo esencial es el 'function calling': es el mecanismo que permite que el modelo, cuando necesita un número, lo PIDA a nuestras herramientas en lugar de sacarlo de su memoria. Ahí está técnicamente la garantía anti-alucinación. En el frontend, DOMPurify merece una mención: es la protección contra inyección de código en el navegador.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código propio. La pieza que hay que retener es fuente_oficial.py: es la ÚNICA puerta a las cifras. Todo —el chat, la comparativa, la matriz, el análisis de gas— pasa por ahí. Si alguien quiere auditar de dónde sale un número, ese es el sitio.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Ocho servicios. Merece la pena destacar dos: /api/analizar-gas, que valida un gas real país a país y marca la zona de alerta (cumple, pero a menos del 10 % del límite); y la detección de interconexiones dentro de /api/chat, que calcula qué gas puede atravesar una cadena de países e identifica el cuello de botella regulatorio.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punto clave para la credibilidad es la comparabilidad. No basta con tener los números: hay que poder compararlos. Por eso llevamos todo a la base española aplicando los factores de la ISO 13443, que no estimamos, sino que tomamos literalmente de la norma. España es siempre la referencia.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conviene ser muy claro: el modelo no es la fuente del dato, es la capa de lenguaje. Si necesita un número, lo pide. Y si el servicio no está disponible —sin clave, sin red o por límite de uso—, el sistema conmuta solo a modo determinista. Es decir: la IA es una comodidad, no una dependencia.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Somos transparentes: nuestro RAG es léxico, no semántico. No es una carencia, es una decisión: es reproducible y no depende de terceros. Y antes de decidirlo lo MEDIMOS, con el estudio de terminología. La capa semántica queda preparada y activable si algún día compensa. Primero medir, luego decidir.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ampliación se hizo sin tocar nada de lo anterior: el gas natural sigue funcionando exactamente igual, y las pruebas automáticas lo confirman. Sobre el hidrógeno hay que subrayar una distinción: la calidad del H2 PARA LA RED (el gasoducto, lo que compete a Enagás: CEN/TS 17977 y recomendación GIE) es distinta de la del H2 como combustible de VEHÍCULO (ISO 14687). La herramienta las mantiene separadas. Y hoy solo Portugal fija una pureza vinculante del 98 %.</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síntesis: hemos construido una herramienta que compara la calidad regulatoria del gas natural, el biometano y el hidrógeno entre jurisdicciones, con trazabilidad total y sin cifras inventadas. Las cifras salen siempre de normativa oficial verificada; la IA solo redacta el texto. Muchas gracias; quedo a vuestra disposición para las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60520"/>
            <a:ext cx="12191695" cy="635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1828800"/>
            <a:ext cx="146304" cy="201168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828800"/>
            <a:ext cx="10058400" cy="2103120"/>
          </a:xfrm>
          <a:prstGeom prst="rect">
            <a:avLst/>
          </a:prstGeom>
          <a:noFill/>
        </p:spPr>
        <p:txBody>
          <a:bodyPr wrap="square" anchor="t" lIns="50800" rIns="50800" tIns="25400" bIns="25400">
            <a:spAutoFit/>
          </a:bodyPr>
          <a:lstStyle/>
          <a:p>
            <a:pPr algn="l">
              <a:spcAft>
                <a:spcPts val="200"/>
              </a:spcAft>
            </a:pPr>
            <a:r>
              <a:rPr sz="4000" b="1">
                <a:solidFill>
                  <a:srgbClr val="FFFFFF"/>
                </a:solidFill>
                <a:latin typeface="Calibri"/>
              </a:rPr>
              <a:t>Comparador Regulatorio</a:t>
            </a:r>
          </a:p>
          <a:p>
            <a:pPr algn="l">
              <a:spcAft>
                <a:spcPts val="200"/>
              </a:spcAft>
            </a:pPr>
            <a:r>
              <a:rPr sz="4000" b="1">
                <a:solidFill>
                  <a:srgbClr val="FFFFFF"/>
                </a:solidFill>
                <a:latin typeface="Calibri"/>
              </a:rPr>
              <a:t>de Calidad de Gas</a:t>
            </a:r>
          </a:p>
        </p:txBody>
      </p:sp>
      <p:sp>
        <p:nvSpPr>
          <p:cNvPr id="6" name="TextBox 5"/>
          <p:cNvSpPr txBox="1"/>
          <p:nvPr/>
        </p:nvSpPr>
        <p:spPr>
          <a:xfrm>
            <a:off x="1170432" y="4343400"/>
            <a:ext cx="10058400" cy="1188720"/>
          </a:xfrm>
          <a:prstGeom prst="rect">
            <a:avLst/>
          </a:prstGeom>
          <a:noFill/>
        </p:spPr>
        <p:txBody>
          <a:bodyPr wrap="square" anchor="t" lIns="50800" rIns="50800" tIns="25400" bIns="25400">
            <a:spAutoFit/>
          </a:bodyPr>
          <a:lstStyle/>
          <a:p>
            <a:pPr algn="l">
              <a:spcAft>
                <a:spcPts val="600"/>
              </a:spcAft>
            </a:pPr>
            <a:r>
              <a:rPr sz="2000" b="0">
                <a:solidFill>
                  <a:srgbClr val="0099D6"/>
                </a:solidFill>
                <a:latin typeface="Calibri"/>
              </a:rPr>
              <a:t>Arquitectura, ontología y herramientas del sistema</a:t>
            </a:r>
          </a:p>
          <a:p>
            <a:pPr algn="l">
              <a:spcAft>
                <a:spcPts val="600"/>
              </a:spcAft>
            </a:pPr>
            <a:r>
              <a:rPr sz="1500" b="0">
                <a:solidFill>
                  <a:srgbClr val="C9D6E0"/>
                </a:solidFill>
                <a:latin typeface="Calibri"/>
              </a:rPr>
              <a:t>Gas natural · biometano · hidrógeno — 21 jurisdicciones · 10 parámetros · 210 valores trazables</a:t>
            </a:r>
          </a:p>
        </p:txBody>
      </p:sp>
      <p:sp>
        <p:nvSpPr>
          <p:cNvPr id="7" name="TextBox 6"/>
          <p:cNvSpPr txBox="1"/>
          <p:nvPr/>
        </p:nvSpPr>
        <p:spPr>
          <a:xfrm>
            <a:off x="1170432" y="5943600"/>
            <a:ext cx="10058400" cy="457200"/>
          </a:xfrm>
          <a:prstGeom prst="rect">
            <a:avLst/>
          </a:prstGeom>
          <a:noFill/>
        </p:spPr>
        <p:txBody>
          <a:bodyPr wrap="square" anchor="t" lIns="50800" rIns="50800" tIns="25400" bIns="25400">
            <a:spAutoFit/>
          </a:bodyPr>
          <a:lstStyle/>
          <a:p>
            <a:pPr algn="l">
              <a:spcAft>
                <a:spcPts val="600"/>
              </a:spcAft>
            </a:pPr>
            <a:r>
              <a:rPr sz="1300" b="0">
                <a:solidFill>
                  <a:srgbClr val="9FB3C4"/>
                </a:solidFill>
                <a:latin typeface="Calibri"/>
              </a:rPr>
              <a:t>Ontología v3.2.0 · Presentación técnica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10515600" cy="731520"/>
          </a:xfrm>
          <a:prstGeom prst="rect">
            <a:avLst/>
          </a:prstGeom>
          <a:noFill/>
        </p:spPr>
        <p:txBody>
          <a:bodyPr wrap="square" anchor="ctr" lIns="50800" rIns="50800" tIns="25400" bIns="25400">
            <a:spAutoFit/>
          </a:bodyPr>
          <a:lstStyle/>
          <a:p>
            <a:pPr algn="l">
              <a:spcAft>
                <a:spcPts val="600"/>
              </a:spcAft>
            </a:pPr>
            <a:r>
              <a:rPr sz="2600" b="1">
                <a:solidFill>
                  <a:srgbClr val="FFFFFF"/>
                </a:solidFill>
                <a:latin typeface="Calibri"/>
              </a:rPr>
              <a:t>Índice</a:t>
            </a:r>
          </a:p>
        </p:txBody>
      </p:sp>
      <p:sp>
        <p:nvSpPr>
          <p:cNvPr id="5" name="TextBox 4"/>
          <p:cNvSpPr txBox="1"/>
          <p:nvPr/>
        </p:nvSpPr>
        <p:spPr>
          <a:xfrm>
            <a:off x="502920" y="6446520"/>
            <a:ext cx="8229600" cy="320040"/>
          </a:xfrm>
          <a:prstGeom prst="rect">
            <a:avLst/>
          </a:prstGeom>
          <a:noFill/>
        </p:spPr>
        <p:txBody>
          <a:bodyPr wrap="square" anchor="t" lIns="50800" rIns="50800" tIns="25400" bIns="254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46520"/>
            <a:ext cx="822960" cy="320040"/>
          </a:xfrm>
          <a:prstGeom prst="rect">
            <a:avLst/>
          </a:prstGeom>
          <a:noFill/>
        </p:spPr>
        <p:txBody>
          <a:bodyPr wrap="square" anchor="t" lIns="50800" rIns="50800" tIns="25400" bIns="25400">
            <a:spAutoFit/>
          </a:bodyPr>
          <a:lstStyle/>
          <a:p>
            <a:pPr algn="r">
              <a:spcAft>
                <a:spcPts val="600"/>
              </a:spcAft>
            </a:pPr>
            <a:r>
              <a:rPr sz="1000" b="0">
                <a:solidFill>
                  <a:srgbClr val="4A5B68"/>
                </a:solidFill>
                <a:latin typeface="Calibri"/>
              </a:rPr>
              <a:t>1</a:t>
            </a:r>
          </a:p>
        </p:txBody>
      </p:sp>
      <p:sp>
        <p:nvSpPr>
          <p:cNvPr id="7" name="TextBox 6"/>
          <p:cNvSpPr txBox="1"/>
          <p:nvPr/>
        </p:nvSpPr>
        <p:spPr>
          <a:xfrm>
            <a:off x="548640" y="1325880"/>
            <a:ext cx="11064240" cy="822960"/>
          </a:xfrm>
          <a:prstGeom prst="rect">
            <a:avLst/>
          </a:prstGeom>
          <a:noFill/>
        </p:spPr>
        <p:txBody>
          <a:bodyPr wrap="square" anchor="t" lIns="50800" rIns="50800" tIns="25400" bIns="25400">
            <a:spAutoFit/>
          </a:bodyPr>
          <a:lstStyle/>
          <a:p>
            <a:pPr algn="l">
              <a:spcAft>
                <a:spcPts val="600"/>
              </a:spcAft>
            </a:pPr>
            <a:r>
              <a:rPr sz="1500" b="0">
                <a:solidFill>
                  <a:srgbClr val="4A5B68"/>
                </a:solidFill>
                <a:latin typeface="Calibri"/>
              </a:rPr>
              <a:t>Recorrido de la presentación:</a:t>
            </a:r>
          </a:p>
        </p:txBody>
      </p:sp>
      <p:sp>
        <p:nvSpPr>
          <p:cNvPr id="8" name="TextBox 7"/>
          <p:cNvSpPr txBox="1"/>
          <p:nvPr/>
        </p:nvSpPr>
        <p:spPr>
          <a:xfrm>
            <a:off x="640080" y="2103120"/>
            <a:ext cx="10881360" cy="4754880"/>
          </a:xfrm>
          <a:prstGeom prst="rect">
            <a:avLst/>
          </a:prstGeom>
          <a:noFill/>
        </p:spPr>
        <p:txBody>
          <a:bodyPr wrap="square" anchor="t" lIns="50800" rIns="50800" tIns="25400" bIns="25400">
            <a:spAutoFit/>
          </a:bodyPr>
          <a:lstStyle/>
          <a:p>
            <a:pPr algn="l">
              <a:spcAft>
                <a:spcPts val="1000"/>
              </a:spcAft>
            </a:pPr>
            <a:r>
              <a:rPr sz="1700" b="0">
                <a:solidFill>
                  <a:srgbClr val="1B2A38"/>
                </a:solidFill>
                <a:latin typeface="Calibri"/>
              </a:rPr>
              <a:t>• Contexto, objetivo y cifras del sistema</a:t>
            </a:r>
          </a:p>
          <a:p>
            <a:pPr algn="l">
              <a:spcAft>
                <a:spcPts val="1000"/>
              </a:spcAft>
            </a:pPr>
            <a:r>
              <a:rPr sz="1700" b="0">
                <a:solidFill>
                  <a:srgbClr val="1B2A38"/>
                </a:solidFill>
                <a:latin typeface="Calibri"/>
              </a:rPr>
              <a:t>• ARQUITECTURA — los cuatro componentes y el recorrido de una consulta</a:t>
            </a:r>
          </a:p>
          <a:p>
            <a:pPr algn="l">
              <a:spcAft>
                <a:spcPts val="1000"/>
              </a:spcAft>
            </a:pPr>
            <a:r>
              <a:rPr sz="1700" b="0">
                <a:solidFill>
                  <a:srgbClr val="1B2A38"/>
                </a:solidFill>
                <a:latin typeface="Calibri"/>
              </a:rPr>
              <a:t>• Las tres capas de datos</a:t>
            </a:r>
          </a:p>
          <a:p>
            <a:pPr algn="l">
              <a:spcAft>
                <a:spcPts val="1000"/>
              </a:spcAft>
            </a:pPr>
            <a:r>
              <a:rPr sz="1700" b="0">
                <a:solidFill>
                  <a:srgbClr val="1B2A38"/>
                </a:solidFill>
                <a:latin typeface="Calibri"/>
              </a:rPr>
              <a:t>• ONTOLOGÍA — estructura, anatomía de un valor y estados de verificación</a:t>
            </a:r>
          </a:p>
          <a:p>
            <a:pPr algn="l">
              <a:spcAft>
                <a:spcPts val="1000"/>
              </a:spcAft>
            </a:pPr>
            <a:r>
              <a:rPr sz="1700" b="0">
                <a:solidFill>
                  <a:srgbClr val="1B2A38"/>
                </a:solidFill>
                <a:latin typeface="Calibri"/>
              </a:rPr>
              <a:t>• HERRAMIENTAS — stack completo: backend, datos, documentos, IA y frontend</a:t>
            </a:r>
          </a:p>
          <a:p>
            <a:pPr algn="l">
              <a:spcAft>
                <a:spcPts val="1000"/>
              </a:spcAft>
            </a:pPr>
            <a:r>
              <a:rPr sz="1700" b="0">
                <a:solidFill>
                  <a:srgbClr val="1B2A38"/>
                </a:solidFill>
                <a:latin typeface="Calibri"/>
              </a:rPr>
              <a:t>• Los módulos propios del código y los endpoints de la API</a:t>
            </a:r>
          </a:p>
          <a:p>
            <a:pPr algn="l">
              <a:spcAft>
                <a:spcPts val="1000"/>
              </a:spcAft>
            </a:pPr>
            <a:r>
              <a:rPr sz="1700" b="0">
                <a:solidFill>
                  <a:srgbClr val="1B2A38"/>
                </a:solidFill>
                <a:latin typeface="Calibri"/>
              </a:rPr>
              <a:t>• Motor determinista, normalización ISO 13443, IA y RAG</a:t>
            </a:r>
          </a:p>
          <a:p>
            <a:pPr algn="l">
              <a:spcAft>
                <a:spcPts val="1000"/>
              </a:spcAft>
            </a:pPr>
            <a:r>
              <a:rPr sz="1700" b="0">
                <a:solidFill>
                  <a:srgbClr val="1B2A38"/>
                </a:solidFill>
                <a:latin typeface="Calibri"/>
              </a:rPr>
              <a:t>• Ampliación a biometano e hidrógeno · Garantías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10515600" cy="731520"/>
          </a:xfrm>
          <a:prstGeom prst="rect">
            <a:avLst/>
          </a:prstGeom>
          <a:noFill/>
        </p:spPr>
        <p:txBody>
          <a:bodyPr wrap="square" anchor="ctr" lIns="50800" rIns="50800" tIns="25400" bIns="25400">
            <a:spAutoFit/>
          </a:bodyPr>
          <a:lstStyle/>
          <a:p>
            <a:pPr algn="l">
              <a:spcAft>
                <a:spcPts val="600"/>
              </a:spcAft>
            </a:pPr>
            <a:r>
              <a:rPr sz="2600" b="1">
                <a:solidFill>
                  <a:srgbClr val="FFFFFF"/>
                </a:solidFill>
                <a:latin typeface="Calibri"/>
              </a:rPr>
              <a:t>Contexto y objetivo</a:t>
            </a:r>
          </a:p>
        </p:txBody>
      </p:sp>
      <p:sp>
        <p:nvSpPr>
          <p:cNvPr id="5" name="TextBox 4"/>
          <p:cNvSpPr txBox="1"/>
          <p:nvPr/>
        </p:nvSpPr>
        <p:spPr>
          <a:xfrm>
            <a:off x="502920" y="6446520"/>
            <a:ext cx="8229600" cy="320040"/>
          </a:xfrm>
          <a:prstGeom prst="rect">
            <a:avLst/>
          </a:prstGeom>
          <a:noFill/>
        </p:spPr>
        <p:txBody>
          <a:bodyPr wrap="square" anchor="t" lIns="50800" rIns="50800" tIns="25400" bIns="254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46520"/>
            <a:ext cx="822960" cy="320040"/>
          </a:xfrm>
          <a:prstGeom prst="rect">
            <a:avLst/>
          </a:prstGeom>
          <a:noFill/>
        </p:spPr>
        <p:txBody>
          <a:bodyPr wrap="square" anchor="t" lIns="50800" rIns="50800" tIns="25400" bIns="25400">
            <a:spAutoFit/>
          </a:bodyPr>
          <a:lstStyle/>
          <a:p>
            <a:pPr algn="r">
              <a:spcAft>
                <a:spcPts val="600"/>
              </a:spcAft>
            </a:pPr>
            <a:r>
              <a:rPr sz="1000" b="0">
                <a:solidFill>
                  <a:srgbClr val="4A5B68"/>
                </a:solidFill>
                <a:latin typeface="Calibri"/>
              </a:rPr>
              <a:t>2</a:t>
            </a:r>
          </a:p>
        </p:txBody>
      </p:sp>
      <p:sp>
        <p:nvSpPr>
          <p:cNvPr id="7" name="TextBox 6"/>
          <p:cNvSpPr txBox="1"/>
          <p:nvPr/>
        </p:nvSpPr>
        <p:spPr>
          <a:xfrm>
            <a:off x="548640" y="1325880"/>
            <a:ext cx="11064240" cy="822960"/>
          </a:xfrm>
          <a:prstGeom prst="rect">
            <a:avLst/>
          </a:prstGeom>
          <a:noFill/>
        </p:spPr>
        <p:txBody>
          <a:bodyPr wrap="square" anchor="t" lIns="50800" rIns="50800" tIns="25400" bIns="25400">
            <a:spAutoFit/>
          </a:bodyPr>
          <a:lstStyle/>
          <a:p>
            <a:pPr algn="l">
              <a:spcAft>
                <a:spcPts val="600"/>
              </a:spcAft>
            </a:pPr>
            <a:r>
              <a:rPr sz="1500" b="0">
                <a:solidFill>
                  <a:srgbClr val="4A5B68"/>
                </a:solidFill>
                <a:latin typeface="Calibri"/>
              </a:rPr>
              <a:t>El problema y la propuesta de valor.</a:t>
            </a:r>
          </a:p>
        </p:txBody>
      </p:sp>
      <p:sp>
        <p:nvSpPr>
          <p:cNvPr id="8" name="TextBox 7"/>
          <p:cNvSpPr txBox="1"/>
          <p:nvPr/>
        </p:nvSpPr>
        <p:spPr>
          <a:xfrm>
            <a:off x="640080" y="2103120"/>
            <a:ext cx="10881360" cy="4754880"/>
          </a:xfrm>
          <a:prstGeom prst="rect">
            <a:avLst/>
          </a:prstGeom>
          <a:noFill/>
        </p:spPr>
        <p:txBody>
          <a:bodyPr wrap="square" anchor="t" lIns="50800" rIns="50800" tIns="25400" bIns="25400">
            <a:spAutoFit/>
          </a:bodyPr>
          <a:lstStyle/>
          <a:p>
            <a:pPr algn="l">
              <a:spcAft>
                <a:spcPts val="1000"/>
              </a:spcAft>
            </a:pPr>
            <a:r>
              <a:rPr sz="1700" b="0">
                <a:solidFill>
                  <a:srgbClr val="1B2A38"/>
                </a:solidFill>
                <a:latin typeface="Calibri"/>
              </a:rPr>
              <a:t>• Cada país regula la calidad admisible del gas con su propia normativa: Wobbe, PCS, azufre, CO2, puntos de rocío…</a:t>
            </a:r>
          </a:p>
          <a:p>
            <a:pPr algn="l">
              <a:spcAft>
                <a:spcPts val="1000"/>
              </a:spcAft>
            </a:pPr>
            <a:r>
              <a:rPr sz="1700" b="0">
                <a:solidFill>
                  <a:srgbClr val="1B2A38"/>
                </a:solidFill>
                <a:latin typeface="Calibri"/>
              </a:rPr>
              <a:t>• La información está dispersa en boletines oficiales distintos, en varios idiomas, con unidades y condiciones de referencia diferentes.</a:t>
            </a:r>
          </a:p>
          <a:p>
            <a:pPr algn="l">
              <a:spcAft>
                <a:spcPts val="1000"/>
              </a:spcAft>
            </a:pPr>
            <a:r>
              <a:rPr sz="1700" b="0">
                <a:solidFill>
                  <a:srgbClr val="1B2A38"/>
                </a:solidFill>
                <a:latin typeface="Calibri"/>
              </a:rPr>
              <a:t>• Comparar dos marcos regulatorios a mano es laborioso y propenso a error.</a:t>
            </a:r>
          </a:p>
          <a:p>
            <a:pPr algn="l">
              <a:spcAft>
                <a:spcPts val="1000"/>
              </a:spcAft>
            </a:pPr>
            <a:r>
              <a:rPr sz="1700" b="0">
                <a:solidFill>
                  <a:srgbClr val="1B2A38"/>
                </a:solidFill>
                <a:latin typeface="Calibri"/>
              </a:rPr>
              <a:t>• Solución: un asistente que compara esa calidad entre 21 jurisdicciones y 10 parámetros, en lenguaje natural.</a:t>
            </a:r>
          </a:p>
          <a:p>
            <a:pPr algn="l">
              <a:spcAft>
                <a:spcPts val="1000"/>
              </a:spcAft>
            </a:pPr>
            <a:r>
              <a:rPr sz="1700" b="0">
                <a:solidFill>
                  <a:srgbClr val="1B2A38"/>
                </a:solidFill>
                <a:latin typeface="Calibri"/>
              </a:rPr>
              <a:t>• Principio de diseño: CERO CIFRAS INVENTADAS. Ningún valor se estima; todos proceden de normativa oficial, con su cita.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10515600" cy="731520"/>
          </a:xfrm>
          <a:prstGeom prst="rect">
            <a:avLst/>
          </a:prstGeom>
          <a:noFill/>
        </p:spPr>
        <p:txBody>
          <a:bodyPr wrap="square" anchor="ctr" lIns="50800" rIns="50800" tIns="25400" bIns="25400">
            <a:spAutoFit/>
          </a:bodyPr>
          <a:lstStyle/>
          <a:p>
            <a:pPr algn="l">
              <a:spcAft>
                <a:spcPts val="600"/>
              </a:spcAft>
            </a:pPr>
            <a:r>
              <a:rPr sz="2600" b="1">
                <a:solidFill>
                  <a:srgbClr val="FFFFFF"/>
                </a:solidFill>
                <a:latin typeface="Calibri"/>
              </a:rPr>
              <a:t>El sistema en cifras</a:t>
            </a:r>
          </a:p>
        </p:txBody>
      </p:sp>
      <p:sp>
        <p:nvSpPr>
          <p:cNvPr id="5" name="TextBox 4"/>
          <p:cNvSpPr txBox="1"/>
          <p:nvPr/>
        </p:nvSpPr>
        <p:spPr>
          <a:xfrm>
            <a:off x="502920" y="6446520"/>
            <a:ext cx="8229600" cy="320040"/>
          </a:xfrm>
          <a:prstGeom prst="rect">
            <a:avLst/>
          </a:prstGeom>
          <a:noFill/>
        </p:spPr>
        <p:txBody>
          <a:bodyPr wrap="square" anchor="t" lIns="50800" rIns="50800" tIns="25400" bIns="254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46520"/>
            <a:ext cx="822960" cy="320040"/>
          </a:xfrm>
          <a:prstGeom prst="rect">
            <a:avLst/>
          </a:prstGeom>
          <a:noFill/>
        </p:spPr>
        <p:txBody>
          <a:bodyPr wrap="square" anchor="t" lIns="50800" rIns="50800" tIns="25400" bIns="25400">
            <a:spAutoFit/>
          </a:bodyPr>
          <a:lstStyle/>
          <a:p>
            <a:pPr algn="r">
              <a:spcAft>
                <a:spcPts val="600"/>
              </a:spcAft>
            </a:pPr>
            <a:r>
              <a:rPr sz="1000" b="0">
                <a:solidFill>
                  <a:srgbClr val="4A5B68"/>
                </a:solidFill>
                <a:latin typeface="Calibri"/>
              </a:rPr>
              <a:t>3</a:t>
            </a:r>
          </a:p>
        </p:txBody>
      </p:sp>
      <p:sp>
        <p:nvSpPr>
          <p:cNvPr id="7" name="Rectangle 6"/>
          <p:cNvSpPr/>
          <p:nvPr/>
        </p:nvSpPr>
        <p:spPr>
          <a:xfrm>
            <a:off x="548640" y="1737360"/>
            <a:ext cx="2697480" cy="219456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737360"/>
            <a:ext cx="2697480" cy="76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057400"/>
            <a:ext cx="2697480" cy="1097280"/>
          </a:xfrm>
          <a:prstGeom prst="rect">
            <a:avLst/>
          </a:prstGeom>
          <a:noFill/>
        </p:spPr>
        <p:txBody>
          <a:bodyPr wrap="square" anchor="t" lIns="50800" rIns="50800" tIns="25400" bIns="25400">
            <a:spAutoFit/>
          </a:bodyPr>
          <a:lstStyle/>
          <a:p>
            <a:pPr algn="ctr">
              <a:spcAft>
                <a:spcPts val="600"/>
              </a:spcAft>
            </a:pPr>
            <a:r>
              <a:rPr sz="5400" b="1">
                <a:solidFill>
                  <a:srgbClr val="013A57"/>
                </a:solidFill>
                <a:latin typeface="Calibri"/>
              </a:rPr>
              <a:t>21</a:t>
            </a:r>
          </a:p>
        </p:txBody>
      </p:sp>
      <p:sp>
        <p:nvSpPr>
          <p:cNvPr id="10" name="TextBox 9"/>
          <p:cNvSpPr txBox="1"/>
          <p:nvPr/>
        </p:nvSpPr>
        <p:spPr>
          <a:xfrm>
            <a:off x="548640" y="3154680"/>
            <a:ext cx="2697480" cy="548640"/>
          </a:xfrm>
          <a:prstGeom prst="rect">
            <a:avLst/>
          </a:prstGeom>
          <a:noFill/>
        </p:spPr>
        <p:txBody>
          <a:bodyPr wrap="square" anchor="t" lIns="50800" rIns="50800" tIns="25400" bIns="25400">
            <a:spAutoFit/>
          </a:bodyPr>
          <a:lstStyle/>
          <a:p>
            <a:pPr algn="ctr">
              <a:spcAft>
                <a:spcPts val="600"/>
              </a:spcAft>
            </a:pPr>
            <a:r>
              <a:rPr sz="1500" b="0">
                <a:solidFill>
                  <a:srgbClr val="4A5B68"/>
                </a:solidFill>
                <a:latin typeface="Calibri"/>
              </a:rPr>
              <a:t>jurisdicciones</a:t>
            </a:r>
          </a:p>
        </p:txBody>
      </p:sp>
      <p:sp>
        <p:nvSpPr>
          <p:cNvPr id="11" name="Rectangle 10"/>
          <p:cNvSpPr/>
          <p:nvPr/>
        </p:nvSpPr>
        <p:spPr>
          <a:xfrm>
            <a:off x="3392424" y="1737360"/>
            <a:ext cx="2697480" cy="219456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92424" y="1737360"/>
            <a:ext cx="2697480" cy="76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2057400"/>
            <a:ext cx="2697480" cy="1097280"/>
          </a:xfrm>
          <a:prstGeom prst="rect">
            <a:avLst/>
          </a:prstGeom>
          <a:noFill/>
        </p:spPr>
        <p:txBody>
          <a:bodyPr wrap="square" anchor="t" lIns="50800" rIns="50800" tIns="25400" bIns="25400">
            <a:spAutoFit/>
          </a:bodyPr>
          <a:lstStyle/>
          <a:p>
            <a:pPr algn="ctr">
              <a:spcAft>
                <a:spcPts val="600"/>
              </a:spcAft>
            </a:pPr>
            <a:r>
              <a:rPr sz="5400" b="1">
                <a:solidFill>
                  <a:srgbClr val="013A57"/>
                </a:solidFill>
                <a:latin typeface="Calibri"/>
              </a:rPr>
              <a:t>10</a:t>
            </a:r>
          </a:p>
        </p:txBody>
      </p:sp>
      <p:sp>
        <p:nvSpPr>
          <p:cNvPr id="14" name="TextBox 13"/>
          <p:cNvSpPr txBox="1"/>
          <p:nvPr/>
        </p:nvSpPr>
        <p:spPr>
          <a:xfrm>
            <a:off x="3392424" y="3154680"/>
            <a:ext cx="2697480" cy="548640"/>
          </a:xfrm>
          <a:prstGeom prst="rect">
            <a:avLst/>
          </a:prstGeom>
          <a:noFill/>
        </p:spPr>
        <p:txBody>
          <a:bodyPr wrap="square" anchor="t" lIns="50800" rIns="50800" tIns="25400" bIns="25400">
            <a:spAutoFit/>
          </a:bodyPr>
          <a:lstStyle/>
          <a:p>
            <a:pPr algn="ctr">
              <a:spcAft>
                <a:spcPts val="600"/>
              </a:spcAft>
            </a:pPr>
            <a:r>
              <a:rPr sz="1500" b="0">
                <a:solidFill>
                  <a:srgbClr val="4A5B68"/>
                </a:solidFill>
                <a:latin typeface="Calibri"/>
              </a:rPr>
              <a:t>parámetros</a:t>
            </a:r>
          </a:p>
        </p:txBody>
      </p:sp>
      <p:sp>
        <p:nvSpPr>
          <p:cNvPr id="15" name="Rectangle 14"/>
          <p:cNvSpPr/>
          <p:nvPr/>
        </p:nvSpPr>
        <p:spPr>
          <a:xfrm>
            <a:off x="6236208" y="1737360"/>
            <a:ext cx="2697480" cy="219456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6208" y="1737360"/>
            <a:ext cx="2697480" cy="76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36208" y="2057400"/>
            <a:ext cx="2697480" cy="1097280"/>
          </a:xfrm>
          <a:prstGeom prst="rect">
            <a:avLst/>
          </a:prstGeom>
          <a:noFill/>
        </p:spPr>
        <p:txBody>
          <a:bodyPr wrap="square" anchor="t" lIns="50800" rIns="50800" tIns="25400" bIns="25400">
            <a:spAutoFit/>
          </a:bodyPr>
          <a:lstStyle/>
          <a:p>
            <a:pPr algn="ctr">
              <a:spcAft>
                <a:spcPts val="600"/>
              </a:spcAft>
            </a:pPr>
            <a:r>
              <a:rPr sz="5400" b="1">
                <a:solidFill>
                  <a:srgbClr val="013A57"/>
                </a:solidFill>
                <a:latin typeface="Calibri"/>
              </a:rPr>
              <a:t>210</a:t>
            </a:r>
          </a:p>
        </p:txBody>
      </p:sp>
      <p:sp>
        <p:nvSpPr>
          <p:cNvPr id="18" name="TextBox 17"/>
          <p:cNvSpPr txBox="1"/>
          <p:nvPr/>
        </p:nvSpPr>
        <p:spPr>
          <a:xfrm>
            <a:off x="6236208" y="3154680"/>
            <a:ext cx="2697480" cy="548640"/>
          </a:xfrm>
          <a:prstGeom prst="rect">
            <a:avLst/>
          </a:prstGeom>
          <a:noFill/>
        </p:spPr>
        <p:txBody>
          <a:bodyPr wrap="square" anchor="t" lIns="50800" rIns="50800" tIns="25400" bIns="25400">
            <a:spAutoFit/>
          </a:bodyPr>
          <a:lstStyle/>
          <a:p>
            <a:pPr algn="ctr">
              <a:spcAft>
                <a:spcPts val="600"/>
              </a:spcAft>
            </a:pPr>
            <a:r>
              <a:rPr sz="1500" b="0">
                <a:solidFill>
                  <a:srgbClr val="4A5B68"/>
                </a:solidFill>
                <a:latin typeface="Calibri"/>
              </a:rPr>
              <a:t>valores trazables</a:t>
            </a:r>
          </a:p>
        </p:txBody>
      </p:sp>
      <p:sp>
        <p:nvSpPr>
          <p:cNvPr id="19" name="Rectangle 18"/>
          <p:cNvSpPr/>
          <p:nvPr/>
        </p:nvSpPr>
        <p:spPr>
          <a:xfrm>
            <a:off x="9079992" y="1737360"/>
            <a:ext cx="2697480" cy="219456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79992" y="1737360"/>
            <a:ext cx="2697480" cy="76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9992" y="2057400"/>
            <a:ext cx="2697480" cy="1097280"/>
          </a:xfrm>
          <a:prstGeom prst="rect">
            <a:avLst/>
          </a:prstGeom>
          <a:noFill/>
        </p:spPr>
        <p:txBody>
          <a:bodyPr wrap="square" anchor="t" lIns="50800" rIns="50800" tIns="25400" bIns="25400">
            <a:spAutoFit/>
          </a:bodyPr>
          <a:lstStyle/>
          <a:p>
            <a:pPr algn="ctr">
              <a:spcAft>
                <a:spcPts val="600"/>
              </a:spcAft>
            </a:pPr>
            <a:r>
              <a:rPr sz="5400" b="1">
                <a:solidFill>
                  <a:srgbClr val="013A57"/>
                </a:solidFill>
                <a:latin typeface="Calibri"/>
              </a:rPr>
              <a:t>0</a:t>
            </a:r>
          </a:p>
        </p:txBody>
      </p:sp>
      <p:sp>
        <p:nvSpPr>
          <p:cNvPr id="22" name="TextBox 21"/>
          <p:cNvSpPr txBox="1"/>
          <p:nvPr/>
        </p:nvSpPr>
        <p:spPr>
          <a:xfrm>
            <a:off x="9079992" y="3154680"/>
            <a:ext cx="2697480" cy="548640"/>
          </a:xfrm>
          <a:prstGeom prst="rect">
            <a:avLst/>
          </a:prstGeom>
          <a:noFill/>
        </p:spPr>
        <p:txBody>
          <a:bodyPr wrap="square" anchor="t" lIns="50800" rIns="50800" tIns="25400" bIns="25400">
            <a:spAutoFit/>
          </a:bodyPr>
          <a:lstStyle/>
          <a:p>
            <a:pPr algn="ctr">
              <a:spcAft>
                <a:spcPts val="600"/>
              </a:spcAft>
            </a:pPr>
            <a:r>
              <a:rPr sz="1500" b="0">
                <a:solidFill>
                  <a:srgbClr val="4A5B68"/>
                </a:solidFill>
                <a:latin typeface="Calibri"/>
              </a:rPr>
              <a:t>cifras inventadas</a:t>
            </a:r>
          </a:p>
        </p:txBody>
      </p:sp>
      <p:sp>
        <p:nvSpPr>
          <p:cNvPr id="23" name="TextBox 22"/>
          <p:cNvSpPr txBox="1"/>
          <p:nvPr/>
        </p:nvSpPr>
        <p:spPr>
          <a:xfrm>
            <a:off x="548640" y="4343400"/>
            <a:ext cx="11064240" cy="1737360"/>
          </a:xfrm>
          <a:prstGeom prst="rect">
            <a:avLst/>
          </a:prstGeom>
          <a:noFill/>
        </p:spPr>
        <p:txBody>
          <a:bodyPr wrap="square" anchor="t" lIns="50800" rIns="50800" tIns="25400" bIns="25400">
            <a:spAutoFit/>
          </a:bodyPr>
          <a:lstStyle/>
          <a:p>
            <a:pPr algn="l">
              <a:spcAft>
                <a:spcPts val="1000"/>
              </a:spcAft>
            </a:pPr>
            <a:r>
              <a:rPr sz="1700" b="0">
                <a:solidFill>
                  <a:srgbClr val="1B2A38"/>
                </a:solidFill>
                <a:latin typeface="Calibri"/>
              </a:rPr>
              <a:t>Detrás del cero: de los 210 valores, 176 están VERIFICADOS literalmente contra su boletín oficial y 34 se declaran NO VERIFICABLES porque la norma de ese país no fija ese parámetro.</a:t>
            </a:r>
          </a:p>
          <a:p>
            <a:pPr algn="l">
              <a:spcAft>
                <a:spcPts val="1000"/>
              </a:spcAft>
            </a:pPr>
            <a:r>
              <a:rPr sz="1700" b="0">
                <a:solidFill>
                  <a:srgbClr val="1B2A38"/>
                </a:solidFill>
                <a:latin typeface="Calibri"/>
              </a:rPr>
              <a:t>No se rellenan con estimaciones: se marcan y se explica el motivo. No hay estado intermedio.</a:t>
            </a:r>
          </a:p>
          <a:p>
            <a:pPr algn="l">
              <a:spcAft>
                <a:spcPts val="1000"/>
              </a:spcAft>
            </a:pPr>
            <a:r>
              <a:rPr sz="1500" b="0">
                <a:solidFill>
                  <a:srgbClr val="4A5B68"/>
                </a:solidFill>
                <a:latin typeface="Calibri"/>
              </a:rPr>
              <a:t>Base documental: 39 normas oficiales catalogadas · 3 tipos de gas (gas natural, biometano, hidrógeno).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10515600" cy="731520"/>
          </a:xfrm>
          <a:prstGeom prst="rect">
            <a:avLst/>
          </a:prstGeom>
          <a:noFill/>
        </p:spPr>
        <p:txBody>
          <a:bodyPr wrap="square" anchor="ctr" lIns="50800" rIns="50800" tIns="25400" bIns="25400">
            <a:spAutoFit/>
          </a:bodyPr>
          <a:lstStyle/>
          <a:p>
            <a:pPr algn="l">
              <a:spcAft>
                <a:spcPts val="600"/>
              </a:spcAft>
            </a:pPr>
            <a:r>
              <a:rPr sz="2600" b="1">
                <a:solidFill>
                  <a:srgbClr val="FFFFFF"/>
                </a:solidFill>
                <a:latin typeface="Calibri"/>
              </a:rPr>
              <a:t>Arquitectura del sistema</a:t>
            </a:r>
          </a:p>
        </p:txBody>
      </p:sp>
      <p:sp>
        <p:nvSpPr>
          <p:cNvPr id="5" name="TextBox 4"/>
          <p:cNvSpPr txBox="1"/>
          <p:nvPr/>
        </p:nvSpPr>
        <p:spPr>
          <a:xfrm>
            <a:off x="502920" y="6446520"/>
            <a:ext cx="8229600" cy="320040"/>
          </a:xfrm>
          <a:prstGeom prst="rect">
            <a:avLst/>
          </a:prstGeom>
          <a:noFill/>
        </p:spPr>
        <p:txBody>
          <a:bodyPr wrap="square" anchor="t" lIns="50800" rIns="50800" tIns="25400" bIns="254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46520"/>
            <a:ext cx="822960" cy="320040"/>
          </a:xfrm>
          <a:prstGeom prst="rect">
            <a:avLst/>
          </a:prstGeom>
          <a:noFill/>
        </p:spPr>
        <p:txBody>
          <a:bodyPr wrap="square" anchor="t" lIns="50800" rIns="50800" tIns="25400" bIns="25400">
            <a:spAutoFit/>
          </a:bodyPr>
          <a:lstStyle/>
          <a:p>
            <a:pPr algn="r">
              <a:spcAft>
                <a:spcPts val="600"/>
              </a:spcAft>
            </a:pPr>
            <a:r>
              <a:rPr sz="1000" b="0">
                <a:solidFill>
                  <a:srgbClr val="4A5B68"/>
                </a:solidFill>
                <a:latin typeface="Calibri"/>
              </a:rPr>
              <a:t>4</a:t>
            </a:r>
          </a:p>
        </p:txBody>
      </p:sp>
      <p:sp>
        <p:nvSpPr>
          <p:cNvPr id="7" name="TextBox 6"/>
          <p:cNvSpPr txBox="1"/>
          <p:nvPr/>
        </p:nvSpPr>
        <p:spPr>
          <a:xfrm>
            <a:off x="548640" y="1280160"/>
            <a:ext cx="11064240" cy="411480"/>
          </a:xfrm>
          <a:prstGeom prst="rect">
            <a:avLst/>
          </a:prstGeom>
          <a:noFill/>
        </p:spPr>
        <p:txBody>
          <a:bodyPr wrap="square" anchor="t" lIns="50800" rIns="50800" tIns="25400" bIns="25400">
            <a:spAutoFit/>
          </a:bodyPr>
          <a:lstStyle/>
          <a:p>
            <a:pPr algn="l">
              <a:spcAft>
                <a:spcPts val="600"/>
              </a:spcAft>
            </a:pPr>
            <a:r>
              <a:rPr sz="1400" b="0">
                <a:solidFill>
                  <a:srgbClr val="4A5B68"/>
                </a:solidFill>
                <a:latin typeface="Calibri"/>
              </a:rPr>
              <a:t>Cuatro componentes con responsabilidades bien delimitadas.</a:t>
            </a:r>
          </a:p>
        </p:txBody>
      </p:sp>
      <p:pic>
        <p:nvPicPr>
          <p:cNvPr id="8" name="Picture 7" descr="Arquitectura_Esquema_Cajas.png"/>
          <p:cNvPicPr>
            <a:picLocks noChangeAspect="1"/>
          </p:cNvPicPr>
          <p:nvPr/>
        </p:nvPicPr>
        <p:blipFill>
          <a:blip r:embed="rId2"/>
          <a:stretch>
            <a:fillRect/>
          </a:stretch>
        </p:blipFill>
        <p:spPr>
          <a:xfrm>
            <a:off x="502920" y="1737360"/>
            <a:ext cx="6027340" cy="4617720"/>
          </a:xfrm>
          <a:prstGeom prst="rect">
            <a:avLst/>
          </a:prstGeom>
        </p:spPr>
      </p:pic>
      <p:sp>
        <p:nvSpPr>
          <p:cNvPr id="9" name="TextBox 8"/>
          <p:cNvSpPr txBox="1"/>
          <p:nvPr/>
        </p:nvSpPr>
        <p:spPr>
          <a:xfrm>
            <a:off x="7223760" y="1737360"/>
            <a:ext cx="4480560" cy="4617720"/>
          </a:xfrm>
          <a:prstGeom prst="rect">
            <a:avLst/>
          </a:prstGeom>
          <a:noFill/>
        </p:spPr>
        <p:txBody>
          <a:bodyPr wrap="square" anchor="t" lIns="50800" rIns="50800" tIns="25400" bIns="25400">
            <a:spAutoFit/>
          </a:bodyPr>
          <a:lstStyle/>
          <a:p>
            <a:pPr algn="l">
              <a:spcAft>
                <a:spcPts val="1100"/>
              </a:spcAft>
            </a:pPr>
            <a:r>
              <a:rPr sz="1500" b="0">
                <a:solidFill>
                  <a:srgbClr val="1B2A38"/>
                </a:solidFill>
                <a:latin typeface="Calibri"/>
              </a:rPr>
              <a:t>• Interfaz web — formula la consulta.</a:t>
            </a:r>
          </a:p>
          <a:p>
            <a:pPr algn="l" lvl="1">
              <a:spcAft>
                <a:spcPts val="1100"/>
              </a:spcAft>
            </a:pPr>
            <a:r>
              <a:rPr sz="1300" b="0">
                <a:solidFill>
                  <a:srgbClr val="4A5B68"/>
                </a:solidFill>
                <a:latin typeface="Calibri"/>
              </a:rPr>
              <a:t>index.html · JavaScript vanilla</a:t>
            </a:r>
          </a:p>
          <a:p>
            <a:pPr algn="l">
              <a:spcAft>
                <a:spcPts val="1100"/>
              </a:spcAft>
            </a:pPr>
            <a:r>
              <a:rPr sz="1500" b="0">
                <a:solidFill>
                  <a:srgbClr val="1B2A38"/>
                </a:solidFill>
                <a:latin typeface="Calibri"/>
              </a:rPr>
              <a:t>• Servidor de aplicación — el núcleo: decide, calcula y accede al dato.</a:t>
            </a:r>
          </a:p>
          <a:p>
            <a:pPr algn="l" lvl="1">
              <a:spcAft>
                <a:spcPts val="1100"/>
              </a:spcAft>
            </a:pPr>
            <a:r>
              <a:rPr sz="1300" b="0">
                <a:solidFill>
                  <a:srgbClr val="4A5B68"/>
                </a:solidFill>
                <a:latin typeface="Calibri"/>
              </a:rPr>
              <a:t>Python · FastAPI · uvicorn</a:t>
            </a:r>
          </a:p>
          <a:p>
            <a:pPr algn="l">
              <a:spcAft>
                <a:spcPts val="1100"/>
              </a:spcAft>
            </a:pPr>
            <a:r>
              <a:rPr sz="1500" b="0">
                <a:solidFill>
                  <a:srgbClr val="1B2A38"/>
                </a:solidFill>
                <a:latin typeface="Calibri"/>
              </a:rPr>
              <a:t>• Base de conocimiento — las cifras verificadas y sus fuentes.</a:t>
            </a:r>
          </a:p>
          <a:p>
            <a:pPr algn="l" lvl="1">
              <a:spcAft>
                <a:spcPts val="1100"/>
              </a:spcAft>
            </a:pPr>
            <a:r>
              <a:rPr sz="1300" b="0">
                <a:solidFill>
                  <a:srgbClr val="4A5B68"/>
                </a:solidFill>
                <a:latin typeface="Calibri"/>
              </a:rPr>
              <a:t>Ontología YAML</a:t>
            </a:r>
          </a:p>
          <a:p>
            <a:pPr algn="l">
              <a:spcAft>
                <a:spcPts val="1100"/>
              </a:spcAft>
            </a:pPr>
            <a:r>
              <a:rPr sz="1500" b="0">
                <a:solidFill>
                  <a:srgbClr val="1B2A38"/>
                </a:solidFill>
                <a:latin typeface="Calibri"/>
              </a:rPr>
              <a:t>• Servicio de IA — externo y acotado: solo redacta.</a:t>
            </a:r>
          </a:p>
          <a:p>
            <a:pPr algn="l" lvl="1">
              <a:spcAft>
                <a:spcPts val="1100"/>
              </a:spcAft>
            </a:pPr>
            <a:r>
              <a:rPr sz="1300" b="0">
                <a:solidFill>
                  <a:srgbClr val="4A5B68"/>
                </a:solidFill>
                <a:latin typeface="Calibri"/>
              </a:rPr>
              <a:t>OpenAI · opcional</a:t>
            </a:r>
          </a:p>
          <a:p>
            <a:pPr algn="l">
              <a:spcAft>
                <a:spcPts val="1100"/>
              </a:spcAft>
            </a:pPr>
            <a:r>
              <a:rPr sz="1500" b="0">
                <a:solidFill>
                  <a:srgbClr val="1B2A38"/>
                </a:solidFill>
                <a:latin typeface="Calibri"/>
              </a:rPr>
              <a:t>• Los DATOS y los CÁLCULOS son propios. La IA es un proveedor auxiliar bajo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10515600" cy="731520"/>
          </a:xfrm>
          <a:prstGeom prst="rect">
            <a:avLst/>
          </a:prstGeom>
          <a:noFill/>
        </p:spPr>
        <p:txBody>
          <a:bodyPr wrap="square" anchor="ctr" lIns="50800" rIns="50800" tIns="25400" bIns="25400">
            <a:spAutoFit/>
          </a:bodyPr>
          <a:lstStyle/>
          <a:p>
            <a:pPr algn="l">
              <a:spcAft>
                <a:spcPts val="600"/>
              </a:spcAft>
            </a:pPr>
            <a:r>
              <a:rPr sz="2600" b="1">
                <a:solidFill>
                  <a:srgbClr val="FFFFFF"/>
                </a:solidFill>
                <a:latin typeface="Calibri"/>
              </a:rPr>
              <a:t>Los cuatro componentes</a:t>
            </a:r>
          </a:p>
        </p:txBody>
      </p:sp>
      <p:sp>
        <p:nvSpPr>
          <p:cNvPr id="5" name="TextBox 4"/>
          <p:cNvSpPr txBox="1"/>
          <p:nvPr/>
        </p:nvSpPr>
        <p:spPr>
          <a:xfrm>
            <a:off x="502920" y="6446520"/>
            <a:ext cx="8229600" cy="320040"/>
          </a:xfrm>
          <a:prstGeom prst="rect">
            <a:avLst/>
          </a:prstGeom>
          <a:noFill/>
        </p:spPr>
        <p:txBody>
          <a:bodyPr wrap="square" anchor="t" lIns="50800" rIns="50800" tIns="25400" bIns="254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46520"/>
            <a:ext cx="822960" cy="320040"/>
          </a:xfrm>
          <a:prstGeom prst="rect">
            <a:avLst/>
          </a:prstGeom>
          <a:noFill/>
        </p:spPr>
        <p:txBody>
          <a:bodyPr wrap="square" anchor="t" lIns="50800" rIns="50800" tIns="25400" bIns="25400">
            <a:spAutoFit/>
          </a:bodyPr>
          <a:lstStyle/>
          <a:p>
            <a:pPr algn="r">
              <a:spcAft>
                <a:spcPts val="600"/>
              </a:spcAft>
            </a:pPr>
            <a:r>
              <a:rPr sz="1000" b="0">
                <a:solidFill>
                  <a:srgbClr val="4A5B68"/>
                </a:solidFill>
                <a:latin typeface="Calibri"/>
              </a:rPr>
              <a:t>5</a:t>
            </a:r>
          </a:p>
        </p:txBody>
      </p:sp>
      <p:graphicFrame>
        <p:nvGraphicFramePr>
          <p:cNvPr id="7" name="Table 6"/>
          <p:cNvGraphicFramePr>
            <a:graphicFrameLocks noGrp="1"/>
          </p:cNvGraphicFramePr>
          <p:nvPr/>
        </p:nvGraphicFramePr>
        <p:xfrm>
          <a:off x="548640" y="1371600"/>
          <a:ext cx="11064238" cy="365760"/>
        </p:xfrm>
        <a:graphic>
          <a:graphicData uri="http://schemas.openxmlformats.org/drawingml/2006/table">
            <a:tbl>
              <a:tblPr>
                <a:tableStyleId>{5C22544A-7EE6-4342-B048-85BDC9FD1C3A}</a:tableStyleId>
              </a:tblPr>
              <a:tblGrid>
                <a:gridCol w="2296351"/>
                <a:gridCol w="5427740"/>
                <a:gridCol w="3340147"/>
              </a:tblGrid>
              <a:tr h="73152">
                <a:tc>
                  <a:txBody>
                    <a:bodyPr/>
                    <a:lstStyle/>
                    <a:p>
                      <a:r>
                        <a:rPr sz="1300" b="1">
                          <a:solidFill>
                            <a:srgbClr val="FFFFFF"/>
                          </a:solidFill>
                          <a:latin typeface="Calibri"/>
                        </a:rPr>
                        <a:t>Componente</a:t>
                      </a:r>
                    </a:p>
                  </a:txBody>
                  <a:tcPr anchor="ctr" marT="25400" marB="25400">
                    <a:solidFill>
                      <a:srgbClr val="013A57"/>
                    </a:solidFill>
                  </a:tcPr>
                </a:tc>
                <a:tc>
                  <a:txBody>
                    <a:bodyPr/>
                    <a:lstStyle/>
                    <a:p>
                      <a:r>
                        <a:rPr sz="1300" b="1">
                          <a:solidFill>
                            <a:srgbClr val="FFFFFF"/>
                          </a:solidFill>
                          <a:latin typeface="Calibri"/>
                        </a:rPr>
                        <a:t>Responsabilidad</a:t>
                      </a:r>
                    </a:p>
                  </a:txBody>
                  <a:tcPr anchor="ctr" marT="25400" marB="25400">
                    <a:solidFill>
                      <a:srgbClr val="013A57"/>
                    </a:solidFill>
                  </a:tcPr>
                </a:tc>
                <a:tc>
                  <a:txBody>
                    <a:bodyPr/>
                    <a:lstStyle/>
                    <a:p>
                      <a:r>
                        <a:rPr sz="1300" b="1">
                          <a:solidFill>
                            <a:srgbClr val="FFFFFF"/>
                          </a:solidFill>
                          <a:latin typeface="Calibri"/>
                        </a:rPr>
                        <a:t>Con qué está hecho</a:t>
                      </a:r>
                    </a:p>
                  </a:txBody>
                  <a:tcPr anchor="ctr" marT="25400" marB="25400">
                    <a:solidFill>
                      <a:srgbClr val="013A57"/>
                    </a:solidFill>
                  </a:tcPr>
                </a:tc>
              </a:tr>
              <a:tr h="73152">
                <a:tc>
                  <a:txBody>
                    <a:bodyPr/>
                    <a:lstStyle/>
                    <a:p>
                      <a:r>
                        <a:rPr sz="1300" b="1">
                          <a:solidFill>
                            <a:srgbClr val="013A57"/>
                          </a:solidFill>
                          <a:latin typeface="Calibri"/>
                        </a:rPr>
                        <a:t>Interfaz web</a:t>
                      </a:r>
                    </a:p>
                  </a:txBody>
                  <a:tcPr anchor="ctr" marT="25400" marB="25400">
                    <a:solidFill>
                      <a:srgbClr val="EEF2F6"/>
                    </a:solidFill>
                  </a:tcPr>
                </a:tc>
                <a:tc>
                  <a:txBody>
                    <a:bodyPr/>
                    <a:lstStyle/>
                    <a:p>
                      <a:r>
                        <a:rPr sz="1300" b="0">
                          <a:solidFill>
                            <a:srgbClr val="1B2A38"/>
                          </a:solidFill>
                          <a:latin typeface="Calibri"/>
                        </a:rPr>
                        <a:t>Formular la consulta y mostrar la respuesta con sus citas. Cinco secciones.</a:t>
                      </a:r>
                    </a:p>
                  </a:txBody>
                  <a:tcPr anchor="ctr" marT="25400" marB="25400">
                    <a:solidFill>
                      <a:srgbClr val="EEF2F6"/>
                    </a:solidFill>
                  </a:tcPr>
                </a:tc>
                <a:tc>
                  <a:txBody>
                    <a:bodyPr/>
                    <a:lstStyle/>
                    <a:p>
                      <a:r>
                        <a:rPr sz="1300" b="0">
                          <a:solidFill>
                            <a:srgbClr val="1B2A38"/>
                          </a:solidFill>
                          <a:latin typeface="Calibri"/>
                        </a:rPr>
                        <a:t>index.html — HTML + JavaScript vanilla</a:t>
                      </a:r>
                    </a:p>
                  </a:txBody>
                  <a:tcPr anchor="ctr" marT="25400" marB="25400">
                    <a:solidFill>
                      <a:srgbClr val="EEF2F6"/>
                    </a:solidFill>
                  </a:tcPr>
                </a:tc>
              </a:tr>
              <a:tr h="73152">
                <a:tc>
                  <a:txBody>
                    <a:bodyPr/>
                    <a:lstStyle/>
                    <a:p>
                      <a:r>
                        <a:rPr sz="1300" b="1">
                          <a:solidFill>
                            <a:srgbClr val="013A57"/>
                          </a:solidFill>
                          <a:latin typeface="Calibri"/>
                        </a:rPr>
                        <a:t>Servidor de aplicación</a:t>
                      </a:r>
                    </a:p>
                  </a:txBody>
                  <a:tcPr anchor="ctr" marT="25400" marB="25400">
                    <a:solidFill>
                      <a:srgbClr val="FFFFFF"/>
                    </a:solidFill>
                  </a:tcPr>
                </a:tc>
                <a:tc>
                  <a:txBody>
                    <a:bodyPr/>
                    <a:lstStyle/>
                    <a:p>
                      <a:r>
                        <a:rPr sz="1300" b="0">
                          <a:solidFill>
                            <a:srgbClr val="1B2A38"/>
                          </a:solidFill>
                          <a:latin typeface="Calibri"/>
                        </a:rPr>
                        <a:t>El núcleo: router determinista, cálculos exactos, acceso al dato y custodia de credenciales.</a:t>
                      </a:r>
                    </a:p>
                  </a:txBody>
                  <a:tcPr anchor="ctr" marT="25400" marB="25400">
                    <a:solidFill>
                      <a:srgbClr val="FFFFFF"/>
                    </a:solidFill>
                  </a:tcPr>
                </a:tc>
                <a:tc>
                  <a:txBody>
                    <a:bodyPr/>
                    <a:lstStyle/>
                    <a:p>
                      <a:r>
                        <a:rPr sz="1300" b="0">
                          <a:solidFill>
                            <a:srgbClr val="1B2A38"/>
                          </a:solidFill>
                          <a:latin typeface="Calibri"/>
                        </a:rPr>
                        <a:t>Python + FastAPI + uvicorn</a:t>
                      </a:r>
                    </a:p>
                  </a:txBody>
                  <a:tcPr anchor="ctr" marT="25400" marB="25400">
                    <a:solidFill>
                      <a:srgbClr val="FFFFFF"/>
                    </a:solidFill>
                  </a:tcPr>
                </a:tc>
              </a:tr>
              <a:tr h="73152">
                <a:tc>
                  <a:txBody>
                    <a:bodyPr/>
                    <a:lstStyle/>
                    <a:p>
                      <a:r>
                        <a:rPr sz="1300" b="1">
                          <a:solidFill>
                            <a:srgbClr val="013A57"/>
                          </a:solidFill>
                          <a:latin typeface="Calibri"/>
                        </a:rPr>
                        <a:t>Base de conocimiento</a:t>
                      </a:r>
                    </a:p>
                  </a:txBody>
                  <a:tcPr anchor="ctr" marT="25400" marB="25400">
                    <a:solidFill>
                      <a:srgbClr val="EEF2F6"/>
                    </a:solidFill>
                  </a:tcPr>
                </a:tc>
                <a:tc>
                  <a:txBody>
                    <a:bodyPr/>
                    <a:lstStyle/>
                    <a:p>
                      <a:r>
                        <a:rPr sz="1300" b="0">
                          <a:solidFill>
                            <a:srgbClr val="1B2A38"/>
                          </a:solidFill>
                          <a:latin typeface="Calibri"/>
                        </a:rPr>
                        <a:t>La ÚNICA fuente autorizada de cifras: los límites con su contexto y su fuente.</a:t>
                      </a:r>
                    </a:p>
                  </a:txBody>
                  <a:tcPr anchor="ctr" marT="25400" marB="25400">
                    <a:solidFill>
                      <a:srgbClr val="EEF2F6"/>
                    </a:solidFill>
                  </a:tcPr>
                </a:tc>
                <a:tc>
                  <a:txBody>
                    <a:bodyPr/>
                    <a:lstStyle/>
                    <a:p>
                      <a:r>
                        <a:rPr sz="1300" b="0">
                          <a:solidFill>
                            <a:srgbClr val="1B2A38"/>
                          </a:solidFill>
                          <a:latin typeface="Calibri"/>
                        </a:rPr>
                        <a:t>Ontología YAML (PyYAML)</a:t>
                      </a:r>
                    </a:p>
                  </a:txBody>
                  <a:tcPr anchor="ctr" marT="25400" marB="25400">
                    <a:solidFill>
                      <a:srgbClr val="EEF2F6"/>
                    </a:solidFill>
                  </a:tcPr>
                </a:tc>
              </a:tr>
              <a:tr h="73152">
                <a:tc>
                  <a:txBody>
                    <a:bodyPr/>
                    <a:lstStyle/>
                    <a:p>
                      <a:r>
                        <a:rPr sz="1300" b="1">
                          <a:solidFill>
                            <a:srgbClr val="013A57"/>
                          </a:solidFill>
                          <a:latin typeface="Calibri"/>
                        </a:rPr>
                        <a:t>Servicio de IA (externo)</a:t>
                      </a:r>
                    </a:p>
                  </a:txBody>
                  <a:tcPr anchor="ctr" marT="25400" marB="25400">
                    <a:solidFill>
                      <a:srgbClr val="FFFFFF"/>
                    </a:solidFill>
                  </a:tcPr>
                </a:tc>
                <a:tc>
                  <a:txBody>
                    <a:bodyPr/>
                    <a:lstStyle/>
                    <a:p>
                      <a:r>
                        <a:rPr sz="1300" b="0">
                          <a:solidFill>
                            <a:srgbClr val="1B2A38"/>
                          </a:solidFill>
                          <a:latin typeface="Calibri"/>
                        </a:rPr>
                        <a:t>Solo interpretar la pregunta y REDACTAR el texto. Nunca genera cifras.</a:t>
                      </a:r>
                    </a:p>
                  </a:txBody>
                  <a:tcPr anchor="ctr" marT="25400" marB="25400">
                    <a:solidFill>
                      <a:srgbClr val="FFFFFF"/>
                    </a:solidFill>
                  </a:tcPr>
                </a:tc>
                <a:tc>
                  <a:txBody>
                    <a:bodyPr/>
                    <a:lstStyle/>
                    <a:p>
                      <a:r>
                        <a:rPr sz="1300" b="0">
                          <a:solidFill>
                            <a:srgbClr val="1B2A38"/>
                          </a:solidFill>
                          <a:latin typeface="Calibri"/>
                        </a:rPr>
                        <a:t>API de OpenAI (GPT-4o-mini)</a:t>
                      </a:r>
                    </a:p>
                  </a:txBody>
                  <a:tcPr anchor="ctr" marT="25400" marB="25400">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10515600" cy="731520"/>
          </a:xfrm>
          <a:prstGeom prst="rect">
            <a:avLst/>
          </a:prstGeom>
          <a:noFill/>
        </p:spPr>
        <p:txBody>
          <a:bodyPr wrap="square" anchor="ctr" lIns="50800" rIns="50800" tIns="25400" bIns="25400">
            <a:spAutoFit/>
          </a:bodyPr>
          <a:lstStyle/>
          <a:p>
            <a:pPr algn="l">
              <a:spcAft>
                <a:spcPts val="600"/>
              </a:spcAft>
            </a:pPr>
            <a:r>
              <a:rPr sz="2600" b="1">
                <a:solidFill>
                  <a:srgbClr val="FFFFFF"/>
                </a:solidFill>
                <a:latin typeface="Calibri"/>
              </a:rPr>
              <a:t>Recorrido de una consulta</a:t>
            </a:r>
          </a:p>
        </p:txBody>
      </p:sp>
      <p:sp>
        <p:nvSpPr>
          <p:cNvPr id="5" name="TextBox 4"/>
          <p:cNvSpPr txBox="1"/>
          <p:nvPr/>
        </p:nvSpPr>
        <p:spPr>
          <a:xfrm>
            <a:off x="502920" y="6446520"/>
            <a:ext cx="8229600" cy="320040"/>
          </a:xfrm>
          <a:prstGeom prst="rect">
            <a:avLst/>
          </a:prstGeom>
          <a:noFill/>
        </p:spPr>
        <p:txBody>
          <a:bodyPr wrap="square" anchor="t" lIns="50800" rIns="50800" tIns="25400" bIns="254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46520"/>
            <a:ext cx="822960" cy="320040"/>
          </a:xfrm>
          <a:prstGeom prst="rect">
            <a:avLst/>
          </a:prstGeom>
          <a:noFill/>
        </p:spPr>
        <p:txBody>
          <a:bodyPr wrap="square" anchor="t" lIns="50800" rIns="50800" tIns="25400" bIns="25400">
            <a:spAutoFit/>
          </a:bodyPr>
          <a:lstStyle/>
          <a:p>
            <a:pPr algn="r">
              <a:spcAft>
                <a:spcPts val="600"/>
              </a:spcAft>
            </a:pPr>
            <a:r>
              <a:rPr sz="1000" b="0">
                <a:solidFill>
                  <a:srgbClr val="4A5B68"/>
                </a:solidFill>
                <a:latin typeface="Calibri"/>
              </a:rPr>
              <a:t>6</a:t>
            </a:r>
          </a:p>
        </p:txBody>
      </p:sp>
      <p:sp>
        <p:nvSpPr>
          <p:cNvPr id="7" name="TextBox 6"/>
          <p:cNvSpPr txBox="1"/>
          <p:nvPr/>
        </p:nvSpPr>
        <p:spPr>
          <a:xfrm>
            <a:off x="548640" y="1280160"/>
            <a:ext cx="11064240" cy="457200"/>
          </a:xfrm>
          <a:prstGeom prst="rect">
            <a:avLst/>
          </a:prstGeom>
          <a:noFill/>
        </p:spPr>
        <p:txBody>
          <a:bodyPr wrap="square" anchor="t" lIns="50800" rIns="50800" tIns="25400" bIns="25400">
            <a:spAutoFit/>
          </a:bodyPr>
          <a:lstStyle/>
          <a:p>
            <a:pPr algn="l">
              <a:spcAft>
                <a:spcPts val="600"/>
              </a:spcAft>
            </a:pPr>
            <a:r>
              <a:rPr sz="1500" b="0">
                <a:solidFill>
                  <a:srgbClr val="4A5B68"/>
                </a:solidFill>
                <a:latin typeface="Calibri"/>
              </a:rPr>
              <a:t>El router determinista decide, para cada pregunta, quién la resuelve.</a:t>
            </a:r>
          </a:p>
        </p:txBody>
      </p:sp>
      <p:sp>
        <p:nvSpPr>
          <p:cNvPr id="8" name="Rectangle 7"/>
          <p:cNvSpPr/>
          <p:nvPr/>
        </p:nvSpPr>
        <p:spPr>
          <a:xfrm>
            <a:off x="548640" y="1965960"/>
            <a:ext cx="2103120" cy="9144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965960"/>
            <a:ext cx="2103120" cy="635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148840"/>
            <a:ext cx="2103120" cy="640080"/>
          </a:xfrm>
          <a:prstGeom prst="rect">
            <a:avLst/>
          </a:prstGeom>
          <a:noFill/>
        </p:spPr>
        <p:txBody>
          <a:bodyPr wrap="square" anchor="t" lIns="50800" rIns="50800" tIns="25400" bIns="25400">
            <a:spAutoFit/>
          </a:bodyPr>
          <a:lstStyle/>
          <a:p>
            <a:pPr algn="ctr">
              <a:spcAft>
                <a:spcPts val="100"/>
              </a:spcAft>
            </a:pPr>
            <a:r>
              <a:rPr sz="1500" b="1">
                <a:solidFill>
                  <a:srgbClr val="013A57"/>
                </a:solidFill>
                <a:latin typeface="Calibri"/>
              </a:rPr>
              <a:t>Pregunta</a:t>
            </a:r>
          </a:p>
          <a:p>
            <a:pPr algn="ctr">
              <a:spcAft>
                <a:spcPts val="100"/>
              </a:spcAft>
            </a:pPr>
            <a:r>
              <a:rPr sz="1100" b="0">
                <a:solidFill>
                  <a:srgbClr val="4A5B68"/>
                </a:solidFill>
                <a:latin typeface="Calibri"/>
              </a:rPr>
              <a:t>index.html</a:t>
            </a:r>
          </a:p>
        </p:txBody>
      </p:sp>
      <p:sp>
        <p:nvSpPr>
          <p:cNvPr id="11" name="Rectangle 10"/>
          <p:cNvSpPr/>
          <p:nvPr/>
        </p:nvSpPr>
        <p:spPr>
          <a:xfrm>
            <a:off x="3063240" y="1965960"/>
            <a:ext cx="2377440" cy="9144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63240" y="2103120"/>
            <a:ext cx="2377440" cy="731520"/>
          </a:xfrm>
          <a:prstGeom prst="rect">
            <a:avLst/>
          </a:prstGeom>
          <a:noFill/>
        </p:spPr>
        <p:txBody>
          <a:bodyPr wrap="square" anchor="t" lIns="50800" rIns="50800" tIns="25400" bIns="25400">
            <a:spAutoFit/>
          </a:bodyPr>
          <a:lstStyle/>
          <a:p>
            <a:pPr algn="ctr">
              <a:spcAft>
                <a:spcPts val="100"/>
              </a:spcAft>
            </a:pPr>
            <a:r>
              <a:rPr sz="1400" b="1">
                <a:solidFill>
                  <a:srgbClr val="FFFFFF"/>
                </a:solidFill>
                <a:latin typeface="Calibri"/>
              </a:rPr>
              <a:t>Router determinista</a:t>
            </a:r>
          </a:p>
          <a:p>
            <a:pPr algn="ctr">
              <a:spcAft>
                <a:spcPts val="100"/>
              </a:spcAft>
            </a:pPr>
            <a:r>
              <a:rPr sz="1100" b="0">
                <a:solidFill>
                  <a:srgbClr val="0099D6"/>
                </a:solidFill>
                <a:latin typeface="Calibri"/>
              </a:rPr>
              <a:t>api.py</a:t>
            </a:r>
          </a:p>
        </p:txBody>
      </p:sp>
      <p:sp>
        <p:nvSpPr>
          <p:cNvPr id="13" name="Rectangle 12"/>
          <p:cNvSpPr/>
          <p:nvPr/>
        </p:nvSpPr>
        <p:spPr>
          <a:xfrm>
            <a:off x="5943600" y="1600200"/>
            <a:ext cx="5669280" cy="1600200"/>
          </a:xfrm>
          <a:prstGeom prst="rect">
            <a:avLst/>
          </a:prstGeom>
          <a:solidFill>
            <a:srgbClr val="E8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43600" y="1600200"/>
            <a:ext cx="76200" cy="16002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0" y="1737360"/>
            <a:ext cx="5303520" cy="1371600"/>
          </a:xfrm>
          <a:prstGeom prst="rect">
            <a:avLst/>
          </a:prstGeom>
          <a:noFill/>
        </p:spPr>
        <p:txBody>
          <a:bodyPr wrap="square" anchor="t" lIns="50800" rIns="50800" tIns="25400" bIns="25400">
            <a:spAutoFit/>
          </a:bodyPr>
          <a:lstStyle/>
          <a:p>
            <a:pPr algn="l">
              <a:spcAft>
                <a:spcPts val="300"/>
              </a:spcAft>
            </a:pPr>
            <a:r>
              <a:rPr sz="1500" b="1">
                <a:solidFill>
                  <a:srgbClr val="3E6B22"/>
                </a:solidFill>
                <a:latin typeface="Calibri"/>
              </a:rPr>
              <a:t>RUTA A — Consulta cuantitativa  (la mayoría)</a:t>
            </a:r>
          </a:p>
          <a:p>
            <a:pPr algn="l">
              <a:spcAft>
                <a:spcPts val="300"/>
              </a:spcAft>
            </a:pPr>
            <a:r>
              <a:rPr sz="1300" b="0">
                <a:solidFill>
                  <a:srgbClr val="1B2A38"/>
                </a:solidFill>
                <a:latin typeface="Calibri"/>
              </a:rPr>
              <a:t>La resuelve el CÓDIGO leyendo la ontología. Sin IA.</a:t>
            </a:r>
          </a:p>
          <a:p>
            <a:pPr algn="l">
              <a:spcAft>
                <a:spcPts val="300"/>
              </a:spcAft>
            </a:pPr>
            <a:r>
              <a:rPr sz="1200" b="0">
                <a:solidFill>
                  <a:srgbClr val="4A5B68"/>
                </a:solidFill>
                <a:latin typeface="Calibri"/>
              </a:rPr>
              <a:t>Un límite · cumplimiento · comparación · conversión</a:t>
            </a:r>
          </a:p>
        </p:txBody>
      </p:sp>
      <p:sp>
        <p:nvSpPr>
          <p:cNvPr id="16" name="Rectangle 15"/>
          <p:cNvSpPr/>
          <p:nvPr/>
        </p:nvSpPr>
        <p:spPr>
          <a:xfrm>
            <a:off x="5943600" y="3429000"/>
            <a:ext cx="5669280" cy="1600200"/>
          </a:xfrm>
          <a:prstGeom prst="rect">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3429000"/>
            <a:ext cx="76200" cy="1600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2200" y="3566160"/>
            <a:ext cx="5303520" cy="1371600"/>
          </a:xfrm>
          <a:prstGeom prst="rect">
            <a:avLst/>
          </a:prstGeom>
          <a:noFill/>
        </p:spPr>
        <p:txBody>
          <a:bodyPr wrap="square" anchor="t" lIns="50800" rIns="50800" tIns="25400" bIns="25400">
            <a:spAutoFit/>
          </a:bodyPr>
          <a:lstStyle/>
          <a:p>
            <a:pPr algn="l">
              <a:spcAft>
                <a:spcPts val="300"/>
              </a:spcAft>
            </a:pPr>
            <a:r>
              <a:rPr sz="1500" b="1">
                <a:solidFill>
                  <a:srgbClr val="A5610E"/>
                </a:solidFill>
                <a:latin typeface="Calibri"/>
              </a:rPr>
              <a:t>RUTA B — Texto abierto</a:t>
            </a:r>
          </a:p>
          <a:p>
            <a:pPr algn="l">
              <a:spcAft>
                <a:spcPts val="300"/>
              </a:spcAft>
            </a:pPr>
            <a:r>
              <a:rPr sz="1300" b="0">
                <a:solidFill>
                  <a:srgbClr val="1B2A38"/>
                </a:solidFill>
                <a:latin typeface="Calibri"/>
              </a:rPr>
              <a:t>Va al LLM, que PIDE las cifras a las herramientas.</a:t>
            </a:r>
          </a:p>
          <a:p>
            <a:pPr algn="l">
              <a:spcAft>
                <a:spcPts val="300"/>
              </a:spcAft>
            </a:pPr>
            <a:r>
              <a:rPr sz="1200" b="0">
                <a:solidFill>
                  <a:srgbClr val="4A5B68"/>
                </a:solidFill>
                <a:latin typeface="Calibri"/>
              </a:rPr>
              <a:t>El LLM redacta; los números siguen saliendo de la ontología.</a:t>
            </a:r>
          </a:p>
        </p:txBody>
      </p:sp>
      <p:sp>
        <p:nvSpPr>
          <p:cNvPr id="19" name="TextBox 18"/>
          <p:cNvSpPr txBox="1"/>
          <p:nvPr/>
        </p:nvSpPr>
        <p:spPr>
          <a:xfrm>
            <a:off x="548640" y="5349240"/>
            <a:ext cx="11064240" cy="1005840"/>
          </a:xfrm>
          <a:prstGeom prst="rect">
            <a:avLst/>
          </a:prstGeom>
          <a:noFill/>
        </p:spPr>
        <p:txBody>
          <a:bodyPr wrap="square" anchor="t" lIns="50800" rIns="50800" tIns="25400" bIns="25400">
            <a:spAutoFit/>
          </a:bodyPr>
          <a:lstStyle/>
          <a:p>
            <a:pPr algn="l">
              <a:spcAft>
                <a:spcPts val="600"/>
              </a:spcAft>
            </a:pPr>
            <a:r>
              <a:rPr sz="1600" b="1">
                <a:solidFill>
                  <a:srgbClr val="013A57"/>
                </a:solidFill>
                <a:latin typeface="Calibri"/>
              </a:rPr>
              <a:t>En ambas rutas la cifra sale SIEMPRE de la ontología. El LLM nunca la produce: la solicita.</a:t>
            </a:r>
          </a:p>
          <a:p>
            <a:pPr algn="l">
              <a:spcAft>
                <a:spcPts val="600"/>
              </a:spcAft>
            </a:pPr>
            <a:r>
              <a:rPr sz="1400" b="0">
                <a:solidFill>
                  <a:srgbClr val="4A5B68"/>
                </a:solidFill>
                <a:latin typeface="Calibri"/>
              </a:rPr>
              <a:t>Si el servicio de IA no está disponible, el sistema conmuta automáticamente al motor determinista: el chat nunca falla.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10515600" cy="731520"/>
          </a:xfrm>
          <a:prstGeom prst="rect">
            <a:avLst/>
          </a:prstGeom>
          <a:noFill/>
        </p:spPr>
        <p:txBody>
          <a:bodyPr wrap="square" anchor="ctr" lIns="50800" rIns="50800" tIns="25400" bIns="25400">
            <a:spAutoFit/>
          </a:bodyPr>
          <a:lstStyle/>
          <a:p>
            <a:pPr algn="l">
              <a:spcAft>
                <a:spcPts val="600"/>
              </a:spcAft>
            </a:pPr>
            <a:r>
              <a:rPr sz="2600" b="1">
                <a:solidFill>
                  <a:srgbClr val="FFFFFF"/>
                </a:solidFill>
                <a:latin typeface="Calibri"/>
              </a:rPr>
              <a:t>Las tres capas de datos</a:t>
            </a:r>
          </a:p>
        </p:txBody>
      </p:sp>
      <p:sp>
        <p:nvSpPr>
          <p:cNvPr id="5" name="TextBox 4"/>
          <p:cNvSpPr txBox="1"/>
          <p:nvPr/>
        </p:nvSpPr>
        <p:spPr>
          <a:xfrm>
            <a:off x="502920" y="6446520"/>
            <a:ext cx="8229600" cy="320040"/>
          </a:xfrm>
          <a:prstGeom prst="rect">
            <a:avLst/>
          </a:prstGeom>
          <a:noFill/>
        </p:spPr>
        <p:txBody>
          <a:bodyPr wrap="square" anchor="t" lIns="50800" rIns="50800" tIns="25400" bIns="254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46520"/>
            <a:ext cx="822960" cy="320040"/>
          </a:xfrm>
          <a:prstGeom prst="rect">
            <a:avLst/>
          </a:prstGeom>
          <a:noFill/>
        </p:spPr>
        <p:txBody>
          <a:bodyPr wrap="square" anchor="t" lIns="50800" rIns="50800" tIns="25400" bIns="25400">
            <a:spAutoFit/>
          </a:bodyPr>
          <a:lstStyle/>
          <a:p>
            <a:pPr algn="r">
              <a:spcAft>
                <a:spcPts val="600"/>
              </a:spcAft>
            </a:pPr>
            <a:r>
              <a:rPr sz="1000" b="0">
                <a:solidFill>
                  <a:srgbClr val="4A5B68"/>
                </a:solidFill>
                <a:latin typeface="Calibri"/>
              </a:rPr>
              <a:t>7</a:t>
            </a:r>
          </a:p>
        </p:txBody>
      </p:sp>
      <p:sp>
        <p:nvSpPr>
          <p:cNvPr id="7" name="TextBox 6"/>
          <p:cNvSpPr txBox="1"/>
          <p:nvPr/>
        </p:nvSpPr>
        <p:spPr>
          <a:xfrm>
            <a:off x="548640" y="1371600"/>
            <a:ext cx="11064240" cy="548640"/>
          </a:xfrm>
          <a:prstGeom prst="rect">
            <a:avLst/>
          </a:prstGeom>
          <a:noFill/>
        </p:spPr>
        <p:txBody>
          <a:bodyPr wrap="square" anchor="t" lIns="50800" rIns="50800" tIns="25400" bIns="25400">
            <a:spAutoFit/>
          </a:bodyPr>
          <a:lstStyle/>
          <a:p>
            <a:pPr algn="l">
              <a:spcAft>
                <a:spcPts val="600"/>
              </a:spcAft>
            </a:pPr>
            <a:r>
              <a:rPr sz="1400" b="0">
                <a:solidFill>
                  <a:srgbClr val="4A5B68"/>
                </a:solidFill>
                <a:latin typeface="Calibri"/>
              </a:rPr>
              <a:t>No hay una única base de datos: hay tres capas con funciones distintas.</a:t>
            </a:r>
          </a:p>
        </p:txBody>
      </p:sp>
      <p:graphicFrame>
        <p:nvGraphicFramePr>
          <p:cNvPr id="8" name="Table 7"/>
          <p:cNvGraphicFramePr>
            <a:graphicFrameLocks noGrp="1"/>
          </p:cNvGraphicFramePr>
          <p:nvPr/>
        </p:nvGraphicFramePr>
        <p:xfrm>
          <a:off x="548640" y="1938528"/>
          <a:ext cx="11064238" cy="365760"/>
        </p:xfrm>
        <a:graphic>
          <a:graphicData uri="http://schemas.openxmlformats.org/drawingml/2006/table">
            <a:tbl>
              <a:tblPr>
                <a:tableStyleId>{5C22544A-7EE6-4342-B048-85BDC9FD1C3A}</a:tableStyleId>
              </a:tblPr>
              <a:tblGrid>
                <a:gridCol w="2175021"/>
                <a:gridCol w="4160910"/>
                <a:gridCol w="2836984"/>
                <a:gridCol w="1891323"/>
              </a:tblGrid>
              <a:tr h="91440">
                <a:tc>
                  <a:txBody>
                    <a:bodyPr/>
                    <a:lstStyle/>
                    <a:p>
                      <a:r>
                        <a:rPr sz="1300" b="1">
                          <a:solidFill>
                            <a:srgbClr val="FFFFFF"/>
                          </a:solidFill>
                          <a:latin typeface="Calibri"/>
                        </a:rPr>
                        <a:t>Capa</a:t>
                      </a:r>
                    </a:p>
                  </a:txBody>
                  <a:tcPr anchor="ctr" marT="25400" marB="25400">
                    <a:solidFill>
                      <a:srgbClr val="013A57"/>
                    </a:solidFill>
                  </a:tcPr>
                </a:tc>
                <a:tc>
                  <a:txBody>
                    <a:bodyPr/>
                    <a:lstStyle/>
                    <a:p>
                      <a:r>
                        <a:rPr sz="1300" b="1">
                          <a:solidFill>
                            <a:srgbClr val="FFFFFF"/>
                          </a:solidFill>
                          <a:latin typeface="Calibri"/>
                        </a:rPr>
                        <a:t>Contenido</a:t>
                      </a:r>
                    </a:p>
                  </a:txBody>
                  <a:tcPr anchor="ctr" marT="25400" marB="25400">
                    <a:solidFill>
                      <a:srgbClr val="013A57"/>
                    </a:solidFill>
                  </a:tcPr>
                </a:tc>
                <a:tc>
                  <a:txBody>
                    <a:bodyPr/>
                    <a:lstStyle/>
                    <a:p>
                      <a:r>
                        <a:rPr sz="1300" b="1">
                          <a:solidFill>
                            <a:srgbClr val="FFFFFF"/>
                          </a:solidFill>
                          <a:latin typeface="Calibri"/>
                        </a:rPr>
                        <a:t>Función</a:t>
                      </a:r>
                    </a:p>
                  </a:txBody>
                  <a:tcPr anchor="ctr" marT="25400" marB="25400">
                    <a:solidFill>
                      <a:srgbClr val="013A57"/>
                    </a:solidFill>
                  </a:tcPr>
                </a:tc>
                <a:tc>
                  <a:txBody>
                    <a:bodyPr/>
                    <a:lstStyle/>
                    <a:p>
                      <a:r>
                        <a:rPr sz="1300" b="1">
                          <a:solidFill>
                            <a:srgbClr val="FFFFFF"/>
                          </a:solidFill>
                          <a:latin typeface="Calibri"/>
                        </a:rPr>
                        <a:t>Herramienta</a:t>
                      </a:r>
                    </a:p>
                  </a:txBody>
                  <a:tcPr anchor="ctr" marT="25400" marB="25400">
                    <a:solidFill>
                      <a:srgbClr val="013A57"/>
                    </a:solidFill>
                  </a:tcPr>
                </a:tc>
              </a:tr>
              <a:tr h="91440">
                <a:tc>
                  <a:txBody>
                    <a:bodyPr/>
                    <a:lstStyle/>
                    <a:p>
                      <a:r>
                        <a:rPr sz="1200" b="1">
                          <a:solidFill>
                            <a:srgbClr val="013A57"/>
                          </a:solidFill>
                          <a:latin typeface="Calibri"/>
                        </a:rPr>
                        <a:t>1. Documentos oficiales</a:t>
                      </a:r>
                    </a:p>
                  </a:txBody>
                  <a:tcPr anchor="ctr" marT="25400" marB="25400">
                    <a:solidFill>
                      <a:srgbClr val="EEF2F6"/>
                    </a:solidFill>
                  </a:tcPr>
                </a:tc>
                <a:tc>
                  <a:txBody>
                    <a:bodyPr/>
                    <a:lstStyle/>
                    <a:p>
                      <a:r>
                        <a:rPr sz="1200" b="0">
                          <a:solidFill>
                            <a:srgbClr val="1B2A38"/>
                          </a:solidFill>
                          <a:latin typeface="Calibri"/>
                        </a:rPr>
                        <a:t>Los ~22 PDF de las normas (BOE, ERSE, GRTgaz, DVGW, Fluxys…), guardados en local</a:t>
                      </a:r>
                    </a:p>
                  </a:txBody>
                  <a:tcPr anchor="ctr" marT="25400" marB="25400">
                    <a:solidFill>
                      <a:srgbClr val="EEF2F6"/>
                    </a:solidFill>
                  </a:tcPr>
                </a:tc>
                <a:tc>
                  <a:txBody>
                    <a:bodyPr/>
                    <a:lstStyle/>
                    <a:p>
                      <a:r>
                        <a:rPr sz="1200" b="0">
                          <a:solidFill>
                            <a:srgbClr val="1B2A38"/>
                          </a:solidFill>
                          <a:latin typeface="Calibri"/>
                        </a:rPr>
                        <a:t>Fuente última de verdad</a:t>
                      </a:r>
                    </a:p>
                  </a:txBody>
                  <a:tcPr anchor="ctr" marT="25400" marB="25400">
                    <a:solidFill>
                      <a:srgbClr val="EEF2F6"/>
                    </a:solidFill>
                  </a:tcPr>
                </a:tc>
                <a:tc>
                  <a:txBody>
                    <a:bodyPr/>
                    <a:lstStyle/>
                    <a:p>
                      <a:r>
                        <a:rPr sz="1200" b="0">
                          <a:solidFill>
                            <a:srgbClr val="1B2A38"/>
                          </a:solidFill>
                          <a:latin typeface="Calibri"/>
                        </a:rPr>
                        <a:t>data/raw/</a:t>
                      </a:r>
                    </a:p>
                  </a:txBody>
                  <a:tcPr anchor="ctr" marT="25400" marB="25400">
                    <a:solidFill>
                      <a:srgbClr val="EEF2F6"/>
                    </a:solidFill>
                  </a:tcPr>
                </a:tc>
              </a:tr>
              <a:tr h="91440">
                <a:tc>
                  <a:txBody>
                    <a:bodyPr/>
                    <a:lstStyle/>
                    <a:p>
                      <a:r>
                        <a:rPr sz="1200" b="1">
                          <a:solidFill>
                            <a:srgbClr val="013A57"/>
                          </a:solidFill>
                          <a:latin typeface="Calibri"/>
                        </a:rPr>
                        <a:t>2. Ontología</a:t>
                      </a:r>
                    </a:p>
                  </a:txBody>
                  <a:tcPr anchor="ctr" marT="25400" marB="25400">
                    <a:solidFill>
                      <a:srgbClr val="FFFFFF"/>
                    </a:solidFill>
                  </a:tcPr>
                </a:tc>
                <a:tc>
                  <a:txBody>
                    <a:bodyPr/>
                    <a:lstStyle/>
                    <a:p>
                      <a:r>
                        <a:rPr sz="1200" b="0">
                          <a:solidFill>
                            <a:srgbClr val="1B2A38"/>
                          </a:solidFill>
                          <a:latin typeface="Calibri"/>
                        </a:rPr>
                        <a:t>Las 210 cifras extraídas de esos PDF, con su contexto y su cita</a:t>
                      </a:r>
                    </a:p>
                  </a:txBody>
                  <a:tcPr anchor="ctr" marT="25400" marB="25400">
                    <a:solidFill>
                      <a:srgbClr val="FFFFFF"/>
                    </a:solidFill>
                  </a:tcPr>
                </a:tc>
                <a:tc>
                  <a:txBody>
                    <a:bodyPr/>
                    <a:lstStyle/>
                    <a:p>
                      <a:r>
                        <a:rPr sz="1200" b="0">
                          <a:solidFill>
                            <a:srgbClr val="1B2A38"/>
                          </a:solidFill>
                          <a:latin typeface="Calibri"/>
                        </a:rPr>
                        <a:t>De aquí salen TODAS las respuestas</a:t>
                      </a:r>
                    </a:p>
                  </a:txBody>
                  <a:tcPr anchor="ctr" marT="25400" marB="25400">
                    <a:solidFill>
                      <a:srgbClr val="FFFFFF"/>
                    </a:solidFill>
                  </a:tcPr>
                </a:tc>
                <a:tc>
                  <a:txBody>
                    <a:bodyPr/>
                    <a:lstStyle/>
                    <a:p>
                      <a:r>
                        <a:rPr sz="1200" b="0">
                          <a:solidFill>
                            <a:srgbClr val="1B2A38"/>
                          </a:solidFill>
                          <a:latin typeface="Calibri"/>
                        </a:rPr>
                        <a:t>YAML + PyYAML</a:t>
                      </a:r>
                    </a:p>
                  </a:txBody>
                  <a:tcPr anchor="ctr" marT="25400" marB="25400">
                    <a:solidFill>
                      <a:srgbClr val="FFFFFF"/>
                    </a:solidFill>
                  </a:tcPr>
                </a:tc>
              </a:tr>
              <a:tr h="91440">
                <a:tc>
                  <a:txBody>
                    <a:bodyPr/>
                    <a:lstStyle/>
                    <a:p>
                      <a:r>
                        <a:rPr sz="1200" b="1">
                          <a:solidFill>
                            <a:srgbClr val="013A57"/>
                          </a:solidFill>
                          <a:latin typeface="Calibri"/>
                        </a:rPr>
                        <a:t>3. Índice documental (RAG)</a:t>
                      </a:r>
                    </a:p>
                  </a:txBody>
                  <a:tcPr anchor="ctr" marT="25400" marB="25400">
                    <a:solidFill>
                      <a:srgbClr val="EEF2F6"/>
                    </a:solidFill>
                  </a:tcPr>
                </a:tc>
                <a:tc>
                  <a:txBody>
                    <a:bodyPr/>
                    <a:lstStyle/>
                    <a:p>
                      <a:r>
                        <a:rPr sz="1200" b="0">
                          <a:solidFill>
                            <a:srgbClr val="1B2A38"/>
                          </a:solidFill>
                          <a:latin typeface="Calibri"/>
                        </a:rPr>
                        <a:t>El TEXTO de los PDF troceado en fragmentos con solape</a:t>
                      </a:r>
                    </a:p>
                  </a:txBody>
                  <a:tcPr anchor="ctr" marT="25400" marB="25400">
                    <a:solidFill>
                      <a:srgbClr val="EEF2F6"/>
                    </a:solidFill>
                  </a:tcPr>
                </a:tc>
                <a:tc>
                  <a:txBody>
                    <a:bodyPr/>
                    <a:lstStyle/>
                    <a:p>
                      <a:r>
                        <a:rPr sz="1200" b="0">
                          <a:solidFill>
                            <a:srgbClr val="1B2A38"/>
                          </a:solidFill>
                          <a:latin typeface="Calibri"/>
                        </a:rPr>
                        <a:t>Buscador interno para texto abierto</a:t>
                      </a:r>
                    </a:p>
                  </a:txBody>
                  <a:tcPr anchor="ctr" marT="25400" marB="25400">
                    <a:solidFill>
                      <a:srgbClr val="EEF2F6"/>
                    </a:solidFill>
                  </a:tcPr>
                </a:tc>
                <a:tc>
                  <a:txBody>
                    <a:bodyPr/>
                    <a:lstStyle/>
                    <a:p>
                      <a:r>
                        <a:rPr sz="1200" b="0">
                          <a:solidFill>
                            <a:srgbClr val="1B2A38"/>
                          </a:solidFill>
                          <a:latin typeface="Calibri"/>
                        </a:rPr>
                        <a:t>SQLite + pdfplumber</a:t>
                      </a:r>
                    </a:p>
                  </a:txBody>
                  <a:tcPr anchor="ctr" marT="25400" marB="25400">
                    <a:solidFill>
                      <a:srgbClr val="EEF2F6"/>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10515600" cy="731520"/>
          </a:xfrm>
          <a:prstGeom prst="rect">
            <a:avLst/>
          </a:prstGeom>
          <a:noFill/>
        </p:spPr>
        <p:txBody>
          <a:bodyPr wrap="square" anchor="ctr" lIns="50800" rIns="50800" tIns="25400" bIns="25400">
            <a:spAutoFit/>
          </a:bodyPr>
          <a:lstStyle/>
          <a:p>
            <a:pPr algn="l">
              <a:spcAft>
                <a:spcPts val="600"/>
              </a:spcAft>
            </a:pPr>
            <a:r>
              <a:rPr sz="2600" b="1">
                <a:solidFill>
                  <a:srgbClr val="FFFFFF"/>
                </a:solidFill>
                <a:latin typeface="Calibri"/>
              </a:rPr>
              <a:t>La ontología: estructura</a:t>
            </a:r>
          </a:p>
        </p:txBody>
      </p:sp>
      <p:sp>
        <p:nvSpPr>
          <p:cNvPr id="5" name="TextBox 4"/>
          <p:cNvSpPr txBox="1"/>
          <p:nvPr/>
        </p:nvSpPr>
        <p:spPr>
          <a:xfrm>
            <a:off x="502920" y="6446520"/>
            <a:ext cx="8229600" cy="320040"/>
          </a:xfrm>
          <a:prstGeom prst="rect">
            <a:avLst/>
          </a:prstGeom>
          <a:noFill/>
        </p:spPr>
        <p:txBody>
          <a:bodyPr wrap="square" anchor="t" lIns="50800" rIns="50800" tIns="25400" bIns="254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46520"/>
            <a:ext cx="822960" cy="320040"/>
          </a:xfrm>
          <a:prstGeom prst="rect">
            <a:avLst/>
          </a:prstGeom>
          <a:noFill/>
        </p:spPr>
        <p:txBody>
          <a:bodyPr wrap="square" anchor="t" lIns="50800" rIns="50800" tIns="25400" bIns="25400">
            <a:spAutoFit/>
          </a:bodyPr>
          <a:lstStyle/>
          <a:p>
            <a:pPr algn="r">
              <a:spcAft>
                <a:spcPts val="600"/>
              </a:spcAft>
            </a:pPr>
            <a:r>
              <a:rPr sz="1000" b="0">
                <a:solidFill>
                  <a:srgbClr val="4A5B68"/>
                </a:solidFill>
                <a:latin typeface="Calibri"/>
              </a:rPr>
              <a:t>8</a:t>
            </a:r>
          </a:p>
        </p:txBody>
      </p:sp>
      <p:sp>
        <p:nvSpPr>
          <p:cNvPr id="7" name="TextBox 6"/>
          <p:cNvSpPr txBox="1"/>
          <p:nvPr/>
        </p:nvSpPr>
        <p:spPr>
          <a:xfrm>
            <a:off x="548640" y="1280160"/>
            <a:ext cx="11064240" cy="411480"/>
          </a:xfrm>
          <a:prstGeom prst="rect">
            <a:avLst/>
          </a:prstGeom>
          <a:noFill/>
        </p:spPr>
        <p:txBody>
          <a:bodyPr wrap="square" anchor="t" lIns="50800" rIns="50800" tIns="25400" bIns="25400">
            <a:spAutoFit/>
          </a:bodyPr>
          <a:lstStyle/>
          <a:p>
            <a:pPr algn="l">
              <a:spcAft>
                <a:spcPts val="600"/>
              </a:spcAft>
            </a:pPr>
            <a:r>
              <a:rPr sz="1400" b="0">
                <a:solidFill>
                  <a:srgbClr val="4A5B68"/>
                </a:solidFill>
                <a:latin typeface="Calibri"/>
              </a:rPr>
              <a:t>El corazón del sistema: la base de conocimiento verificada.</a:t>
            </a:r>
          </a:p>
        </p:txBody>
      </p:sp>
      <p:pic>
        <p:nvPicPr>
          <p:cNvPr id="8" name="Picture 7" descr="Ontologia_Estructura.png"/>
          <p:cNvPicPr>
            <a:picLocks noChangeAspect="1"/>
          </p:cNvPicPr>
          <p:nvPr/>
        </p:nvPicPr>
        <p:blipFill>
          <a:blip r:embed="rId2"/>
          <a:stretch>
            <a:fillRect/>
          </a:stretch>
        </p:blipFill>
        <p:spPr>
          <a:xfrm>
            <a:off x="502920" y="1737360"/>
            <a:ext cx="5943600" cy="4617720"/>
          </a:xfrm>
          <a:prstGeom prst="rect">
            <a:avLst/>
          </a:prstGeom>
        </p:spPr>
      </p:pic>
      <p:sp>
        <p:nvSpPr>
          <p:cNvPr id="9" name="TextBox 8"/>
          <p:cNvSpPr txBox="1"/>
          <p:nvPr/>
        </p:nvSpPr>
        <p:spPr>
          <a:xfrm>
            <a:off x="7223760" y="1737360"/>
            <a:ext cx="4480560" cy="4617720"/>
          </a:xfrm>
          <a:prstGeom prst="rect">
            <a:avLst/>
          </a:prstGeom>
          <a:noFill/>
        </p:spPr>
        <p:txBody>
          <a:bodyPr wrap="square" anchor="t" lIns="50800" rIns="50800" tIns="25400" bIns="25400">
            <a:spAutoFit/>
          </a:bodyPr>
          <a:lstStyle/>
          <a:p>
            <a:pPr algn="l">
              <a:spcAft>
                <a:spcPts val="1100"/>
              </a:spcAft>
            </a:pPr>
            <a:r>
              <a:rPr sz="1500" b="0">
                <a:solidFill>
                  <a:srgbClr val="1B2A38"/>
                </a:solidFill>
                <a:latin typeface="Calibri"/>
              </a:rPr>
              <a:t>• Un único fichero YAML, legible por una persona: 210 cifras de gas natural con su contexto.</a:t>
            </a:r>
          </a:p>
          <a:p>
            <a:pPr algn="l">
              <a:spcAft>
                <a:spcPts val="1100"/>
              </a:spcAft>
            </a:pPr>
            <a:r>
              <a:rPr sz="1500" b="0">
                <a:solidFill>
                  <a:srgbClr val="1B2A38"/>
                </a:solidFill>
                <a:latin typeface="Calibri"/>
              </a:rPr>
              <a:t>• Un catálogo de 39 normas oficiales: cada valor enlaza con la suya.</a:t>
            </a:r>
          </a:p>
          <a:p>
            <a:pPr algn="l">
              <a:spcAft>
                <a:spcPts val="1100"/>
              </a:spcAft>
            </a:pPr>
            <a:r>
              <a:rPr sz="1500" b="0">
                <a:solidFill>
                  <a:srgbClr val="1B2A38"/>
                </a:solidFill>
                <a:latin typeface="Calibri"/>
              </a:rPr>
              <a:t>• Tres secciones de parámetros (3 tipos de gas) con EXACTAMENTE el mismo esquema.</a:t>
            </a:r>
          </a:p>
          <a:p>
            <a:pPr algn="l">
              <a:spcAft>
                <a:spcPts val="1100"/>
              </a:spcAft>
            </a:pPr>
            <a:r>
              <a:rPr sz="1500" b="0">
                <a:solidFill>
                  <a:srgbClr val="1B2A38"/>
                </a:solidFill>
                <a:latin typeface="Calibri"/>
              </a:rPr>
              <a:t>• El motor determinista lee de aquí. El LLM nunca calcula ni inventa valores.</a:t>
            </a:r>
          </a:p>
          <a:p>
            <a:pPr algn="l">
              <a:spcAft>
                <a:spcPts val="1100"/>
              </a:spcAft>
            </a:pPr>
            <a:r>
              <a:rPr sz="1500" b="0">
                <a:solidFill>
                  <a:srgbClr val="1B2A38"/>
                </a:solidFill>
                <a:latin typeface="Calibri"/>
              </a:rPr>
              <a:t>• ¿Por qué YAML y no una base de datos? Porque a esta escala es más AUDITABLE y TRAZABLE, y se versiona en git junto al código.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10515600" cy="731520"/>
          </a:xfrm>
          <a:prstGeom prst="rect">
            <a:avLst/>
          </a:prstGeom>
          <a:noFill/>
        </p:spPr>
        <p:txBody>
          <a:bodyPr wrap="square" anchor="ctr" lIns="50800" rIns="50800" tIns="25400" bIns="25400">
            <a:spAutoFit/>
          </a:bodyPr>
          <a:lstStyle/>
          <a:p>
            <a:pPr algn="l">
              <a:spcAft>
                <a:spcPts val="600"/>
              </a:spcAft>
            </a:pPr>
            <a:r>
              <a:rPr sz="2600" b="1">
                <a:solidFill>
                  <a:srgbClr val="FFFFFF"/>
                </a:solidFill>
                <a:latin typeface="Calibri"/>
              </a:rPr>
              <a:t>Qué contiene la ontología</a:t>
            </a:r>
          </a:p>
        </p:txBody>
      </p:sp>
      <p:sp>
        <p:nvSpPr>
          <p:cNvPr id="5" name="TextBox 4"/>
          <p:cNvSpPr txBox="1"/>
          <p:nvPr/>
        </p:nvSpPr>
        <p:spPr>
          <a:xfrm>
            <a:off x="502920" y="6446520"/>
            <a:ext cx="8229600" cy="320040"/>
          </a:xfrm>
          <a:prstGeom prst="rect">
            <a:avLst/>
          </a:prstGeom>
          <a:noFill/>
        </p:spPr>
        <p:txBody>
          <a:bodyPr wrap="square" anchor="t" lIns="50800" rIns="50800" tIns="25400" bIns="254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46520"/>
            <a:ext cx="822960" cy="320040"/>
          </a:xfrm>
          <a:prstGeom prst="rect">
            <a:avLst/>
          </a:prstGeom>
          <a:noFill/>
        </p:spPr>
        <p:txBody>
          <a:bodyPr wrap="square" anchor="t" lIns="50800" rIns="50800" tIns="25400" bIns="25400">
            <a:spAutoFit/>
          </a:bodyPr>
          <a:lstStyle/>
          <a:p>
            <a:pPr algn="r">
              <a:spcAft>
                <a:spcPts val="600"/>
              </a:spcAft>
            </a:pPr>
            <a:r>
              <a:rPr sz="1000" b="0">
                <a:solidFill>
                  <a:srgbClr val="4A5B68"/>
                </a:solidFill>
                <a:latin typeface="Calibri"/>
              </a:rPr>
              <a:t>9</a:t>
            </a:r>
          </a:p>
        </p:txBody>
      </p:sp>
      <p:sp>
        <p:nvSpPr>
          <p:cNvPr id="7" name="TextBox 6"/>
          <p:cNvSpPr txBox="1"/>
          <p:nvPr/>
        </p:nvSpPr>
        <p:spPr>
          <a:xfrm>
            <a:off x="548640" y="1371600"/>
            <a:ext cx="11064240" cy="548640"/>
          </a:xfrm>
          <a:prstGeom prst="rect">
            <a:avLst/>
          </a:prstGeom>
          <a:noFill/>
        </p:spPr>
        <p:txBody>
          <a:bodyPr wrap="square" anchor="t" lIns="50800" rIns="50800" tIns="25400" bIns="25400">
            <a:spAutoFit/>
          </a:bodyPr>
          <a:lstStyle/>
          <a:p>
            <a:pPr algn="l">
              <a:spcAft>
                <a:spcPts val="600"/>
              </a:spcAft>
            </a:pPr>
            <a:r>
              <a:rPr sz="1400" b="0">
                <a:solidFill>
                  <a:srgbClr val="4A5B68"/>
                </a:solidFill>
                <a:latin typeface="Calibri"/>
              </a:rPr>
              <a:t>Un único fichero: data/ontologia/ontologia_enagas.yaml</a:t>
            </a:r>
          </a:p>
        </p:txBody>
      </p:sp>
      <p:graphicFrame>
        <p:nvGraphicFramePr>
          <p:cNvPr id="8" name="Table 7"/>
          <p:cNvGraphicFramePr>
            <a:graphicFrameLocks noGrp="1"/>
          </p:cNvGraphicFramePr>
          <p:nvPr/>
        </p:nvGraphicFramePr>
        <p:xfrm>
          <a:off x="548640" y="1938528"/>
          <a:ext cx="11064238" cy="365760"/>
        </p:xfrm>
        <a:graphic>
          <a:graphicData uri="http://schemas.openxmlformats.org/drawingml/2006/table">
            <a:tbl>
              <a:tblPr>
                <a:tableStyleId>{5C22544A-7EE6-4342-B048-85BDC9FD1C3A}</a:tableStyleId>
              </a:tblPr>
              <a:tblGrid>
                <a:gridCol w="2926079"/>
                <a:gridCol w="8138159"/>
              </a:tblGrid>
              <a:tr h="60960">
                <a:tc>
                  <a:txBody>
                    <a:bodyPr/>
                    <a:lstStyle/>
                    <a:p>
                      <a:r>
                        <a:rPr sz="1300" b="1">
                          <a:solidFill>
                            <a:srgbClr val="FFFFFF"/>
                          </a:solidFill>
                          <a:latin typeface="Calibri"/>
                        </a:rPr>
                        <a:t>Clave del fichero</a:t>
                      </a:r>
                    </a:p>
                  </a:txBody>
                  <a:tcPr anchor="ctr" marT="25400" marB="25400">
                    <a:solidFill>
                      <a:srgbClr val="013A57"/>
                    </a:solidFill>
                  </a:tcPr>
                </a:tc>
                <a:tc>
                  <a:txBody>
                    <a:bodyPr/>
                    <a:lstStyle/>
                    <a:p>
                      <a:r>
                        <a:rPr sz="1300" b="1">
                          <a:solidFill>
                            <a:srgbClr val="FFFFFF"/>
                          </a:solidFill>
                          <a:latin typeface="Calibri"/>
                        </a:rPr>
                        <a:t>Contenido</a:t>
                      </a:r>
                    </a:p>
                  </a:txBody>
                  <a:tcPr anchor="ctr" marT="25400" marB="25400">
                    <a:solidFill>
                      <a:srgbClr val="013A57"/>
                    </a:solidFill>
                  </a:tcPr>
                </a:tc>
              </a:tr>
              <a:tr h="60960">
                <a:tc>
                  <a:txBody>
                    <a:bodyPr/>
                    <a:lstStyle/>
                    <a:p>
                      <a:r>
                        <a:rPr sz="1300" b="1">
                          <a:solidFill>
                            <a:srgbClr val="013A57"/>
                          </a:solidFill>
                          <a:latin typeface="Calibri"/>
                        </a:rPr>
                        <a:t>ontologia.fuentes_normativas</a:t>
                      </a:r>
                    </a:p>
                  </a:txBody>
                  <a:tcPr anchor="ctr" marT="25400" marB="25400">
                    <a:solidFill>
                      <a:srgbClr val="EEF2F6"/>
                    </a:solidFill>
                  </a:tcPr>
                </a:tc>
                <a:tc>
                  <a:txBody>
                    <a:bodyPr/>
                    <a:lstStyle/>
                    <a:p>
                      <a:r>
                        <a:rPr sz="1300" b="0">
                          <a:solidFill>
                            <a:srgbClr val="1B2A38"/>
                          </a:solidFill>
                          <a:latin typeface="Calibri"/>
                        </a:rPr>
                        <a:t>El catálogo de las 39 normas oficiales: id, nombre, organismo, publicación, URL (cita) y PDF (copia local).</a:t>
                      </a:r>
                    </a:p>
                  </a:txBody>
                  <a:tcPr anchor="ctr" marT="25400" marB="25400">
                    <a:solidFill>
                      <a:srgbClr val="EEF2F6"/>
                    </a:solidFill>
                  </a:tcPr>
                </a:tc>
              </a:tr>
              <a:tr h="60960">
                <a:tc>
                  <a:txBody>
                    <a:bodyPr/>
                    <a:lstStyle/>
                    <a:p>
                      <a:r>
                        <a:rPr sz="1300" b="1">
                          <a:solidFill>
                            <a:srgbClr val="013A57"/>
                          </a:solidFill>
                          <a:latin typeface="Calibri"/>
                        </a:rPr>
                        <a:t>ontologia.tipos_gas</a:t>
                      </a:r>
                    </a:p>
                  </a:txBody>
                  <a:tcPr anchor="ctr" marT="25400" marB="25400">
                    <a:solidFill>
                      <a:srgbClr val="FFFFFF"/>
                    </a:solidFill>
                  </a:tcPr>
                </a:tc>
                <a:tc>
                  <a:txBody>
                    <a:bodyPr/>
                    <a:lstStyle/>
                    <a:p>
                      <a:r>
                        <a:rPr sz="1300" b="0">
                          <a:solidFill>
                            <a:srgbClr val="1B2A38"/>
                          </a:solidFill>
                          <a:latin typeface="Calibri"/>
                        </a:rPr>
                        <a:t>El registro de los 3 tipos de gas y a qué sección de parámetros apunta cada uno.</a:t>
                      </a:r>
                    </a:p>
                  </a:txBody>
                  <a:tcPr anchor="ctr" marT="25400" marB="25400">
                    <a:solidFill>
                      <a:srgbClr val="FFFFFF"/>
                    </a:solidFill>
                  </a:tcPr>
                </a:tc>
              </a:tr>
              <a:tr h="60960">
                <a:tc>
                  <a:txBody>
                    <a:bodyPr/>
                    <a:lstStyle/>
                    <a:p>
                      <a:r>
                        <a:rPr sz="1300" b="1">
                          <a:solidFill>
                            <a:srgbClr val="013A57"/>
                          </a:solidFill>
                          <a:latin typeface="Calibri"/>
                        </a:rPr>
                        <a:t>parametros</a:t>
                      </a:r>
                    </a:p>
                  </a:txBody>
                  <a:tcPr anchor="ctr" marT="25400" marB="25400">
                    <a:solidFill>
                      <a:srgbClr val="EEF2F6"/>
                    </a:solidFill>
                  </a:tcPr>
                </a:tc>
                <a:tc>
                  <a:txBody>
                    <a:bodyPr/>
                    <a:lstStyle/>
                    <a:p>
                      <a:r>
                        <a:rPr sz="1300" b="0">
                          <a:solidFill>
                            <a:srgbClr val="1B2A38"/>
                          </a:solidFill>
                          <a:latin typeface="Calibri"/>
                        </a:rPr>
                        <a:t>GAS NATURAL: los 10 parámetros, cada uno con un bloque 'limites:' con una entrada por país (×21).</a:t>
                      </a:r>
                    </a:p>
                  </a:txBody>
                  <a:tcPr anchor="ctr" marT="25400" marB="25400">
                    <a:solidFill>
                      <a:srgbClr val="EEF2F6"/>
                    </a:solidFill>
                  </a:tcPr>
                </a:tc>
              </a:tr>
              <a:tr h="60960">
                <a:tc>
                  <a:txBody>
                    <a:bodyPr/>
                    <a:lstStyle/>
                    <a:p>
                      <a:r>
                        <a:rPr sz="1300" b="1">
                          <a:solidFill>
                            <a:srgbClr val="013A57"/>
                          </a:solidFill>
                          <a:latin typeface="Calibri"/>
                        </a:rPr>
                        <a:t>parametros_biometano</a:t>
                      </a:r>
                    </a:p>
                  </a:txBody>
                  <a:tcPr anchor="ctr" marT="25400" marB="25400">
                    <a:solidFill>
                      <a:srgbClr val="FFFFFF"/>
                    </a:solidFill>
                  </a:tcPr>
                </a:tc>
                <a:tc>
                  <a:txBody>
                    <a:bodyPr/>
                    <a:lstStyle/>
                    <a:p>
                      <a:r>
                        <a:rPr sz="1300" b="0">
                          <a:solidFill>
                            <a:srgbClr val="1B2A38"/>
                          </a:solidFill>
                          <a:latin typeface="Calibri"/>
                        </a:rPr>
                        <a:t>BIOMETANO: 12 parámetros, con límites por jurisdicción (España, Portugal, Francia, UE).</a:t>
                      </a:r>
                    </a:p>
                  </a:txBody>
                  <a:tcPr anchor="ctr" marT="25400" marB="25400">
                    <a:solidFill>
                      <a:srgbClr val="FFFFFF"/>
                    </a:solidFill>
                  </a:tcPr>
                </a:tc>
              </a:tr>
              <a:tr h="60960">
                <a:tc>
                  <a:txBody>
                    <a:bodyPr/>
                    <a:lstStyle/>
                    <a:p>
                      <a:r>
                        <a:rPr sz="1300" b="1">
                          <a:solidFill>
                            <a:srgbClr val="013A57"/>
                          </a:solidFill>
                          <a:latin typeface="Calibri"/>
                        </a:rPr>
                        <a:t>parametros_hidrogeno</a:t>
                      </a:r>
                    </a:p>
                  </a:txBody>
                  <a:tcPr anchor="ctr" marT="25400" marB="25400">
                    <a:solidFill>
                      <a:srgbClr val="EEF2F6"/>
                    </a:solidFill>
                  </a:tcPr>
                </a:tc>
                <a:tc>
                  <a:txBody>
                    <a:bodyPr/>
                    <a:lstStyle/>
                    <a:p>
                      <a:r>
                        <a:rPr sz="1300" b="0">
                          <a:solidFill>
                            <a:srgbClr val="1B2A38"/>
                          </a:solidFill>
                          <a:latin typeface="Calibri"/>
                        </a:rPr>
                        <a:t>HIDRÓGENO: 18 parámetros, con límites por jurisdicción (dominio de red y de producto).</a:t>
                      </a:r>
                    </a:p>
                  </a:txBody>
                  <a:tcPr anchor="ctr" marT="25400" marB="25400">
                    <a:solidFill>
                      <a:srgbClr val="EEF2F6"/>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10515600" cy="731520"/>
          </a:xfrm>
          <a:prstGeom prst="rect">
            <a:avLst/>
          </a:prstGeom>
          <a:noFill/>
        </p:spPr>
        <p:txBody>
          <a:bodyPr wrap="square" anchor="ctr" lIns="50800" rIns="50800" tIns="25400" bIns="25400">
            <a:spAutoFit/>
          </a:bodyPr>
          <a:lstStyle/>
          <a:p>
            <a:pPr algn="l">
              <a:spcAft>
                <a:spcPts val="600"/>
              </a:spcAft>
            </a:pPr>
            <a:r>
              <a:rPr sz="2600" b="1">
                <a:solidFill>
                  <a:srgbClr val="FFFFFF"/>
                </a:solidFill>
                <a:latin typeface="Calibri"/>
              </a:rPr>
              <a:t>Anatomía de un valor</a:t>
            </a:r>
          </a:p>
        </p:txBody>
      </p:sp>
      <p:sp>
        <p:nvSpPr>
          <p:cNvPr id="5" name="TextBox 4"/>
          <p:cNvSpPr txBox="1"/>
          <p:nvPr/>
        </p:nvSpPr>
        <p:spPr>
          <a:xfrm>
            <a:off x="502920" y="6446520"/>
            <a:ext cx="8229600" cy="320040"/>
          </a:xfrm>
          <a:prstGeom prst="rect">
            <a:avLst/>
          </a:prstGeom>
          <a:noFill/>
        </p:spPr>
        <p:txBody>
          <a:bodyPr wrap="square" anchor="t" lIns="50800" rIns="50800" tIns="25400" bIns="254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46520"/>
            <a:ext cx="822960" cy="320040"/>
          </a:xfrm>
          <a:prstGeom prst="rect">
            <a:avLst/>
          </a:prstGeom>
          <a:noFill/>
        </p:spPr>
        <p:txBody>
          <a:bodyPr wrap="square" anchor="t" lIns="50800" rIns="50800" tIns="25400" bIns="25400">
            <a:spAutoFit/>
          </a:bodyPr>
          <a:lstStyle/>
          <a:p>
            <a:pPr algn="r">
              <a:spcAft>
                <a:spcPts val="600"/>
              </a:spcAft>
            </a:pPr>
            <a:r>
              <a:rPr sz="1000" b="0">
                <a:solidFill>
                  <a:srgbClr val="4A5B68"/>
                </a:solidFill>
                <a:latin typeface="Calibri"/>
              </a:rPr>
              <a:t>10</a:t>
            </a:r>
          </a:p>
        </p:txBody>
      </p:sp>
      <p:sp>
        <p:nvSpPr>
          <p:cNvPr id="7" name="TextBox 6"/>
          <p:cNvSpPr txBox="1"/>
          <p:nvPr/>
        </p:nvSpPr>
        <p:spPr>
          <a:xfrm>
            <a:off x="548640" y="1280160"/>
            <a:ext cx="11064240" cy="457200"/>
          </a:xfrm>
          <a:prstGeom prst="rect">
            <a:avLst/>
          </a:prstGeom>
          <a:noFill/>
        </p:spPr>
        <p:txBody>
          <a:bodyPr wrap="square" anchor="t" lIns="50800" rIns="50800" tIns="25400" bIns="25400">
            <a:spAutoFit/>
          </a:bodyPr>
          <a:lstStyle/>
          <a:p>
            <a:pPr algn="l">
              <a:spcAft>
                <a:spcPts val="600"/>
              </a:spcAft>
            </a:pPr>
            <a:r>
              <a:rPr sz="1500" b="0">
                <a:solidFill>
                  <a:srgbClr val="4A5B68"/>
                </a:solidFill>
                <a:latin typeface="Calibri"/>
              </a:rPr>
              <a:t>Cada límite NO es solo un número: guarda todo su contexto normativo. Ejemplo real — el O2 de España:</a:t>
            </a:r>
          </a:p>
        </p:txBody>
      </p:sp>
      <p:sp>
        <p:nvSpPr>
          <p:cNvPr id="8" name="Rectangle 7"/>
          <p:cNvSpPr/>
          <p:nvPr/>
        </p:nvSpPr>
        <p:spPr>
          <a:xfrm>
            <a:off x="548640" y="1828800"/>
            <a:ext cx="6309360" cy="3200400"/>
          </a:xfrm>
          <a:prstGeom prst="rect">
            <a:avLst/>
          </a:prstGeom>
          <a:solidFill>
            <a:srgbClr val="F5F8FA"/>
          </a:solidFill>
          <a:ln w="12700">
            <a:solidFill>
              <a:srgbClr val="DDE4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65960"/>
            <a:ext cx="6035040" cy="2926080"/>
          </a:xfrm>
          <a:prstGeom prst="rect">
            <a:avLst/>
          </a:prstGeom>
          <a:noFill/>
        </p:spPr>
        <p:txBody>
          <a:bodyPr wrap="square" anchor="t" lIns="50800" rIns="50800" tIns="25400" bIns="25400">
            <a:spAutoFit/>
          </a:bodyPr>
          <a:lstStyle/>
          <a:p>
            <a:pPr algn="l">
              <a:spcAft>
                <a:spcPts val="200"/>
              </a:spcAft>
            </a:pPr>
            <a:r>
              <a:rPr sz="1300" b="1">
                <a:solidFill>
                  <a:srgbClr val="013A57"/>
                </a:solidFill>
                <a:latin typeface="Consolas"/>
              </a:rPr>
              <a:t>ES:</a:t>
            </a:r>
          </a:p>
          <a:p>
            <a:pPr algn="l">
              <a:spcAft>
                <a:spcPts val="200"/>
              </a:spcAft>
            </a:pPr>
            <a:r>
              <a:rPr sz="1200" b="0">
                <a:solidFill>
                  <a:srgbClr val="1B2A38"/>
                </a:solidFill>
                <a:latin typeface="Consolas"/>
              </a:rPr>
              <a:t>  fuente: ORDEN_TED_181_2025</a:t>
            </a:r>
          </a:p>
          <a:p>
            <a:pPr algn="l">
              <a:spcAft>
                <a:spcPts val="200"/>
              </a:spcAft>
            </a:pPr>
            <a:r>
              <a:rPr sz="1200" b="0">
                <a:solidFill>
                  <a:srgbClr val="1B2A38"/>
                </a:solidFill>
                <a:latin typeface="Consolas"/>
              </a:rPr>
              <a:t>  articulo: "Tabla 3, apdo. 2.5.2.1 (pág. 27)"</a:t>
            </a:r>
          </a:p>
          <a:p>
            <a:pPr algn="l">
              <a:spcAft>
                <a:spcPts val="200"/>
              </a:spcAft>
            </a:pPr>
            <a:r>
              <a:rPr sz="1200" b="0">
                <a:solidFill>
                  <a:srgbClr val="1B2A38"/>
                </a:solidFill>
                <a:latin typeface="Consolas"/>
              </a:rPr>
              <a:t>  tipo_limite: maximo</a:t>
            </a:r>
          </a:p>
          <a:p>
            <a:pPr algn="l">
              <a:spcAft>
                <a:spcPts val="200"/>
              </a:spcAft>
            </a:pPr>
            <a:r>
              <a:rPr sz="1200" b="0">
                <a:solidFill>
                  <a:srgbClr val="1B2A38"/>
                </a:solidFill>
                <a:latin typeface="Consolas"/>
              </a:rPr>
              <a:t>  valor: 0.01</a:t>
            </a:r>
          </a:p>
          <a:p>
            <a:pPr algn="l">
              <a:spcAft>
                <a:spcPts val="200"/>
              </a:spcAft>
            </a:pPr>
            <a:r>
              <a:rPr sz="1200" b="0">
                <a:solidFill>
                  <a:srgbClr val="1B2A38"/>
                </a:solidFill>
                <a:latin typeface="Consolas"/>
              </a:rPr>
              <a:t>  unidad: pct_mol</a:t>
            </a:r>
          </a:p>
          <a:p>
            <a:pPr algn="l">
              <a:spcAft>
                <a:spcPts val="200"/>
              </a:spcAft>
            </a:pPr>
            <a:r>
              <a:rPr sz="1200" b="0">
                <a:solidFill>
                  <a:srgbClr val="1B2A38"/>
                </a:solidFill>
                <a:latin typeface="Consolas"/>
              </a:rPr>
              <a:t>  expresion_original: "O2: – / 0,01 % mol"</a:t>
            </a:r>
          </a:p>
          <a:p>
            <a:pPr algn="l">
              <a:spcAft>
                <a:spcPts val="200"/>
              </a:spcAft>
            </a:pPr>
            <a:r>
              <a:rPr sz="1200" b="0">
                <a:solidFill>
                  <a:srgbClr val="1B2A38"/>
                </a:solidFill>
                <a:latin typeface="Consolas"/>
              </a:rPr>
              <a:t>  condiciones_referencia:</a:t>
            </a:r>
          </a:p>
          <a:p>
            <a:pPr algn="l">
              <a:spcAft>
                <a:spcPts val="200"/>
              </a:spcAft>
            </a:pPr>
            <a:r>
              <a:rPr sz="1200" b="0">
                <a:solidFill>
                  <a:srgbClr val="1B2A38"/>
                </a:solidFill>
                <a:latin typeface="Consolas"/>
              </a:rPr>
              <a:t>    temperatura_volumen_C: 0</a:t>
            </a:r>
          </a:p>
          <a:p>
            <a:pPr algn="l">
              <a:spcAft>
                <a:spcPts val="200"/>
              </a:spcAft>
            </a:pPr>
            <a:r>
              <a:rPr sz="1200" b="0">
                <a:solidFill>
                  <a:srgbClr val="1B2A38"/>
                </a:solidFill>
                <a:latin typeface="Consolas"/>
              </a:rPr>
              <a:t>    presion_bar: 1.01325</a:t>
            </a:r>
          </a:p>
          <a:p>
            <a:pPr algn="l">
              <a:spcAft>
                <a:spcPts val="200"/>
              </a:spcAft>
            </a:pPr>
            <a:r>
              <a:rPr sz="1200" b="1">
                <a:solidFill>
                  <a:srgbClr val="6CB33E"/>
                </a:solidFill>
                <a:latin typeface="Consolas"/>
              </a:rPr>
              <a:t>  estado_verificacion: VERIFICADO</a:t>
            </a:r>
          </a:p>
        </p:txBody>
      </p:sp>
      <p:sp>
        <p:nvSpPr>
          <p:cNvPr id="10" name="TextBox 9"/>
          <p:cNvSpPr txBox="1"/>
          <p:nvPr/>
        </p:nvSpPr>
        <p:spPr>
          <a:xfrm>
            <a:off x="7086600" y="1828800"/>
            <a:ext cx="4526280" cy="3291840"/>
          </a:xfrm>
          <a:prstGeom prst="rect">
            <a:avLst/>
          </a:prstGeom>
          <a:noFill/>
        </p:spPr>
        <p:txBody>
          <a:bodyPr wrap="square" anchor="t" lIns="50800" rIns="50800" tIns="25400" bIns="25400">
            <a:spAutoFit/>
          </a:bodyPr>
          <a:lstStyle/>
          <a:p>
            <a:pPr algn="l">
              <a:spcAft>
                <a:spcPts val="900"/>
              </a:spcAft>
            </a:pPr>
            <a:r>
              <a:rPr sz="1400" b="0">
                <a:solidFill>
                  <a:srgbClr val="1B2A38"/>
                </a:solidFill>
                <a:latin typeface="Calibri"/>
              </a:rPr>
              <a:t>• fuente — de qué norma sale (enlaza al catálogo).</a:t>
            </a:r>
          </a:p>
          <a:p>
            <a:pPr algn="l">
              <a:spcAft>
                <a:spcPts val="900"/>
              </a:spcAft>
            </a:pPr>
            <a:r>
              <a:rPr sz="1400" b="0">
                <a:solidFill>
                  <a:srgbClr val="1B2A38"/>
                </a:solidFill>
                <a:latin typeface="Calibri"/>
              </a:rPr>
              <a:t>• articulo — dónde exactamente: tabla, apartado, página.</a:t>
            </a:r>
          </a:p>
          <a:p>
            <a:pPr algn="l">
              <a:spcAft>
                <a:spcPts val="900"/>
              </a:spcAft>
            </a:pPr>
            <a:r>
              <a:rPr sz="1400" b="0">
                <a:solidFill>
                  <a:srgbClr val="1B2A38"/>
                </a:solidFill>
                <a:latin typeface="Calibri"/>
              </a:rPr>
              <a:t>• tipo_limite — máximo, mínimo o rango.</a:t>
            </a:r>
          </a:p>
          <a:p>
            <a:pPr algn="l">
              <a:spcAft>
                <a:spcPts val="900"/>
              </a:spcAft>
            </a:pPr>
            <a:r>
              <a:rPr sz="1400" b="0">
                <a:solidFill>
                  <a:srgbClr val="1B2A38"/>
                </a:solidFill>
                <a:latin typeface="Calibri"/>
              </a:rPr>
              <a:t>• valor + unidad — la cifra y su unidad.</a:t>
            </a:r>
          </a:p>
          <a:p>
            <a:pPr algn="l">
              <a:spcAft>
                <a:spcPts val="900"/>
              </a:spcAft>
            </a:pPr>
            <a:r>
              <a:rPr sz="1400" b="1">
                <a:solidFill>
                  <a:srgbClr val="013A57"/>
                </a:solidFill>
                <a:latin typeface="Calibri"/>
              </a:rPr>
              <a:t>• expresion_original — el TEXTO LITERAL de la norma.</a:t>
            </a:r>
          </a:p>
          <a:p>
            <a:pPr algn="l">
              <a:spcAft>
                <a:spcPts val="900"/>
              </a:spcAft>
            </a:pPr>
            <a:r>
              <a:rPr sz="1400" b="0">
                <a:solidFill>
                  <a:srgbClr val="1B2A38"/>
                </a:solidFill>
                <a:latin typeface="Calibri"/>
              </a:rPr>
              <a:t>• condiciones_referencia — T y P de referencia.</a:t>
            </a:r>
          </a:p>
          <a:p>
            <a:pPr algn="l">
              <a:spcAft>
                <a:spcPts val="900"/>
              </a:spcAft>
            </a:pPr>
            <a:r>
              <a:rPr sz="1400" b="1">
                <a:solidFill>
                  <a:srgbClr val="013A57"/>
                </a:solidFill>
                <a:latin typeface="Calibri"/>
              </a:rPr>
              <a:t>• estado_verificacion — la garantía anti-invención.</a:t>
            </a:r>
          </a:p>
        </p:txBody>
      </p:sp>
      <p:sp>
        <p:nvSpPr>
          <p:cNvPr id="11" name="TextBox 10"/>
          <p:cNvSpPr txBox="1"/>
          <p:nvPr/>
        </p:nvSpPr>
        <p:spPr>
          <a:xfrm>
            <a:off x="548640" y="5303520"/>
            <a:ext cx="11064240" cy="914400"/>
          </a:xfrm>
          <a:prstGeom prst="rect">
            <a:avLst/>
          </a:prstGeom>
          <a:noFill/>
        </p:spPr>
        <p:txBody>
          <a:bodyPr wrap="square" anchor="t" lIns="50800" rIns="50800" tIns="25400" bIns="25400">
            <a:spAutoFit/>
          </a:bodyPr>
          <a:lstStyle/>
          <a:p>
            <a:pPr algn="l">
              <a:spcAft>
                <a:spcPts val="400"/>
              </a:spcAft>
            </a:pPr>
            <a:r>
              <a:rPr sz="1600" b="1">
                <a:solidFill>
                  <a:srgbClr val="013A57"/>
                </a:solidFill>
                <a:latin typeface="Calibri"/>
              </a:rPr>
              <a:t>Gracias a 'expresion_original', cualquier auditor puede recomprobar la transcripción sin abrir el PDF.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10515600" cy="731520"/>
          </a:xfrm>
          <a:prstGeom prst="rect">
            <a:avLst/>
          </a:prstGeom>
          <a:noFill/>
        </p:spPr>
        <p:txBody>
          <a:bodyPr wrap="square" anchor="ctr" lIns="50800" rIns="50800" tIns="25400" bIns="25400">
            <a:spAutoFit/>
          </a:bodyPr>
          <a:lstStyle/>
          <a:p>
            <a:pPr algn="l">
              <a:spcAft>
                <a:spcPts val="600"/>
              </a:spcAft>
            </a:pPr>
            <a:r>
              <a:rPr sz="2600" b="1">
                <a:solidFill>
                  <a:srgbClr val="FFFFFF"/>
                </a:solidFill>
                <a:latin typeface="Calibri"/>
              </a:rPr>
              <a:t>Estados de verificación</a:t>
            </a:r>
          </a:p>
        </p:txBody>
      </p:sp>
      <p:sp>
        <p:nvSpPr>
          <p:cNvPr id="5" name="TextBox 4"/>
          <p:cNvSpPr txBox="1"/>
          <p:nvPr/>
        </p:nvSpPr>
        <p:spPr>
          <a:xfrm>
            <a:off x="502920" y="6446520"/>
            <a:ext cx="8229600" cy="320040"/>
          </a:xfrm>
          <a:prstGeom prst="rect">
            <a:avLst/>
          </a:prstGeom>
          <a:noFill/>
        </p:spPr>
        <p:txBody>
          <a:bodyPr wrap="square" anchor="t" lIns="50800" rIns="50800" tIns="25400" bIns="254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46520"/>
            <a:ext cx="822960" cy="320040"/>
          </a:xfrm>
          <a:prstGeom prst="rect">
            <a:avLst/>
          </a:prstGeom>
          <a:noFill/>
        </p:spPr>
        <p:txBody>
          <a:bodyPr wrap="square" anchor="t" lIns="50800" rIns="50800" tIns="25400" bIns="25400">
            <a:spAutoFit/>
          </a:bodyPr>
          <a:lstStyle/>
          <a:p>
            <a:pPr algn="r">
              <a:spcAft>
                <a:spcPts val="600"/>
              </a:spcAft>
            </a:pPr>
            <a:r>
              <a:rPr sz="1000" b="0">
                <a:solidFill>
                  <a:srgbClr val="4A5B68"/>
                </a:solidFill>
                <a:latin typeface="Calibri"/>
              </a:rPr>
              <a:t>11</a:t>
            </a:r>
          </a:p>
        </p:txBody>
      </p:sp>
      <p:sp>
        <p:nvSpPr>
          <p:cNvPr id="7" name="TextBox 6"/>
          <p:cNvSpPr txBox="1"/>
          <p:nvPr/>
        </p:nvSpPr>
        <p:spPr>
          <a:xfrm>
            <a:off x="548640" y="1280160"/>
            <a:ext cx="11064240" cy="457200"/>
          </a:xfrm>
          <a:prstGeom prst="rect">
            <a:avLst/>
          </a:prstGeom>
          <a:noFill/>
        </p:spPr>
        <p:txBody>
          <a:bodyPr wrap="square" anchor="t" lIns="50800" rIns="50800" tIns="25400" bIns="25400">
            <a:spAutoFit/>
          </a:bodyPr>
          <a:lstStyle/>
          <a:p>
            <a:pPr algn="l">
              <a:spcAft>
                <a:spcPts val="600"/>
              </a:spcAft>
            </a:pPr>
            <a:r>
              <a:rPr sz="1500" b="0">
                <a:solidFill>
                  <a:srgbClr val="4A5B68"/>
                </a:solidFill>
                <a:latin typeface="Calibri"/>
              </a:rPr>
              <a:t>La garantía anti-invención. Solo hay dos estados; no existe un intermedio.</a:t>
            </a:r>
          </a:p>
        </p:txBody>
      </p:sp>
      <p:sp>
        <p:nvSpPr>
          <p:cNvPr id="8" name="Rectangle 7"/>
          <p:cNvSpPr/>
          <p:nvPr/>
        </p:nvSpPr>
        <p:spPr>
          <a:xfrm>
            <a:off x="548640" y="1920240"/>
            <a:ext cx="5394960" cy="2103120"/>
          </a:xfrm>
          <a:prstGeom prst="rect">
            <a:avLst/>
          </a:prstGeom>
          <a:solidFill>
            <a:srgbClr val="E8F4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920240"/>
            <a:ext cx="5394960" cy="762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148840"/>
            <a:ext cx="5029200" cy="1828800"/>
          </a:xfrm>
          <a:prstGeom prst="rect">
            <a:avLst/>
          </a:prstGeom>
          <a:noFill/>
        </p:spPr>
        <p:txBody>
          <a:bodyPr wrap="square" anchor="t" lIns="50800" rIns="50800" tIns="25400" bIns="25400">
            <a:spAutoFit/>
          </a:bodyPr>
          <a:lstStyle/>
          <a:p>
            <a:pPr algn="l">
              <a:spcAft>
                <a:spcPts val="800"/>
              </a:spcAft>
            </a:pPr>
            <a:r>
              <a:rPr sz="2600" b="1">
                <a:solidFill>
                  <a:srgbClr val="3E6B22"/>
                </a:solidFill>
                <a:latin typeface="Calibri"/>
              </a:rPr>
              <a:t>176   VERIFICADO</a:t>
            </a:r>
          </a:p>
          <a:p>
            <a:pPr algn="l">
              <a:spcAft>
                <a:spcPts val="800"/>
              </a:spcAft>
            </a:pPr>
            <a:r>
              <a:rPr sz="1400" b="0">
                <a:solidFill>
                  <a:srgbClr val="1B2A38"/>
                </a:solidFill>
                <a:latin typeface="Calibri"/>
              </a:rPr>
              <a:t>Cifra contrastada VERBATIM contra su boletín oficial.</a:t>
            </a:r>
          </a:p>
        </p:txBody>
      </p:sp>
      <p:sp>
        <p:nvSpPr>
          <p:cNvPr id="11" name="Rectangle 10"/>
          <p:cNvSpPr/>
          <p:nvPr/>
        </p:nvSpPr>
        <p:spPr>
          <a:xfrm>
            <a:off x="6263640" y="1920240"/>
            <a:ext cx="5349240" cy="2103120"/>
          </a:xfrm>
          <a:prstGeom prst="rect">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1920240"/>
            <a:ext cx="5349240" cy="76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148840"/>
            <a:ext cx="4983480" cy="1828800"/>
          </a:xfrm>
          <a:prstGeom prst="rect">
            <a:avLst/>
          </a:prstGeom>
          <a:noFill/>
        </p:spPr>
        <p:txBody>
          <a:bodyPr wrap="square" anchor="t" lIns="50800" rIns="50800" tIns="25400" bIns="25400">
            <a:spAutoFit/>
          </a:bodyPr>
          <a:lstStyle/>
          <a:p>
            <a:pPr algn="l">
              <a:spcAft>
                <a:spcPts val="800"/>
              </a:spcAft>
            </a:pPr>
            <a:r>
              <a:rPr sz="2600" b="1">
                <a:solidFill>
                  <a:srgbClr val="A5610E"/>
                </a:solidFill>
                <a:latin typeface="Calibri"/>
              </a:rPr>
              <a:t>34   NO VERIFICABLE</a:t>
            </a:r>
          </a:p>
          <a:p>
            <a:pPr algn="l">
              <a:spcAft>
                <a:spcPts val="800"/>
              </a:spcAft>
            </a:pPr>
            <a:r>
              <a:rPr sz="1400" b="0">
                <a:solidFill>
                  <a:srgbClr val="1B2A38"/>
                </a:solidFill>
                <a:latin typeface="Calibri"/>
              </a:rPr>
              <a:t>La norma de ese país NO FIJA ese parámetro. No se inventa: se declara el hueco y se explica.</a:t>
            </a:r>
          </a:p>
        </p:txBody>
      </p:sp>
      <p:sp>
        <p:nvSpPr>
          <p:cNvPr id="14" name="TextBox 13"/>
          <p:cNvSpPr txBox="1"/>
          <p:nvPr/>
        </p:nvSpPr>
        <p:spPr>
          <a:xfrm>
            <a:off x="548640" y="4343400"/>
            <a:ext cx="11064240" cy="1828800"/>
          </a:xfrm>
          <a:prstGeom prst="rect">
            <a:avLst/>
          </a:prstGeom>
          <a:noFill/>
        </p:spPr>
        <p:txBody>
          <a:bodyPr wrap="square" anchor="t" lIns="50800" rIns="50800" tIns="25400" bIns="25400">
            <a:spAutoFit/>
          </a:bodyPr>
          <a:lstStyle/>
          <a:p>
            <a:pPr algn="l">
              <a:spcAft>
                <a:spcPts val="900"/>
              </a:spcAft>
            </a:pPr>
            <a:r>
              <a:rPr sz="1800" b="1">
                <a:solidFill>
                  <a:srgbClr val="013A57"/>
                </a:solidFill>
                <a:latin typeface="Calibri"/>
              </a:rPr>
              <a:t>Los huecos no son errores: son honestidad.</a:t>
            </a:r>
          </a:p>
          <a:p>
            <a:pPr algn="l">
              <a:spcAft>
                <a:spcPts val="900"/>
              </a:spcAft>
            </a:pPr>
            <a:r>
              <a:rPr sz="1500" b="0">
                <a:solidFill>
                  <a:srgbClr val="1B2A38"/>
                </a:solidFill>
                <a:latin typeface="Calibri"/>
              </a:rPr>
              <a:t>Ejemplo real — Dinamarca: los límites de O2 y CO2 de su norma corresponden al BIOGÁS DE DISTRIBUCIÓN, no al gas natural de transporte. Trasladar ese valor sería un error metodológico; por eso, para gas natural, se marcaron como no verificable.</a:t>
            </a:r>
          </a:p>
          <a:p>
            <a:pPr algn="l">
              <a:spcAft>
                <a:spcPts val="900"/>
              </a:spcAft>
            </a:pPr>
            <a:r>
              <a:rPr sz="1300" b="0">
                <a:solidFill>
                  <a:srgbClr val="4A5B68"/>
                </a:solidFill>
                <a:latin typeface="Calibri"/>
              </a:rPr>
              <a:t>(En biometano e hidrógeno existe además VERIFICADO_SECUNDARIO: valor tomado de fuente pública secundaria porque la norma primaria es de pago.)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10515600" cy="731520"/>
          </a:xfrm>
          <a:prstGeom prst="rect">
            <a:avLst/>
          </a:prstGeom>
          <a:noFill/>
        </p:spPr>
        <p:txBody>
          <a:bodyPr wrap="square" anchor="ctr" lIns="50800" rIns="50800" tIns="25400" bIns="25400">
            <a:spAutoFit/>
          </a:bodyPr>
          <a:lstStyle/>
          <a:p>
            <a:pPr algn="l">
              <a:spcAft>
                <a:spcPts val="600"/>
              </a:spcAft>
            </a:pPr>
            <a:r>
              <a:rPr sz="2600" b="1">
                <a:solidFill>
                  <a:srgbClr val="FFFFFF"/>
                </a:solidFill>
                <a:latin typeface="Calibri"/>
              </a:rPr>
              <a:t>El stack tecnológico de un vistazo</a:t>
            </a:r>
          </a:p>
        </p:txBody>
      </p:sp>
      <p:sp>
        <p:nvSpPr>
          <p:cNvPr id="5" name="TextBox 4"/>
          <p:cNvSpPr txBox="1"/>
          <p:nvPr/>
        </p:nvSpPr>
        <p:spPr>
          <a:xfrm>
            <a:off x="502920" y="6446520"/>
            <a:ext cx="8229600" cy="320040"/>
          </a:xfrm>
          <a:prstGeom prst="rect">
            <a:avLst/>
          </a:prstGeom>
          <a:noFill/>
        </p:spPr>
        <p:txBody>
          <a:bodyPr wrap="square" anchor="t" lIns="50800" rIns="50800" tIns="25400" bIns="254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46520"/>
            <a:ext cx="822960" cy="320040"/>
          </a:xfrm>
          <a:prstGeom prst="rect">
            <a:avLst/>
          </a:prstGeom>
          <a:noFill/>
        </p:spPr>
        <p:txBody>
          <a:bodyPr wrap="square" anchor="t" lIns="50800" rIns="50800" tIns="25400" bIns="25400">
            <a:spAutoFit/>
          </a:bodyPr>
          <a:lstStyle/>
          <a:p>
            <a:pPr algn="r">
              <a:spcAft>
                <a:spcPts val="600"/>
              </a:spcAft>
            </a:pPr>
            <a:r>
              <a:rPr sz="1000" b="0">
                <a:solidFill>
                  <a:srgbClr val="4A5B68"/>
                </a:solidFill>
                <a:latin typeface="Calibri"/>
              </a:rPr>
              <a:t>12</a:t>
            </a:r>
          </a:p>
        </p:txBody>
      </p:sp>
      <p:sp>
        <p:nvSpPr>
          <p:cNvPr id="7" name="TextBox 6"/>
          <p:cNvSpPr txBox="1"/>
          <p:nvPr/>
        </p:nvSpPr>
        <p:spPr>
          <a:xfrm>
            <a:off x="548640" y="1280160"/>
            <a:ext cx="11064240" cy="457200"/>
          </a:xfrm>
          <a:prstGeom prst="rect">
            <a:avLst/>
          </a:prstGeom>
          <a:noFill/>
        </p:spPr>
        <p:txBody>
          <a:bodyPr wrap="square" anchor="t" lIns="50800" rIns="50800" tIns="25400" bIns="25400">
            <a:spAutoFit/>
          </a:bodyPr>
          <a:lstStyle/>
          <a:p>
            <a:pPr algn="l">
              <a:spcAft>
                <a:spcPts val="600"/>
              </a:spcAft>
            </a:pPr>
            <a:r>
              <a:rPr sz="1500" b="0">
                <a:solidFill>
                  <a:srgbClr val="4A5B68"/>
                </a:solidFill>
                <a:latin typeface="Calibri"/>
              </a:rPr>
              <a:t>Todas las herramientas que usa la aplicación, agrupadas por capa.</a:t>
            </a:r>
          </a:p>
        </p:txBody>
      </p:sp>
      <p:sp>
        <p:nvSpPr>
          <p:cNvPr id="8" name="Rectangle 7"/>
          <p:cNvSpPr/>
          <p:nvPr/>
        </p:nvSpPr>
        <p:spPr>
          <a:xfrm>
            <a:off x="548640" y="1874519"/>
            <a:ext cx="2697480" cy="32918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874519"/>
            <a:ext cx="2697480"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929384"/>
            <a:ext cx="2697480" cy="365760"/>
          </a:xfrm>
          <a:prstGeom prst="rect">
            <a:avLst/>
          </a:prstGeom>
          <a:noFill/>
        </p:spPr>
        <p:txBody>
          <a:bodyPr wrap="square" anchor="t" lIns="50800" rIns="50800" tIns="25400" bIns="25400">
            <a:spAutoFit/>
          </a:bodyPr>
          <a:lstStyle/>
          <a:p>
            <a:pPr algn="ctr">
              <a:spcAft>
                <a:spcPts val="600"/>
              </a:spcAft>
            </a:pPr>
            <a:r>
              <a:rPr sz="1300" b="1">
                <a:solidFill>
                  <a:srgbClr val="FFFFFF"/>
                </a:solidFill>
                <a:latin typeface="Calibri"/>
              </a:rPr>
              <a:t>FRONTEND</a:t>
            </a:r>
          </a:p>
        </p:txBody>
      </p:sp>
      <p:sp>
        <p:nvSpPr>
          <p:cNvPr id="11" name="TextBox 10"/>
          <p:cNvSpPr txBox="1"/>
          <p:nvPr/>
        </p:nvSpPr>
        <p:spPr>
          <a:xfrm>
            <a:off x="685800" y="2468880"/>
            <a:ext cx="2423160" cy="2560320"/>
          </a:xfrm>
          <a:prstGeom prst="rect">
            <a:avLst/>
          </a:prstGeom>
          <a:noFill/>
        </p:spPr>
        <p:txBody>
          <a:bodyPr wrap="square" anchor="t" lIns="50800" rIns="50800" tIns="25400" bIns="25400">
            <a:spAutoFit/>
          </a:bodyPr>
          <a:lstStyle/>
          <a:p>
            <a:pPr algn="l">
              <a:spcAft>
                <a:spcPts val="800"/>
              </a:spcAft>
            </a:pPr>
            <a:r>
              <a:rPr sz="1300" b="0">
                <a:solidFill>
                  <a:srgbClr val="1B2A38"/>
                </a:solidFill>
                <a:latin typeface="Calibri"/>
              </a:rPr>
              <a:t>• HTML + CSS</a:t>
            </a:r>
          </a:p>
          <a:p>
            <a:pPr algn="l">
              <a:spcAft>
                <a:spcPts val="800"/>
              </a:spcAft>
            </a:pPr>
            <a:r>
              <a:rPr sz="1300" b="0">
                <a:solidFill>
                  <a:srgbClr val="1B2A38"/>
                </a:solidFill>
                <a:latin typeface="Calibri"/>
              </a:rPr>
              <a:t>• JavaScript vanilla</a:t>
            </a:r>
          </a:p>
          <a:p>
            <a:pPr algn="l">
              <a:spcAft>
                <a:spcPts val="800"/>
              </a:spcAft>
            </a:pPr>
            <a:r>
              <a:rPr sz="1300" b="0">
                <a:solidFill>
                  <a:srgbClr val="1B2A38"/>
                </a:solidFill>
                <a:latin typeface="Calibri"/>
              </a:rPr>
              <a:t>• marked (Markdown)</a:t>
            </a:r>
          </a:p>
          <a:p>
            <a:pPr algn="l">
              <a:spcAft>
                <a:spcPts val="800"/>
              </a:spcAft>
            </a:pPr>
            <a:r>
              <a:rPr sz="1300" b="0">
                <a:solidFill>
                  <a:srgbClr val="1B2A38"/>
                </a:solidFill>
                <a:latin typeface="Calibri"/>
              </a:rPr>
              <a:t>• DOMPurify (saneado)</a:t>
            </a:r>
          </a:p>
          <a:p>
            <a:pPr algn="l">
              <a:spcAft>
                <a:spcPts val="800"/>
              </a:spcAft>
            </a:pPr>
            <a:r>
              <a:rPr sz="1300" b="0">
                <a:solidFill>
                  <a:srgbClr val="1B2A38"/>
                </a:solidFill>
                <a:latin typeface="Calibri"/>
              </a:rPr>
              <a:t>• localStorage</a:t>
            </a:r>
          </a:p>
        </p:txBody>
      </p:sp>
      <p:sp>
        <p:nvSpPr>
          <p:cNvPr id="12" name="Rectangle 11"/>
          <p:cNvSpPr/>
          <p:nvPr/>
        </p:nvSpPr>
        <p:spPr>
          <a:xfrm>
            <a:off x="3392424" y="1874519"/>
            <a:ext cx="2697480" cy="32918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92424" y="1874519"/>
            <a:ext cx="2697480" cy="4572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92424" y="1929384"/>
            <a:ext cx="2697480" cy="365760"/>
          </a:xfrm>
          <a:prstGeom prst="rect">
            <a:avLst/>
          </a:prstGeom>
          <a:noFill/>
        </p:spPr>
        <p:txBody>
          <a:bodyPr wrap="square" anchor="t" lIns="50800" rIns="50800" tIns="25400" bIns="25400">
            <a:spAutoFit/>
          </a:bodyPr>
          <a:lstStyle/>
          <a:p>
            <a:pPr algn="ctr">
              <a:spcAft>
                <a:spcPts val="600"/>
              </a:spcAft>
            </a:pPr>
            <a:r>
              <a:rPr sz="1300" b="1">
                <a:solidFill>
                  <a:srgbClr val="FFFFFF"/>
                </a:solidFill>
                <a:latin typeface="Calibri"/>
              </a:rPr>
              <a:t>BACKEND</a:t>
            </a:r>
          </a:p>
        </p:txBody>
      </p:sp>
      <p:sp>
        <p:nvSpPr>
          <p:cNvPr id="15" name="TextBox 14"/>
          <p:cNvSpPr txBox="1"/>
          <p:nvPr/>
        </p:nvSpPr>
        <p:spPr>
          <a:xfrm>
            <a:off x="3529584" y="2468880"/>
            <a:ext cx="2423160" cy="2560320"/>
          </a:xfrm>
          <a:prstGeom prst="rect">
            <a:avLst/>
          </a:prstGeom>
          <a:noFill/>
        </p:spPr>
        <p:txBody>
          <a:bodyPr wrap="square" anchor="t" lIns="50800" rIns="50800" tIns="25400" bIns="25400">
            <a:spAutoFit/>
          </a:bodyPr>
          <a:lstStyle/>
          <a:p>
            <a:pPr algn="l">
              <a:spcAft>
                <a:spcPts val="800"/>
              </a:spcAft>
            </a:pPr>
            <a:r>
              <a:rPr sz="1300" b="0">
                <a:solidFill>
                  <a:srgbClr val="1B2A38"/>
                </a:solidFill>
                <a:latin typeface="Calibri"/>
              </a:rPr>
              <a:t>• Python 3.11+</a:t>
            </a:r>
          </a:p>
          <a:p>
            <a:pPr algn="l">
              <a:spcAft>
                <a:spcPts val="800"/>
              </a:spcAft>
            </a:pPr>
            <a:r>
              <a:rPr sz="1300" b="0">
                <a:solidFill>
                  <a:srgbClr val="1B2A38"/>
                </a:solidFill>
                <a:latin typeface="Calibri"/>
              </a:rPr>
              <a:t>• FastAPI</a:t>
            </a:r>
          </a:p>
          <a:p>
            <a:pPr algn="l">
              <a:spcAft>
                <a:spcPts val="800"/>
              </a:spcAft>
            </a:pPr>
            <a:r>
              <a:rPr sz="1300" b="0">
                <a:solidFill>
                  <a:srgbClr val="1B2A38"/>
                </a:solidFill>
                <a:latin typeface="Calibri"/>
              </a:rPr>
              <a:t>• uvicorn</a:t>
            </a:r>
          </a:p>
          <a:p>
            <a:pPr algn="l">
              <a:spcAft>
                <a:spcPts val="800"/>
              </a:spcAft>
            </a:pPr>
            <a:r>
              <a:rPr sz="1300" b="0">
                <a:solidFill>
                  <a:srgbClr val="1B2A38"/>
                </a:solidFill>
                <a:latin typeface="Calibri"/>
              </a:rPr>
              <a:t>• pydantic</a:t>
            </a:r>
          </a:p>
          <a:p>
            <a:pPr algn="l">
              <a:spcAft>
                <a:spcPts val="800"/>
              </a:spcAft>
            </a:pPr>
            <a:r>
              <a:rPr sz="1300" b="0">
                <a:solidFill>
                  <a:srgbClr val="1B2A38"/>
                </a:solidFill>
                <a:latin typeface="Calibri"/>
              </a:rPr>
              <a:t>• python-dotenv</a:t>
            </a:r>
          </a:p>
        </p:txBody>
      </p:sp>
      <p:sp>
        <p:nvSpPr>
          <p:cNvPr id="16" name="Rectangle 15"/>
          <p:cNvSpPr/>
          <p:nvPr/>
        </p:nvSpPr>
        <p:spPr>
          <a:xfrm>
            <a:off x="6236208" y="1874519"/>
            <a:ext cx="2697480" cy="32918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6208" y="1874519"/>
            <a:ext cx="2697480" cy="4572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6208" y="1929384"/>
            <a:ext cx="2697480" cy="365760"/>
          </a:xfrm>
          <a:prstGeom prst="rect">
            <a:avLst/>
          </a:prstGeom>
          <a:noFill/>
        </p:spPr>
        <p:txBody>
          <a:bodyPr wrap="square" anchor="t" lIns="50800" rIns="50800" tIns="25400" bIns="25400">
            <a:spAutoFit/>
          </a:bodyPr>
          <a:lstStyle/>
          <a:p>
            <a:pPr algn="ctr">
              <a:spcAft>
                <a:spcPts val="600"/>
              </a:spcAft>
            </a:pPr>
            <a:r>
              <a:rPr sz="1300" b="1">
                <a:solidFill>
                  <a:srgbClr val="FFFFFF"/>
                </a:solidFill>
                <a:latin typeface="Calibri"/>
              </a:rPr>
              <a:t>DATOS Y DOCUMENTOS</a:t>
            </a:r>
          </a:p>
        </p:txBody>
      </p:sp>
      <p:sp>
        <p:nvSpPr>
          <p:cNvPr id="19" name="TextBox 18"/>
          <p:cNvSpPr txBox="1"/>
          <p:nvPr/>
        </p:nvSpPr>
        <p:spPr>
          <a:xfrm>
            <a:off x="6373368" y="2468880"/>
            <a:ext cx="2423160" cy="2560320"/>
          </a:xfrm>
          <a:prstGeom prst="rect">
            <a:avLst/>
          </a:prstGeom>
          <a:noFill/>
        </p:spPr>
        <p:txBody>
          <a:bodyPr wrap="square" anchor="t" lIns="50800" rIns="50800" tIns="25400" bIns="25400">
            <a:spAutoFit/>
          </a:bodyPr>
          <a:lstStyle/>
          <a:p>
            <a:pPr algn="l">
              <a:spcAft>
                <a:spcPts val="800"/>
              </a:spcAft>
            </a:pPr>
            <a:r>
              <a:rPr sz="1300" b="0">
                <a:solidFill>
                  <a:srgbClr val="1B2A38"/>
                </a:solidFill>
                <a:latin typeface="Calibri"/>
              </a:rPr>
              <a:t>• PyYAML (ontología)</a:t>
            </a:r>
          </a:p>
          <a:p>
            <a:pPr algn="l">
              <a:spcAft>
                <a:spcPts val="800"/>
              </a:spcAft>
            </a:pPr>
            <a:r>
              <a:rPr sz="1300" b="0">
                <a:solidFill>
                  <a:srgbClr val="1B2A38"/>
                </a:solidFill>
                <a:latin typeface="Calibri"/>
              </a:rPr>
              <a:t>• SQLite (índice RAG)</a:t>
            </a:r>
          </a:p>
          <a:p>
            <a:pPr algn="l">
              <a:spcAft>
                <a:spcPts val="800"/>
              </a:spcAft>
            </a:pPr>
            <a:r>
              <a:rPr sz="1300" b="0">
                <a:solidFill>
                  <a:srgbClr val="1B2A38"/>
                </a:solidFill>
                <a:latin typeface="Calibri"/>
              </a:rPr>
              <a:t>• pdfplumber (PDF)</a:t>
            </a:r>
          </a:p>
          <a:p>
            <a:pPr algn="l">
              <a:spcAft>
                <a:spcPts val="800"/>
              </a:spcAft>
            </a:pPr>
            <a:r>
              <a:rPr sz="1300" b="0">
                <a:solidFill>
                  <a:srgbClr val="1B2A38"/>
                </a:solidFill>
                <a:latin typeface="Calibri"/>
              </a:rPr>
              <a:t>• pandas</a:t>
            </a:r>
          </a:p>
          <a:p>
            <a:pPr algn="l">
              <a:spcAft>
                <a:spcPts val="800"/>
              </a:spcAft>
            </a:pPr>
            <a:r>
              <a:rPr sz="1300" b="0">
                <a:solidFill>
                  <a:srgbClr val="1B2A38"/>
                </a:solidFill>
                <a:latin typeface="Calibri"/>
              </a:rPr>
              <a:t>• openpyxl · xhtml2pdf</a:t>
            </a:r>
          </a:p>
        </p:txBody>
      </p:sp>
      <p:sp>
        <p:nvSpPr>
          <p:cNvPr id="20" name="Rectangle 19"/>
          <p:cNvSpPr/>
          <p:nvPr/>
        </p:nvSpPr>
        <p:spPr>
          <a:xfrm>
            <a:off x="9079992" y="1874519"/>
            <a:ext cx="2697480" cy="32918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79992" y="1874519"/>
            <a:ext cx="2697480"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79992" y="1929384"/>
            <a:ext cx="2697480" cy="365760"/>
          </a:xfrm>
          <a:prstGeom prst="rect">
            <a:avLst/>
          </a:prstGeom>
          <a:noFill/>
        </p:spPr>
        <p:txBody>
          <a:bodyPr wrap="square" anchor="t" lIns="50800" rIns="50800" tIns="25400" bIns="25400">
            <a:spAutoFit/>
          </a:bodyPr>
          <a:lstStyle/>
          <a:p>
            <a:pPr algn="ctr">
              <a:spcAft>
                <a:spcPts val="600"/>
              </a:spcAft>
            </a:pPr>
            <a:r>
              <a:rPr sz="1300" b="1">
                <a:solidFill>
                  <a:srgbClr val="FFFFFF"/>
                </a:solidFill>
                <a:latin typeface="Calibri"/>
              </a:rPr>
              <a:t>IA (opcional)</a:t>
            </a:r>
          </a:p>
        </p:txBody>
      </p:sp>
      <p:sp>
        <p:nvSpPr>
          <p:cNvPr id="23" name="TextBox 22"/>
          <p:cNvSpPr txBox="1"/>
          <p:nvPr/>
        </p:nvSpPr>
        <p:spPr>
          <a:xfrm>
            <a:off x="9217152" y="2468880"/>
            <a:ext cx="2423160" cy="2560320"/>
          </a:xfrm>
          <a:prstGeom prst="rect">
            <a:avLst/>
          </a:prstGeom>
          <a:noFill/>
        </p:spPr>
        <p:txBody>
          <a:bodyPr wrap="square" anchor="t" lIns="50800" rIns="50800" tIns="25400" bIns="25400">
            <a:spAutoFit/>
          </a:bodyPr>
          <a:lstStyle/>
          <a:p>
            <a:pPr algn="l">
              <a:spcAft>
                <a:spcPts val="800"/>
              </a:spcAft>
            </a:pPr>
            <a:r>
              <a:rPr sz="1300" b="0">
                <a:solidFill>
                  <a:srgbClr val="1B2A38"/>
                </a:solidFill>
                <a:latin typeface="Calibri"/>
              </a:rPr>
              <a:t>• OpenAI SDK</a:t>
            </a:r>
          </a:p>
          <a:p>
            <a:pPr algn="l">
              <a:spcAft>
                <a:spcPts val="800"/>
              </a:spcAft>
            </a:pPr>
            <a:r>
              <a:rPr sz="1300" b="0">
                <a:solidFill>
                  <a:srgbClr val="1B2A38"/>
                </a:solidFill>
                <a:latin typeface="Calibri"/>
              </a:rPr>
              <a:t>• GPT-4o-mini</a:t>
            </a:r>
          </a:p>
          <a:p>
            <a:pPr algn="l">
              <a:spcAft>
                <a:spcPts val="800"/>
              </a:spcAft>
            </a:pPr>
            <a:r>
              <a:rPr sz="1300" b="0">
                <a:solidFill>
                  <a:srgbClr val="1B2A38"/>
                </a:solidFill>
                <a:latin typeface="Calibri"/>
              </a:rPr>
              <a:t>• function calling</a:t>
            </a:r>
          </a:p>
          <a:p>
            <a:pPr algn="l">
              <a:spcAft>
                <a:spcPts val="800"/>
              </a:spcAft>
            </a:pPr>
            <a:r>
              <a:rPr sz="1300" b="0">
                <a:solidFill>
                  <a:srgbClr val="1B2A38"/>
                </a:solidFill>
                <a:latin typeface="Calibri"/>
              </a:rPr>
              <a:t>• temperatura 0</a:t>
            </a:r>
          </a:p>
          <a:p>
            <a:pPr algn="l">
              <a:spcAft>
                <a:spcPts val="800"/>
              </a:spcAft>
            </a:pPr>
            <a:r>
              <a:rPr sz="1300" b="0">
                <a:solidFill>
                  <a:srgbClr val="1B2A38"/>
                </a:solidFill>
                <a:latin typeface="Calibri"/>
              </a:rPr>
              <a:t>• — sustituible —</a:t>
            </a:r>
          </a:p>
        </p:txBody>
      </p:sp>
      <p:sp>
        <p:nvSpPr>
          <p:cNvPr id="24" name="TextBox 23"/>
          <p:cNvSpPr txBox="1"/>
          <p:nvPr/>
        </p:nvSpPr>
        <p:spPr>
          <a:xfrm>
            <a:off x="548640" y="5394960"/>
            <a:ext cx="11064240" cy="914400"/>
          </a:xfrm>
          <a:prstGeom prst="rect">
            <a:avLst/>
          </a:prstGeom>
          <a:noFill/>
        </p:spPr>
        <p:txBody>
          <a:bodyPr wrap="square" anchor="t" lIns="50800" rIns="50800" tIns="25400" bIns="25400">
            <a:spAutoFit/>
          </a:bodyPr>
          <a:lstStyle/>
          <a:p>
            <a:pPr algn="l">
              <a:spcAft>
                <a:spcPts val="500"/>
              </a:spcAft>
            </a:pPr>
            <a:r>
              <a:rPr sz="1500" b="1">
                <a:solidFill>
                  <a:srgbClr val="013A57"/>
                </a:solidFill>
                <a:latin typeface="Calibri"/>
              </a:rPr>
              <a:t>Todo el stack es software libre salvo la API de OpenAI, que es el único componente de pago — y es opcional.</a:t>
            </a:r>
          </a:p>
          <a:p>
            <a:pPr algn="l">
              <a:spcAft>
                <a:spcPts val="500"/>
              </a:spcAft>
            </a:pPr>
            <a:r>
              <a:rPr sz="1400" b="0">
                <a:solidFill>
                  <a:srgbClr val="4A5B68"/>
                </a:solidFill>
                <a:latin typeface="Calibri"/>
              </a:rPr>
              <a:t>Calidad: pytest (pruebas automáticas) · git (versionado del código y de la ontología).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10515600" cy="731520"/>
          </a:xfrm>
          <a:prstGeom prst="rect">
            <a:avLst/>
          </a:prstGeom>
          <a:noFill/>
        </p:spPr>
        <p:txBody>
          <a:bodyPr wrap="square" anchor="ctr" lIns="50800" rIns="50800" tIns="25400" bIns="25400">
            <a:spAutoFit/>
          </a:bodyPr>
          <a:lstStyle/>
          <a:p>
            <a:pPr algn="l">
              <a:spcAft>
                <a:spcPts val="600"/>
              </a:spcAft>
            </a:pPr>
            <a:r>
              <a:rPr sz="2600" b="1">
                <a:solidFill>
                  <a:srgbClr val="FFFFFF"/>
                </a:solidFill>
                <a:latin typeface="Calibri"/>
              </a:rPr>
              <a:t>Herramientas — Backend</a:t>
            </a:r>
          </a:p>
        </p:txBody>
      </p:sp>
      <p:sp>
        <p:nvSpPr>
          <p:cNvPr id="5" name="TextBox 4"/>
          <p:cNvSpPr txBox="1"/>
          <p:nvPr/>
        </p:nvSpPr>
        <p:spPr>
          <a:xfrm>
            <a:off x="502920" y="6446520"/>
            <a:ext cx="8229600" cy="320040"/>
          </a:xfrm>
          <a:prstGeom prst="rect">
            <a:avLst/>
          </a:prstGeom>
          <a:noFill/>
        </p:spPr>
        <p:txBody>
          <a:bodyPr wrap="square" anchor="t" lIns="50800" rIns="50800" tIns="25400" bIns="254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46520"/>
            <a:ext cx="822960" cy="320040"/>
          </a:xfrm>
          <a:prstGeom prst="rect">
            <a:avLst/>
          </a:prstGeom>
          <a:noFill/>
        </p:spPr>
        <p:txBody>
          <a:bodyPr wrap="square" anchor="t" lIns="50800" rIns="50800" tIns="25400" bIns="25400">
            <a:spAutoFit/>
          </a:bodyPr>
          <a:lstStyle/>
          <a:p>
            <a:pPr algn="r">
              <a:spcAft>
                <a:spcPts val="600"/>
              </a:spcAft>
            </a:pPr>
            <a:r>
              <a:rPr sz="1000" b="0">
                <a:solidFill>
                  <a:srgbClr val="4A5B68"/>
                </a:solidFill>
                <a:latin typeface="Calibri"/>
              </a:rPr>
              <a:t>13</a:t>
            </a:r>
          </a:p>
        </p:txBody>
      </p:sp>
      <p:graphicFrame>
        <p:nvGraphicFramePr>
          <p:cNvPr id="7" name="Table 6"/>
          <p:cNvGraphicFramePr>
            <a:graphicFrameLocks noGrp="1"/>
          </p:cNvGraphicFramePr>
          <p:nvPr/>
        </p:nvGraphicFramePr>
        <p:xfrm>
          <a:off x="548640" y="1371600"/>
          <a:ext cx="11064240" cy="365760"/>
        </p:xfrm>
        <a:graphic>
          <a:graphicData uri="http://schemas.openxmlformats.org/drawingml/2006/table">
            <a:tbl>
              <a:tblPr>
                <a:tableStyleId>{5C22544A-7EE6-4342-B048-85BDC9FD1C3A}</a:tableStyleId>
              </a:tblPr>
              <a:tblGrid>
                <a:gridCol w="2377440"/>
                <a:gridCol w="8686800"/>
              </a:tblGrid>
              <a:tr h="52251">
                <a:tc>
                  <a:txBody>
                    <a:bodyPr/>
                    <a:lstStyle/>
                    <a:p>
                      <a:r>
                        <a:rPr sz="1300" b="1">
                          <a:solidFill>
                            <a:srgbClr val="FFFFFF"/>
                          </a:solidFill>
                          <a:latin typeface="Calibri"/>
                        </a:rPr>
                        <a:t>Herramienta</a:t>
                      </a:r>
                    </a:p>
                  </a:txBody>
                  <a:tcPr anchor="ctr" marT="25400" marB="25400">
                    <a:solidFill>
                      <a:srgbClr val="013A57"/>
                    </a:solidFill>
                  </a:tcPr>
                </a:tc>
                <a:tc>
                  <a:txBody>
                    <a:bodyPr/>
                    <a:lstStyle/>
                    <a:p>
                      <a:r>
                        <a:rPr sz="1300" b="1">
                          <a:solidFill>
                            <a:srgbClr val="FFFFFF"/>
                          </a:solidFill>
                          <a:latin typeface="Calibri"/>
                        </a:rPr>
                        <a:t>Para qué sirve exactamente en la aplicación</a:t>
                      </a:r>
                    </a:p>
                  </a:txBody>
                  <a:tcPr anchor="ctr" marT="25400" marB="25400">
                    <a:solidFill>
                      <a:srgbClr val="013A57"/>
                    </a:solidFill>
                  </a:tcPr>
                </a:tc>
              </a:tr>
              <a:tr h="52251">
                <a:tc>
                  <a:txBody>
                    <a:bodyPr/>
                    <a:lstStyle/>
                    <a:p>
                      <a:r>
                        <a:rPr sz="1300" b="1">
                          <a:solidFill>
                            <a:srgbClr val="013A57"/>
                          </a:solidFill>
                          <a:latin typeface="Calibri"/>
                        </a:rPr>
                        <a:t>Python 3.11+</a:t>
                      </a:r>
                    </a:p>
                  </a:txBody>
                  <a:tcPr anchor="ctr" marT="25400" marB="25400">
                    <a:solidFill>
                      <a:srgbClr val="EEF2F6"/>
                    </a:solidFill>
                  </a:tcPr>
                </a:tc>
                <a:tc>
                  <a:txBody>
                    <a:bodyPr/>
                    <a:lstStyle/>
                    <a:p>
                      <a:r>
                        <a:rPr sz="1300" b="0">
                          <a:solidFill>
                            <a:srgbClr val="1B2A38"/>
                          </a:solidFill>
                          <a:latin typeface="Calibri"/>
                        </a:rPr>
                        <a:t>Lenguaje de todo el backend y de los scripts de datos, diagramas y documentación.</a:t>
                      </a:r>
                    </a:p>
                  </a:txBody>
                  <a:tcPr anchor="ctr" marT="25400" marB="25400">
                    <a:solidFill>
                      <a:srgbClr val="EEF2F6"/>
                    </a:solidFill>
                  </a:tcPr>
                </a:tc>
              </a:tr>
              <a:tr h="52251">
                <a:tc>
                  <a:txBody>
                    <a:bodyPr/>
                    <a:lstStyle/>
                    <a:p>
                      <a:r>
                        <a:rPr sz="1300" b="1">
                          <a:solidFill>
                            <a:srgbClr val="013A57"/>
                          </a:solidFill>
                          <a:latin typeface="Calibri"/>
                        </a:rPr>
                        <a:t>FastAPI</a:t>
                      </a:r>
                    </a:p>
                  </a:txBody>
                  <a:tcPr anchor="ctr" marT="25400" marB="25400">
                    <a:solidFill>
                      <a:srgbClr val="FFFFFF"/>
                    </a:solidFill>
                  </a:tcPr>
                </a:tc>
                <a:tc>
                  <a:txBody>
                    <a:bodyPr/>
                    <a:lstStyle/>
                    <a:p>
                      <a:r>
                        <a:rPr sz="1300" b="0">
                          <a:solidFill>
                            <a:srgbClr val="1B2A38"/>
                          </a:solidFill>
                          <a:latin typeface="Calibri"/>
                        </a:rPr>
                        <a:t>Framework con el que está construido NUESTRO servidor: define los endpoints y valida las peticiones.</a:t>
                      </a:r>
                    </a:p>
                  </a:txBody>
                  <a:tcPr anchor="ctr" marT="25400" marB="25400">
                    <a:solidFill>
                      <a:srgbClr val="FFFFFF"/>
                    </a:solidFill>
                  </a:tcPr>
                </a:tc>
              </a:tr>
              <a:tr h="52251">
                <a:tc>
                  <a:txBody>
                    <a:bodyPr/>
                    <a:lstStyle/>
                    <a:p>
                      <a:r>
                        <a:rPr sz="1300" b="1">
                          <a:solidFill>
                            <a:srgbClr val="013A57"/>
                          </a:solidFill>
                          <a:latin typeface="Calibri"/>
                        </a:rPr>
                        <a:t>uvicorn</a:t>
                      </a:r>
                    </a:p>
                  </a:txBody>
                  <a:tcPr anchor="ctr" marT="25400" marB="25400">
                    <a:solidFill>
                      <a:srgbClr val="EEF2F6"/>
                    </a:solidFill>
                  </a:tcPr>
                </a:tc>
                <a:tc>
                  <a:txBody>
                    <a:bodyPr/>
                    <a:lstStyle/>
                    <a:p>
                      <a:r>
                        <a:rPr sz="1300" b="0">
                          <a:solidFill>
                            <a:srgbClr val="1B2A38"/>
                          </a:solidFill>
                          <a:latin typeface="Calibri"/>
                        </a:rPr>
                        <a:t>El servidor que ejecuta FastAPI y atiende el puerto 8000 (lo lanza iniciar_chatbot.bat).</a:t>
                      </a:r>
                    </a:p>
                  </a:txBody>
                  <a:tcPr anchor="ctr" marT="25400" marB="25400">
                    <a:solidFill>
                      <a:srgbClr val="EEF2F6"/>
                    </a:solidFill>
                  </a:tcPr>
                </a:tc>
              </a:tr>
              <a:tr h="52251">
                <a:tc>
                  <a:txBody>
                    <a:bodyPr/>
                    <a:lstStyle/>
                    <a:p>
                      <a:r>
                        <a:rPr sz="1300" b="1">
                          <a:solidFill>
                            <a:srgbClr val="013A57"/>
                          </a:solidFill>
                          <a:latin typeface="Calibri"/>
                        </a:rPr>
                        <a:t>pydantic</a:t>
                      </a:r>
                    </a:p>
                  </a:txBody>
                  <a:tcPr anchor="ctr" marT="25400" marB="25400">
                    <a:solidFill>
                      <a:srgbClr val="FFFFFF"/>
                    </a:solidFill>
                  </a:tcPr>
                </a:tc>
                <a:tc>
                  <a:txBody>
                    <a:bodyPr/>
                    <a:lstStyle/>
                    <a:p>
                      <a:r>
                        <a:rPr sz="1300" b="0">
                          <a:solidFill>
                            <a:srgbClr val="1B2A38"/>
                          </a:solidFill>
                          <a:latin typeface="Calibri"/>
                        </a:rPr>
                        <a:t>Valida y tipa los datos que entran y salen de cada endpoint (evita peticiones malformadas).</a:t>
                      </a:r>
                    </a:p>
                  </a:txBody>
                  <a:tcPr anchor="ctr" marT="25400" marB="25400">
                    <a:solidFill>
                      <a:srgbClr val="FFFFFF"/>
                    </a:solidFill>
                  </a:tcPr>
                </a:tc>
              </a:tr>
              <a:tr h="52251">
                <a:tc>
                  <a:txBody>
                    <a:bodyPr/>
                    <a:lstStyle/>
                    <a:p>
                      <a:r>
                        <a:rPr sz="1300" b="1">
                          <a:solidFill>
                            <a:srgbClr val="013A57"/>
                          </a:solidFill>
                          <a:latin typeface="Calibri"/>
                        </a:rPr>
                        <a:t>python-dotenv</a:t>
                      </a:r>
                    </a:p>
                  </a:txBody>
                  <a:tcPr anchor="ctr" marT="25400" marB="25400">
                    <a:solidFill>
                      <a:srgbClr val="EEF2F6"/>
                    </a:solidFill>
                  </a:tcPr>
                </a:tc>
                <a:tc>
                  <a:txBody>
                    <a:bodyPr/>
                    <a:lstStyle/>
                    <a:p>
                      <a:r>
                        <a:rPr sz="1300" b="0">
                          <a:solidFill>
                            <a:srgbClr val="1B2A38"/>
                          </a:solidFill>
                          <a:latin typeface="Calibri"/>
                        </a:rPr>
                        <a:t>Carga la clave de OpenAI desde el entorno / .env, para que nunca esté escrita en el código.</a:t>
                      </a:r>
                    </a:p>
                  </a:txBody>
                  <a:tcPr anchor="ctr" marT="25400" marB="25400">
                    <a:solidFill>
                      <a:srgbClr val="EEF2F6"/>
                    </a:solidFill>
                  </a:tcPr>
                </a:tc>
              </a:tr>
              <a:tr h="52254">
                <a:tc>
                  <a:txBody>
                    <a:bodyPr/>
                    <a:lstStyle/>
                    <a:p>
                      <a:r>
                        <a:rPr sz="1300" b="1">
                          <a:solidFill>
                            <a:srgbClr val="013A57"/>
                          </a:solidFill>
                          <a:latin typeface="Calibri"/>
                        </a:rPr>
                        <a:t>pytest</a:t>
                      </a:r>
                    </a:p>
                  </a:txBody>
                  <a:tcPr anchor="ctr" marT="25400" marB="25400">
                    <a:solidFill>
                      <a:srgbClr val="FFFFFF"/>
                    </a:solidFill>
                  </a:tcPr>
                </a:tc>
                <a:tc>
                  <a:txBody>
                    <a:bodyPr/>
                    <a:lstStyle/>
                    <a:p>
                      <a:r>
                        <a:rPr sz="1300" b="0">
                          <a:solidFill>
                            <a:srgbClr val="1B2A38"/>
                          </a:solidFill>
                          <a:latin typeface="Calibri"/>
                        </a:rPr>
                        <a:t>Ejecuta las pruebas automáticas: comprueba que las 210 celdas resuelven y que nada se rompe.</a:t>
                      </a:r>
                    </a:p>
                  </a:txBody>
                  <a:tcPr anchor="ctr" marT="25400" marB="25400">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10515600" cy="731520"/>
          </a:xfrm>
          <a:prstGeom prst="rect">
            <a:avLst/>
          </a:prstGeom>
          <a:noFill/>
        </p:spPr>
        <p:txBody>
          <a:bodyPr wrap="square" anchor="ctr" lIns="50800" rIns="50800" tIns="25400" bIns="25400">
            <a:spAutoFit/>
          </a:bodyPr>
          <a:lstStyle/>
          <a:p>
            <a:pPr algn="l">
              <a:spcAft>
                <a:spcPts val="600"/>
              </a:spcAft>
            </a:pPr>
            <a:r>
              <a:rPr sz="2600" b="1">
                <a:solidFill>
                  <a:srgbClr val="FFFFFF"/>
                </a:solidFill>
                <a:latin typeface="Calibri"/>
              </a:rPr>
              <a:t>Herramientas — Datos y documentos</a:t>
            </a:r>
          </a:p>
        </p:txBody>
      </p:sp>
      <p:sp>
        <p:nvSpPr>
          <p:cNvPr id="5" name="TextBox 4"/>
          <p:cNvSpPr txBox="1"/>
          <p:nvPr/>
        </p:nvSpPr>
        <p:spPr>
          <a:xfrm>
            <a:off x="502920" y="6446520"/>
            <a:ext cx="8229600" cy="320040"/>
          </a:xfrm>
          <a:prstGeom prst="rect">
            <a:avLst/>
          </a:prstGeom>
          <a:noFill/>
        </p:spPr>
        <p:txBody>
          <a:bodyPr wrap="square" anchor="t" lIns="50800" rIns="50800" tIns="25400" bIns="254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46520"/>
            <a:ext cx="822960" cy="320040"/>
          </a:xfrm>
          <a:prstGeom prst="rect">
            <a:avLst/>
          </a:prstGeom>
          <a:noFill/>
        </p:spPr>
        <p:txBody>
          <a:bodyPr wrap="square" anchor="t" lIns="50800" rIns="50800" tIns="25400" bIns="25400">
            <a:spAutoFit/>
          </a:bodyPr>
          <a:lstStyle/>
          <a:p>
            <a:pPr algn="r">
              <a:spcAft>
                <a:spcPts val="600"/>
              </a:spcAft>
            </a:pPr>
            <a:r>
              <a:rPr sz="1000" b="0">
                <a:solidFill>
                  <a:srgbClr val="4A5B68"/>
                </a:solidFill>
                <a:latin typeface="Calibri"/>
              </a:rPr>
              <a:t>14</a:t>
            </a:r>
          </a:p>
        </p:txBody>
      </p:sp>
      <p:graphicFrame>
        <p:nvGraphicFramePr>
          <p:cNvPr id="7" name="Table 6"/>
          <p:cNvGraphicFramePr>
            <a:graphicFrameLocks noGrp="1"/>
          </p:cNvGraphicFramePr>
          <p:nvPr/>
        </p:nvGraphicFramePr>
        <p:xfrm>
          <a:off x="548640" y="1371600"/>
          <a:ext cx="11064240" cy="365760"/>
        </p:xfrm>
        <a:graphic>
          <a:graphicData uri="http://schemas.openxmlformats.org/drawingml/2006/table">
            <a:tbl>
              <a:tblPr>
                <a:tableStyleId>{5C22544A-7EE6-4342-B048-85BDC9FD1C3A}</a:tableStyleId>
              </a:tblPr>
              <a:tblGrid>
                <a:gridCol w="2377440"/>
                <a:gridCol w="8686800"/>
              </a:tblGrid>
              <a:tr h="45720">
                <a:tc>
                  <a:txBody>
                    <a:bodyPr/>
                    <a:lstStyle/>
                    <a:p>
                      <a:r>
                        <a:rPr sz="1300" b="1">
                          <a:solidFill>
                            <a:srgbClr val="FFFFFF"/>
                          </a:solidFill>
                          <a:latin typeface="Calibri"/>
                        </a:rPr>
                        <a:t>Herramienta</a:t>
                      </a:r>
                    </a:p>
                  </a:txBody>
                  <a:tcPr anchor="ctr" marT="25400" marB="25400">
                    <a:solidFill>
                      <a:srgbClr val="013A57"/>
                    </a:solidFill>
                  </a:tcPr>
                </a:tc>
                <a:tc>
                  <a:txBody>
                    <a:bodyPr/>
                    <a:lstStyle/>
                    <a:p>
                      <a:r>
                        <a:rPr sz="1300" b="1">
                          <a:solidFill>
                            <a:srgbClr val="FFFFFF"/>
                          </a:solidFill>
                          <a:latin typeface="Calibri"/>
                        </a:rPr>
                        <a:t>Para qué sirve exactamente en la aplicación</a:t>
                      </a:r>
                    </a:p>
                  </a:txBody>
                  <a:tcPr anchor="ctr" marT="25400" marB="25400">
                    <a:solidFill>
                      <a:srgbClr val="013A57"/>
                    </a:solidFill>
                  </a:tcPr>
                </a:tc>
              </a:tr>
              <a:tr h="45720">
                <a:tc>
                  <a:txBody>
                    <a:bodyPr/>
                    <a:lstStyle/>
                    <a:p>
                      <a:r>
                        <a:rPr sz="1250" b="1">
                          <a:solidFill>
                            <a:srgbClr val="013A57"/>
                          </a:solidFill>
                          <a:latin typeface="Calibri"/>
                        </a:rPr>
                        <a:t>PyYAML</a:t>
                      </a:r>
                    </a:p>
                  </a:txBody>
                  <a:tcPr anchor="ctr" marT="25400" marB="25400">
                    <a:solidFill>
                      <a:srgbClr val="EEF2F6"/>
                    </a:solidFill>
                  </a:tcPr>
                </a:tc>
                <a:tc>
                  <a:txBody>
                    <a:bodyPr/>
                    <a:lstStyle/>
                    <a:p>
                      <a:r>
                        <a:rPr sz="1250" b="0">
                          <a:solidFill>
                            <a:srgbClr val="1B2A38"/>
                          </a:solidFill>
                          <a:latin typeface="Calibri"/>
                        </a:rPr>
                        <a:t>Lee la ONTOLOGÍA (el fichero .yaml con las cifras verificadas). Es la puerta a la base de conocimiento.</a:t>
                      </a:r>
                    </a:p>
                  </a:txBody>
                  <a:tcPr anchor="ctr" marT="25400" marB="25400">
                    <a:solidFill>
                      <a:srgbClr val="EEF2F6"/>
                    </a:solidFill>
                  </a:tcPr>
                </a:tc>
              </a:tr>
              <a:tr h="45720">
                <a:tc>
                  <a:txBody>
                    <a:bodyPr/>
                    <a:lstStyle/>
                    <a:p>
                      <a:r>
                        <a:rPr sz="1250" b="1">
                          <a:solidFill>
                            <a:srgbClr val="013A57"/>
                          </a:solidFill>
                          <a:latin typeface="Calibri"/>
                        </a:rPr>
                        <a:t>pdfplumber</a:t>
                      </a:r>
                    </a:p>
                  </a:txBody>
                  <a:tcPr anchor="ctr" marT="25400" marB="25400">
                    <a:solidFill>
                      <a:srgbClr val="FFFFFF"/>
                    </a:solidFill>
                  </a:tcPr>
                </a:tc>
                <a:tc>
                  <a:txBody>
                    <a:bodyPr/>
                    <a:lstStyle/>
                    <a:p>
                      <a:r>
                        <a:rPr sz="1250" b="0">
                          <a:solidFill>
                            <a:srgbClr val="1B2A38"/>
                          </a:solidFill>
                          <a:latin typeface="Calibri"/>
                        </a:rPr>
                        <a:t>Extrae el TEXTO de los PDF oficiales para poder indexarlos y buscar en ellos.</a:t>
                      </a:r>
                    </a:p>
                  </a:txBody>
                  <a:tcPr anchor="ctr" marT="25400" marB="25400">
                    <a:solidFill>
                      <a:srgbClr val="FFFFFF"/>
                    </a:solidFill>
                  </a:tcPr>
                </a:tc>
              </a:tr>
              <a:tr h="45720">
                <a:tc>
                  <a:txBody>
                    <a:bodyPr/>
                    <a:lstStyle/>
                    <a:p>
                      <a:r>
                        <a:rPr sz="1250" b="1">
                          <a:solidFill>
                            <a:srgbClr val="013A57"/>
                          </a:solidFill>
                          <a:latin typeface="Calibri"/>
                        </a:rPr>
                        <a:t>sqlite3</a:t>
                      </a:r>
                    </a:p>
                  </a:txBody>
                  <a:tcPr anchor="ctr" marT="25400" marB="25400">
                    <a:solidFill>
                      <a:srgbClr val="EEF2F6"/>
                    </a:solidFill>
                  </a:tcPr>
                </a:tc>
                <a:tc>
                  <a:txBody>
                    <a:bodyPr/>
                    <a:lstStyle/>
                    <a:p>
                      <a:r>
                        <a:rPr sz="1250" b="0">
                          <a:solidFill>
                            <a:srgbClr val="1B2A38"/>
                          </a:solidFill>
                          <a:latin typeface="Calibri"/>
                        </a:rPr>
                        <a:t>Base de datos ligera que actúa de ÍNDICE del buscador documental (RAG). No guarda ninguna cifra.</a:t>
                      </a:r>
                    </a:p>
                  </a:txBody>
                  <a:tcPr anchor="ctr" marT="25400" marB="25400">
                    <a:solidFill>
                      <a:srgbClr val="EEF2F6"/>
                    </a:solidFill>
                  </a:tcPr>
                </a:tc>
              </a:tr>
              <a:tr h="45720">
                <a:tc>
                  <a:txBody>
                    <a:bodyPr/>
                    <a:lstStyle/>
                    <a:p>
                      <a:r>
                        <a:rPr sz="1250" b="1">
                          <a:solidFill>
                            <a:srgbClr val="013A57"/>
                          </a:solidFill>
                          <a:latin typeface="Calibri"/>
                        </a:rPr>
                        <a:t>pandas</a:t>
                      </a:r>
                    </a:p>
                  </a:txBody>
                  <a:tcPr anchor="ctr" marT="25400" marB="25400">
                    <a:solidFill>
                      <a:srgbClr val="FFFFFF"/>
                    </a:solidFill>
                  </a:tcPr>
                </a:tc>
                <a:tc>
                  <a:txBody>
                    <a:bodyPr/>
                    <a:lstStyle/>
                    <a:p>
                      <a:r>
                        <a:rPr sz="1250" b="0">
                          <a:solidFill>
                            <a:srgbClr val="1B2A38"/>
                          </a:solidFill>
                          <a:latin typeface="Calibri"/>
                        </a:rPr>
                        <a:t>Manejo tabular de datos en el motor determinista (carga y cruce de tablas).</a:t>
                      </a:r>
                    </a:p>
                  </a:txBody>
                  <a:tcPr anchor="ctr" marT="25400" marB="25400">
                    <a:solidFill>
                      <a:srgbClr val="FFFFFF"/>
                    </a:solidFill>
                  </a:tcPr>
                </a:tc>
              </a:tr>
              <a:tr h="45720">
                <a:tc>
                  <a:txBody>
                    <a:bodyPr/>
                    <a:lstStyle/>
                    <a:p>
                      <a:r>
                        <a:rPr sz="1250" b="1">
                          <a:solidFill>
                            <a:srgbClr val="013A57"/>
                          </a:solidFill>
                          <a:latin typeface="Calibri"/>
                        </a:rPr>
                        <a:t>openpyxl</a:t>
                      </a:r>
                    </a:p>
                  </a:txBody>
                  <a:tcPr anchor="ctr" marT="25400" marB="25400">
                    <a:solidFill>
                      <a:srgbClr val="EEF2F6"/>
                    </a:solidFill>
                  </a:tcPr>
                </a:tc>
                <a:tc>
                  <a:txBody>
                    <a:bodyPr/>
                    <a:lstStyle/>
                    <a:p>
                      <a:r>
                        <a:rPr sz="1250" b="0">
                          <a:solidFill>
                            <a:srgbClr val="1B2A38"/>
                          </a:solidFill>
                          <a:latin typeface="Calibri"/>
                        </a:rPr>
                        <a:t>Genera el informe de la matriz comparativa en EXCEL, con las celdas coloreadas por nivel.</a:t>
                      </a:r>
                    </a:p>
                  </a:txBody>
                  <a:tcPr anchor="ctr" marT="25400" marB="25400">
                    <a:solidFill>
                      <a:srgbClr val="EEF2F6"/>
                    </a:solidFill>
                  </a:tcPr>
                </a:tc>
              </a:tr>
              <a:tr h="45720">
                <a:tc>
                  <a:txBody>
                    <a:bodyPr/>
                    <a:lstStyle/>
                    <a:p>
                      <a:r>
                        <a:rPr sz="1250" b="1">
                          <a:solidFill>
                            <a:srgbClr val="013A57"/>
                          </a:solidFill>
                          <a:latin typeface="Calibri"/>
                        </a:rPr>
                        <a:t>xhtml2pdf</a:t>
                      </a:r>
                    </a:p>
                  </a:txBody>
                  <a:tcPr anchor="ctr" marT="25400" marB="25400">
                    <a:solidFill>
                      <a:srgbClr val="FFFFFF"/>
                    </a:solidFill>
                  </a:tcPr>
                </a:tc>
                <a:tc>
                  <a:txBody>
                    <a:bodyPr/>
                    <a:lstStyle/>
                    <a:p>
                      <a:r>
                        <a:rPr sz="1250" b="0">
                          <a:solidFill>
                            <a:srgbClr val="1B2A38"/>
                          </a:solidFill>
                          <a:latin typeface="Calibri"/>
                        </a:rPr>
                        <a:t>Genera el informe de la matriz en PDF, y también la documentación del proyecto.</a:t>
                      </a:r>
                    </a:p>
                  </a:txBody>
                  <a:tcPr anchor="ctr" marT="25400" marB="25400">
                    <a:solidFill>
                      <a:srgbClr val="FFFFFF"/>
                    </a:solidFill>
                  </a:tcPr>
                </a:tc>
              </a:tr>
              <a:tr h="45720">
                <a:tc>
                  <a:txBody>
                    <a:bodyPr/>
                    <a:lstStyle/>
                    <a:p>
                      <a:r>
                        <a:rPr sz="1250" b="1">
                          <a:solidFill>
                            <a:srgbClr val="013A57"/>
                          </a:solidFill>
                          <a:latin typeface="Calibri"/>
                        </a:rPr>
                        <a:t>cryptography</a:t>
                      </a:r>
                    </a:p>
                  </a:txBody>
                  <a:tcPr anchor="ctr" marT="25400" marB="25400">
                    <a:solidFill>
                      <a:srgbClr val="EEF2F6"/>
                    </a:solidFill>
                  </a:tcPr>
                </a:tc>
                <a:tc>
                  <a:txBody>
                    <a:bodyPr/>
                    <a:lstStyle/>
                    <a:p>
                      <a:r>
                        <a:rPr sz="1250" b="0">
                          <a:solidFill>
                            <a:srgbClr val="1B2A38"/>
                          </a:solidFill>
                          <a:latin typeface="Calibri"/>
                        </a:rPr>
                        <a:t>Genera el certificado autofirmado para servir por HTTPS (opcional, para producción).</a:t>
                      </a:r>
                    </a:p>
                  </a:txBody>
                  <a:tcPr anchor="ctr" marT="25400" marB="25400">
                    <a:solidFill>
                      <a:srgbClr val="EEF2F6"/>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10515600" cy="731520"/>
          </a:xfrm>
          <a:prstGeom prst="rect">
            <a:avLst/>
          </a:prstGeom>
          <a:noFill/>
        </p:spPr>
        <p:txBody>
          <a:bodyPr wrap="square" anchor="ctr" lIns="50800" rIns="50800" tIns="25400" bIns="25400">
            <a:spAutoFit/>
          </a:bodyPr>
          <a:lstStyle/>
          <a:p>
            <a:pPr algn="l">
              <a:spcAft>
                <a:spcPts val="600"/>
              </a:spcAft>
            </a:pPr>
            <a:r>
              <a:rPr sz="2600" b="1">
                <a:solidFill>
                  <a:srgbClr val="FFFFFF"/>
                </a:solidFill>
                <a:latin typeface="Calibri"/>
              </a:rPr>
              <a:t>Herramientas — IA y frontend</a:t>
            </a:r>
          </a:p>
        </p:txBody>
      </p:sp>
      <p:sp>
        <p:nvSpPr>
          <p:cNvPr id="5" name="TextBox 4"/>
          <p:cNvSpPr txBox="1"/>
          <p:nvPr/>
        </p:nvSpPr>
        <p:spPr>
          <a:xfrm>
            <a:off x="502920" y="6446520"/>
            <a:ext cx="8229600" cy="320040"/>
          </a:xfrm>
          <a:prstGeom prst="rect">
            <a:avLst/>
          </a:prstGeom>
          <a:noFill/>
        </p:spPr>
        <p:txBody>
          <a:bodyPr wrap="square" anchor="t" lIns="50800" rIns="50800" tIns="25400" bIns="254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46520"/>
            <a:ext cx="822960" cy="320040"/>
          </a:xfrm>
          <a:prstGeom prst="rect">
            <a:avLst/>
          </a:prstGeom>
          <a:noFill/>
        </p:spPr>
        <p:txBody>
          <a:bodyPr wrap="square" anchor="t" lIns="50800" rIns="50800" tIns="25400" bIns="25400">
            <a:spAutoFit/>
          </a:bodyPr>
          <a:lstStyle/>
          <a:p>
            <a:pPr algn="r">
              <a:spcAft>
                <a:spcPts val="600"/>
              </a:spcAft>
            </a:pPr>
            <a:r>
              <a:rPr sz="1000" b="0">
                <a:solidFill>
                  <a:srgbClr val="4A5B68"/>
                </a:solidFill>
                <a:latin typeface="Calibri"/>
              </a:rPr>
              <a:t>15</a:t>
            </a:r>
          </a:p>
        </p:txBody>
      </p:sp>
      <p:graphicFrame>
        <p:nvGraphicFramePr>
          <p:cNvPr id="7" name="Table 6"/>
          <p:cNvGraphicFramePr>
            <a:graphicFrameLocks noGrp="1"/>
          </p:cNvGraphicFramePr>
          <p:nvPr/>
        </p:nvGraphicFramePr>
        <p:xfrm>
          <a:off x="548640" y="1371600"/>
          <a:ext cx="11064239" cy="365760"/>
        </p:xfrm>
        <a:graphic>
          <a:graphicData uri="http://schemas.openxmlformats.org/drawingml/2006/table">
            <a:tbl>
              <a:tblPr>
                <a:tableStyleId>{5C22544A-7EE6-4342-B048-85BDC9FD1C3A}</a:tableStyleId>
              </a:tblPr>
              <a:tblGrid>
                <a:gridCol w="2103119"/>
                <a:gridCol w="1188720"/>
                <a:gridCol w="7772400"/>
              </a:tblGrid>
              <a:tr h="45720">
                <a:tc>
                  <a:txBody>
                    <a:bodyPr/>
                    <a:lstStyle/>
                    <a:p>
                      <a:r>
                        <a:rPr sz="1300" b="1">
                          <a:solidFill>
                            <a:srgbClr val="FFFFFF"/>
                          </a:solidFill>
                          <a:latin typeface="Calibri"/>
                        </a:rPr>
                        <a:t>Herramienta</a:t>
                      </a:r>
                    </a:p>
                  </a:txBody>
                  <a:tcPr anchor="ctr" marT="25400" marB="25400">
                    <a:solidFill>
                      <a:srgbClr val="013A57"/>
                    </a:solidFill>
                  </a:tcPr>
                </a:tc>
                <a:tc>
                  <a:txBody>
                    <a:bodyPr/>
                    <a:lstStyle/>
                    <a:p>
                      <a:r>
                        <a:rPr sz="1300" b="1">
                          <a:solidFill>
                            <a:srgbClr val="FFFFFF"/>
                          </a:solidFill>
                          <a:latin typeface="Calibri"/>
                        </a:rPr>
                        <a:t>Capa</a:t>
                      </a:r>
                    </a:p>
                  </a:txBody>
                  <a:tcPr anchor="ctr" marT="25400" marB="25400">
                    <a:solidFill>
                      <a:srgbClr val="013A57"/>
                    </a:solidFill>
                  </a:tcPr>
                </a:tc>
                <a:tc>
                  <a:txBody>
                    <a:bodyPr/>
                    <a:lstStyle/>
                    <a:p>
                      <a:r>
                        <a:rPr sz="1300" b="1">
                          <a:solidFill>
                            <a:srgbClr val="FFFFFF"/>
                          </a:solidFill>
                          <a:latin typeface="Calibri"/>
                        </a:rPr>
                        <a:t>Para qué sirve exactamente en la aplicación</a:t>
                      </a:r>
                    </a:p>
                  </a:txBody>
                  <a:tcPr anchor="ctr" marT="25400" marB="25400">
                    <a:solidFill>
                      <a:srgbClr val="013A57"/>
                    </a:solidFill>
                  </a:tcPr>
                </a:tc>
              </a:tr>
              <a:tr h="45720">
                <a:tc>
                  <a:txBody>
                    <a:bodyPr/>
                    <a:lstStyle/>
                    <a:p>
                      <a:r>
                        <a:rPr sz="1250" b="1">
                          <a:solidFill>
                            <a:srgbClr val="013A57"/>
                          </a:solidFill>
                          <a:latin typeface="Calibri"/>
                        </a:rPr>
                        <a:t>OpenAI SDK</a:t>
                      </a:r>
                    </a:p>
                  </a:txBody>
                  <a:tcPr anchor="ctr" marT="25400" marB="25400">
                    <a:solidFill>
                      <a:srgbClr val="EEF2F6"/>
                    </a:solidFill>
                  </a:tcPr>
                </a:tc>
                <a:tc>
                  <a:txBody>
                    <a:bodyPr/>
                    <a:lstStyle/>
                    <a:p>
                      <a:r>
                        <a:rPr sz="1250" b="0">
                          <a:solidFill>
                            <a:srgbClr val="1B2A38"/>
                          </a:solidFill>
                          <a:latin typeface="Calibri"/>
                        </a:rPr>
                        <a:t>IA</a:t>
                      </a:r>
                    </a:p>
                  </a:txBody>
                  <a:tcPr anchor="ctr" marT="25400" marB="25400">
                    <a:solidFill>
                      <a:srgbClr val="EEF2F6"/>
                    </a:solidFill>
                  </a:tcPr>
                </a:tc>
                <a:tc>
                  <a:txBody>
                    <a:bodyPr/>
                    <a:lstStyle/>
                    <a:p>
                      <a:r>
                        <a:rPr sz="1250" b="0">
                          <a:solidFill>
                            <a:srgbClr val="1B2A38"/>
                          </a:solidFill>
                          <a:latin typeface="Calibri"/>
                        </a:rPr>
                        <a:t>Cliente para hablar con el modelo. Es el ÚNICO componente de pago, y es opcional.</a:t>
                      </a:r>
                    </a:p>
                  </a:txBody>
                  <a:tcPr anchor="ctr" marT="25400" marB="25400">
                    <a:solidFill>
                      <a:srgbClr val="EEF2F6"/>
                    </a:solidFill>
                  </a:tcPr>
                </a:tc>
              </a:tr>
              <a:tr h="45720">
                <a:tc>
                  <a:txBody>
                    <a:bodyPr/>
                    <a:lstStyle/>
                    <a:p>
                      <a:r>
                        <a:rPr sz="1250" b="1">
                          <a:solidFill>
                            <a:srgbClr val="013A57"/>
                          </a:solidFill>
                          <a:latin typeface="Calibri"/>
                        </a:rPr>
                        <a:t>GPT-4o-mini</a:t>
                      </a:r>
                    </a:p>
                  </a:txBody>
                  <a:tcPr anchor="ctr" marT="25400" marB="25400">
                    <a:solidFill>
                      <a:srgbClr val="FFFFFF"/>
                    </a:solidFill>
                  </a:tcPr>
                </a:tc>
                <a:tc>
                  <a:txBody>
                    <a:bodyPr/>
                    <a:lstStyle/>
                    <a:p>
                      <a:r>
                        <a:rPr sz="1250" b="0">
                          <a:solidFill>
                            <a:srgbClr val="1B2A38"/>
                          </a:solidFill>
                          <a:latin typeface="Calibri"/>
                        </a:rPr>
                        <a:t>IA</a:t>
                      </a:r>
                    </a:p>
                  </a:txBody>
                  <a:tcPr anchor="ctr" marT="25400" marB="25400">
                    <a:solidFill>
                      <a:srgbClr val="FFFFFF"/>
                    </a:solidFill>
                  </a:tcPr>
                </a:tc>
                <a:tc>
                  <a:txBody>
                    <a:bodyPr/>
                    <a:lstStyle/>
                    <a:p>
                      <a:r>
                        <a:rPr sz="1250" b="0">
                          <a:solidFill>
                            <a:srgbClr val="1B2A38"/>
                          </a:solidFill>
                          <a:latin typeface="Calibri"/>
                        </a:rPr>
                        <a:t>El modelo. Interpreta la pregunta y REDACTA la respuesta. Temperatura 0. Nunca genera cifras.</a:t>
                      </a:r>
                    </a:p>
                  </a:txBody>
                  <a:tcPr anchor="ctr" marT="25400" marB="25400">
                    <a:solidFill>
                      <a:srgbClr val="FFFFFF"/>
                    </a:solidFill>
                  </a:tcPr>
                </a:tc>
              </a:tr>
              <a:tr h="45720">
                <a:tc>
                  <a:txBody>
                    <a:bodyPr/>
                    <a:lstStyle/>
                    <a:p>
                      <a:r>
                        <a:rPr sz="1250" b="1">
                          <a:solidFill>
                            <a:srgbClr val="013A57"/>
                          </a:solidFill>
                          <a:latin typeface="Calibri"/>
                        </a:rPr>
                        <a:t>function calling</a:t>
                      </a:r>
                    </a:p>
                  </a:txBody>
                  <a:tcPr anchor="ctr" marT="25400" marB="25400">
                    <a:solidFill>
                      <a:srgbClr val="EEF2F6"/>
                    </a:solidFill>
                  </a:tcPr>
                </a:tc>
                <a:tc>
                  <a:txBody>
                    <a:bodyPr/>
                    <a:lstStyle/>
                    <a:p>
                      <a:r>
                        <a:rPr sz="1250" b="0">
                          <a:solidFill>
                            <a:srgbClr val="1B2A38"/>
                          </a:solidFill>
                          <a:latin typeface="Calibri"/>
                        </a:rPr>
                        <a:t>IA</a:t>
                      </a:r>
                    </a:p>
                  </a:txBody>
                  <a:tcPr anchor="ctr" marT="25400" marB="25400">
                    <a:solidFill>
                      <a:srgbClr val="EEF2F6"/>
                    </a:solidFill>
                  </a:tcPr>
                </a:tc>
                <a:tc>
                  <a:txBody>
                    <a:bodyPr/>
                    <a:lstStyle/>
                    <a:p>
                      <a:r>
                        <a:rPr sz="1250" b="0">
                          <a:solidFill>
                            <a:srgbClr val="1B2A38"/>
                          </a:solidFill>
                          <a:latin typeface="Calibri"/>
                        </a:rPr>
                        <a:t>El mecanismo por el que el modelo PIDE los datos a nuestras herramientas en vez de inventarlos.</a:t>
                      </a:r>
                    </a:p>
                  </a:txBody>
                  <a:tcPr anchor="ctr" marT="25400" marB="25400">
                    <a:solidFill>
                      <a:srgbClr val="EEF2F6"/>
                    </a:solidFill>
                  </a:tcPr>
                </a:tc>
              </a:tr>
              <a:tr h="45720">
                <a:tc>
                  <a:txBody>
                    <a:bodyPr/>
                    <a:lstStyle/>
                    <a:p>
                      <a:r>
                        <a:rPr sz="1250" b="1">
                          <a:solidFill>
                            <a:srgbClr val="013A57"/>
                          </a:solidFill>
                          <a:latin typeface="Calibri"/>
                        </a:rPr>
                        <a:t>HTML + JS vanilla</a:t>
                      </a:r>
                    </a:p>
                  </a:txBody>
                  <a:tcPr anchor="ctr" marT="25400" marB="25400">
                    <a:solidFill>
                      <a:srgbClr val="FFFFFF"/>
                    </a:solidFill>
                  </a:tcPr>
                </a:tc>
                <a:tc>
                  <a:txBody>
                    <a:bodyPr/>
                    <a:lstStyle/>
                    <a:p>
                      <a:r>
                        <a:rPr sz="1250" b="0">
                          <a:solidFill>
                            <a:srgbClr val="1B2A38"/>
                          </a:solidFill>
                          <a:latin typeface="Calibri"/>
                        </a:rPr>
                        <a:t>Frontend</a:t>
                      </a:r>
                    </a:p>
                  </a:txBody>
                  <a:tcPr anchor="ctr" marT="25400" marB="25400">
                    <a:solidFill>
                      <a:srgbClr val="FFFFFF"/>
                    </a:solidFill>
                  </a:tcPr>
                </a:tc>
                <a:tc>
                  <a:txBody>
                    <a:bodyPr/>
                    <a:lstStyle/>
                    <a:p>
                      <a:r>
                        <a:rPr sz="1250" b="0">
                          <a:solidFill>
                            <a:srgbClr val="1B2A38"/>
                          </a:solidFill>
                          <a:latin typeface="Calibri"/>
                        </a:rPr>
                        <a:t>La interfaz (index.html). Sin framework: una SPA ligera con cinco secciones.</a:t>
                      </a:r>
                    </a:p>
                  </a:txBody>
                  <a:tcPr anchor="ctr" marT="25400" marB="25400">
                    <a:solidFill>
                      <a:srgbClr val="FFFFFF"/>
                    </a:solidFill>
                  </a:tcPr>
                </a:tc>
              </a:tr>
              <a:tr h="45720">
                <a:tc>
                  <a:txBody>
                    <a:bodyPr/>
                    <a:lstStyle/>
                    <a:p>
                      <a:r>
                        <a:rPr sz="1250" b="1">
                          <a:solidFill>
                            <a:srgbClr val="013A57"/>
                          </a:solidFill>
                          <a:latin typeface="Calibri"/>
                        </a:rPr>
                        <a:t>marked</a:t>
                      </a:r>
                    </a:p>
                  </a:txBody>
                  <a:tcPr anchor="ctr" marT="25400" marB="25400">
                    <a:solidFill>
                      <a:srgbClr val="EEF2F6"/>
                    </a:solidFill>
                  </a:tcPr>
                </a:tc>
                <a:tc>
                  <a:txBody>
                    <a:bodyPr/>
                    <a:lstStyle/>
                    <a:p>
                      <a:r>
                        <a:rPr sz="1250" b="0">
                          <a:solidFill>
                            <a:srgbClr val="1B2A38"/>
                          </a:solidFill>
                          <a:latin typeface="Calibri"/>
                        </a:rPr>
                        <a:t>Frontend</a:t>
                      </a:r>
                    </a:p>
                  </a:txBody>
                  <a:tcPr anchor="ctr" marT="25400" marB="25400">
                    <a:solidFill>
                      <a:srgbClr val="EEF2F6"/>
                    </a:solidFill>
                  </a:tcPr>
                </a:tc>
                <a:tc>
                  <a:txBody>
                    <a:bodyPr/>
                    <a:lstStyle/>
                    <a:p>
                      <a:r>
                        <a:rPr sz="1250" b="0">
                          <a:solidFill>
                            <a:srgbClr val="1B2A38"/>
                          </a:solidFill>
                          <a:latin typeface="Calibri"/>
                        </a:rPr>
                        <a:t>Convierte a HTML el Markdown con el que responde el asistente (tablas, negritas, listas).</a:t>
                      </a:r>
                    </a:p>
                  </a:txBody>
                  <a:tcPr anchor="ctr" marT="25400" marB="25400">
                    <a:solidFill>
                      <a:srgbClr val="EEF2F6"/>
                    </a:solidFill>
                  </a:tcPr>
                </a:tc>
              </a:tr>
              <a:tr h="45720">
                <a:tc>
                  <a:txBody>
                    <a:bodyPr/>
                    <a:lstStyle/>
                    <a:p>
                      <a:r>
                        <a:rPr sz="1250" b="1">
                          <a:solidFill>
                            <a:srgbClr val="013A57"/>
                          </a:solidFill>
                          <a:latin typeface="Calibri"/>
                        </a:rPr>
                        <a:t>DOMPurify</a:t>
                      </a:r>
                    </a:p>
                  </a:txBody>
                  <a:tcPr anchor="ctr" marT="25400" marB="25400">
                    <a:solidFill>
                      <a:srgbClr val="FFFFFF"/>
                    </a:solidFill>
                  </a:tcPr>
                </a:tc>
                <a:tc>
                  <a:txBody>
                    <a:bodyPr/>
                    <a:lstStyle/>
                    <a:p>
                      <a:r>
                        <a:rPr sz="1250" b="0">
                          <a:solidFill>
                            <a:srgbClr val="1B2A38"/>
                          </a:solidFill>
                          <a:latin typeface="Calibri"/>
                        </a:rPr>
                        <a:t>Frontend</a:t>
                      </a:r>
                    </a:p>
                  </a:txBody>
                  <a:tcPr anchor="ctr" marT="25400" marB="25400">
                    <a:solidFill>
                      <a:srgbClr val="FFFFFF"/>
                    </a:solidFill>
                  </a:tcPr>
                </a:tc>
                <a:tc>
                  <a:txBody>
                    <a:bodyPr/>
                    <a:lstStyle/>
                    <a:p>
                      <a:r>
                        <a:rPr sz="1250" b="0">
                          <a:solidFill>
                            <a:srgbClr val="1B2A38"/>
                          </a:solidFill>
                          <a:latin typeface="Calibri"/>
                        </a:rPr>
                        <a:t>Sanea ese HTML antes de pintarlo: evita la inyección de código en el navegador (XSS).</a:t>
                      </a:r>
                    </a:p>
                  </a:txBody>
                  <a:tcPr anchor="ctr" marT="25400" marB="25400">
                    <a:solidFill>
                      <a:srgbClr val="FFFFFF"/>
                    </a:solidFill>
                  </a:tcPr>
                </a:tc>
              </a:tr>
              <a:tr h="45720">
                <a:tc>
                  <a:txBody>
                    <a:bodyPr/>
                    <a:lstStyle/>
                    <a:p>
                      <a:r>
                        <a:rPr sz="1250" b="1">
                          <a:solidFill>
                            <a:srgbClr val="013A57"/>
                          </a:solidFill>
                          <a:latin typeface="Calibri"/>
                        </a:rPr>
                        <a:t>localStorage</a:t>
                      </a:r>
                    </a:p>
                  </a:txBody>
                  <a:tcPr anchor="ctr" marT="25400" marB="25400">
                    <a:solidFill>
                      <a:srgbClr val="EEF2F6"/>
                    </a:solidFill>
                  </a:tcPr>
                </a:tc>
                <a:tc>
                  <a:txBody>
                    <a:bodyPr/>
                    <a:lstStyle/>
                    <a:p>
                      <a:r>
                        <a:rPr sz="1250" b="0">
                          <a:solidFill>
                            <a:srgbClr val="1B2A38"/>
                          </a:solidFill>
                          <a:latin typeface="Calibri"/>
                        </a:rPr>
                        <a:t>Frontend</a:t>
                      </a:r>
                    </a:p>
                  </a:txBody>
                  <a:tcPr anchor="ctr" marT="25400" marB="25400">
                    <a:solidFill>
                      <a:srgbClr val="EEF2F6"/>
                    </a:solidFill>
                  </a:tcPr>
                </a:tc>
                <a:tc>
                  <a:txBody>
                    <a:bodyPr/>
                    <a:lstStyle/>
                    <a:p>
                      <a:r>
                        <a:rPr sz="1250" b="0">
                          <a:solidFill>
                            <a:srgbClr val="1B2A38"/>
                          </a:solidFill>
                          <a:latin typeface="Calibri"/>
                        </a:rPr>
                        <a:t>Guarda el historial de la conversación en el navegador; se restaura al recargar.</a:t>
                      </a:r>
                    </a:p>
                  </a:txBody>
                  <a:tcPr anchor="ctr" marT="25400" marB="25400">
                    <a:solidFill>
                      <a:srgbClr val="EEF2F6"/>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10515600" cy="731520"/>
          </a:xfrm>
          <a:prstGeom prst="rect">
            <a:avLst/>
          </a:prstGeom>
          <a:noFill/>
        </p:spPr>
        <p:txBody>
          <a:bodyPr wrap="square" anchor="ctr" lIns="50800" rIns="50800" tIns="25400" bIns="25400">
            <a:spAutoFit/>
          </a:bodyPr>
          <a:lstStyle/>
          <a:p>
            <a:pPr algn="l">
              <a:spcAft>
                <a:spcPts val="600"/>
              </a:spcAft>
            </a:pPr>
            <a:r>
              <a:rPr sz="2600" b="1">
                <a:solidFill>
                  <a:srgbClr val="FFFFFF"/>
                </a:solidFill>
                <a:latin typeface="Calibri"/>
              </a:rPr>
              <a:t>Los módulos propios del proyecto</a:t>
            </a:r>
          </a:p>
        </p:txBody>
      </p:sp>
      <p:sp>
        <p:nvSpPr>
          <p:cNvPr id="5" name="TextBox 4"/>
          <p:cNvSpPr txBox="1"/>
          <p:nvPr/>
        </p:nvSpPr>
        <p:spPr>
          <a:xfrm>
            <a:off x="502920" y="6446520"/>
            <a:ext cx="8229600" cy="320040"/>
          </a:xfrm>
          <a:prstGeom prst="rect">
            <a:avLst/>
          </a:prstGeom>
          <a:noFill/>
        </p:spPr>
        <p:txBody>
          <a:bodyPr wrap="square" anchor="t" lIns="50800" rIns="50800" tIns="25400" bIns="254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46520"/>
            <a:ext cx="822960" cy="320040"/>
          </a:xfrm>
          <a:prstGeom prst="rect">
            <a:avLst/>
          </a:prstGeom>
          <a:noFill/>
        </p:spPr>
        <p:txBody>
          <a:bodyPr wrap="square" anchor="t" lIns="50800" rIns="50800" tIns="25400" bIns="25400">
            <a:spAutoFit/>
          </a:bodyPr>
          <a:lstStyle/>
          <a:p>
            <a:pPr algn="r">
              <a:spcAft>
                <a:spcPts val="600"/>
              </a:spcAft>
            </a:pPr>
            <a:r>
              <a:rPr sz="1000" b="0">
                <a:solidFill>
                  <a:srgbClr val="4A5B68"/>
                </a:solidFill>
                <a:latin typeface="Calibri"/>
              </a:rPr>
              <a:t>16</a:t>
            </a:r>
          </a:p>
        </p:txBody>
      </p:sp>
      <p:sp>
        <p:nvSpPr>
          <p:cNvPr id="7" name="TextBox 6"/>
          <p:cNvSpPr txBox="1"/>
          <p:nvPr/>
        </p:nvSpPr>
        <p:spPr>
          <a:xfrm>
            <a:off x="548640" y="1371600"/>
            <a:ext cx="11064240" cy="548640"/>
          </a:xfrm>
          <a:prstGeom prst="rect">
            <a:avLst/>
          </a:prstGeom>
          <a:noFill/>
        </p:spPr>
        <p:txBody>
          <a:bodyPr wrap="square" anchor="t" lIns="50800" rIns="50800" tIns="25400" bIns="25400">
            <a:spAutoFit/>
          </a:bodyPr>
          <a:lstStyle/>
          <a:p>
            <a:pPr algn="l">
              <a:spcAft>
                <a:spcPts val="600"/>
              </a:spcAft>
            </a:pPr>
            <a:r>
              <a:rPr sz="1400" b="0">
                <a:solidFill>
                  <a:srgbClr val="4A5B68"/>
                </a:solidFill>
                <a:latin typeface="Calibri"/>
              </a:rPr>
              <a:t>Código propio: cada fichero, una responsabilidad.</a:t>
            </a:r>
          </a:p>
        </p:txBody>
      </p:sp>
      <p:graphicFrame>
        <p:nvGraphicFramePr>
          <p:cNvPr id="8" name="Table 7"/>
          <p:cNvGraphicFramePr>
            <a:graphicFrameLocks noGrp="1"/>
          </p:cNvGraphicFramePr>
          <p:nvPr/>
        </p:nvGraphicFramePr>
        <p:xfrm>
          <a:off x="548640" y="1938528"/>
          <a:ext cx="11064240" cy="365760"/>
        </p:xfrm>
        <a:graphic>
          <a:graphicData uri="http://schemas.openxmlformats.org/drawingml/2006/table">
            <a:tbl>
              <a:tblPr>
                <a:tableStyleId>{5C22544A-7EE6-4342-B048-85BDC9FD1C3A}</a:tableStyleId>
              </a:tblPr>
              <a:tblGrid>
                <a:gridCol w="2743200"/>
                <a:gridCol w="8321040"/>
              </a:tblGrid>
              <a:tr h="40640">
                <a:tc>
                  <a:txBody>
                    <a:bodyPr/>
                    <a:lstStyle/>
                    <a:p>
                      <a:r>
                        <a:rPr sz="1300" b="1">
                          <a:solidFill>
                            <a:srgbClr val="FFFFFF"/>
                          </a:solidFill>
                          <a:latin typeface="Calibri"/>
                        </a:rPr>
                        <a:t>Fichero</a:t>
                      </a:r>
                    </a:p>
                  </a:txBody>
                  <a:tcPr anchor="ctr" marT="25400" marB="25400">
                    <a:solidFill>
                      <a:srgbClr val="013A57"/>
                    </a:solidFill>
                  </a:tcPr>
                </a:tc>
                <a:tc>
                  <a:txBody>
                    <a:bodyPr/>
                    <a:lstStyle/>
                    <a:p>
                      <a:r>
                        <a:rPr sz="1300" b="1">
                          <a:solidFill>
                            <a:srgbClr val="FFFFFF"/>
                          </a:solidFill>
                          <a:latin typeface="Calibri"/>
                        </a:rPr>
                        <a:t>Responsabilidad</a:t>
                      </a:r>
                    </a:p>
                  </a:txBody>
                  <a:tcPr anchor="ctr" marT="25400" marB="25400">
                    <a:solidFill>
                      <a:srgbClr val="013A57"/>
                    </a:solidFill>
                  </a:tcPr>
                </a:tc>
              </a:tr>
              <a:tr h="40640">
                <a:tc>
                  <a:txBody>
                    <a:bodyPr/>
                    <a:lstStyle/>
                    <a:p>
                      <a:r>
                        <a:rPr sz="1150" b="0">
                          <a:solidFill>
                            <a:srgbClr val="013A57"/>
                          </a:solidFill>
                          <a:latin typeface="Consolas"/>
                        </a:rPr>
                        <a:t>api.py</a:t>
                      </a:r>
                    </a:p>
                  </a:txBody>
                  <a:tcPr anchor="ctr" marT="25400" marB="25400">
                    <a:solidFill>
                      <a:srgbClr val="EEF2F6"/>
                    </a:solidFill>
                  </a:tcPr>
                </a:tc>
                <a:tc>
                  <a:txBody>
                    <a:bodyPr/>
                    <a:lstStyle/>
                    <a:p>
                      <a:r>
                        <a:rPr sz="1250" b="0">
                          <a:solidFill>
                            <a:srgbClr val="1B2A38"/>
                          </a:solidFill>
                          <a:latin typeface="Calibri"/>
                        </a:rPr>
                        <a:t>El núcleo: endpoints, ROUTER DETERMINISTA y orquestación de la respuesta.</a:t>
                      </a:r>
                    </a:p>
                  </a:txBody>
                  <a:tcPr anchor="ctr" marT="25400" marB="25400">
                    <a:solidFill>
                      <a:srgbClr val="EEF2F6"/>
                    </a:solidFill>
                  </a:tcPr>
                </a:tc>
              </a:tr>
              <a:tr h="40640">
                <a:tc>
                  <a:txBody>
                    <a:bodyPr/>
                    <a:lstStyle/>
                    <a:p>
                      <a:r>
                        <a:rPr sz="1150" b="0">
                          <a:solidFill>
                            <a:srgbClr val="013A57"/>
                          </a:solidFill>
                          <a:latin typeface="Consolas"/>
                        </a:rPr>
                        <a:t>fuente_oficial.py</a:t>
                      </a:r>
                    </a:p>
                  </a:txBody>
                  <a:tcPr anchor="ctr" marT="25400" marB="25400">
                    <a:solidFill>
                      <a:srgbClr val="FFFFFF"/>
                    </a:solidFill>
                  </a:tcPr>
                </a:tc>
                <a:tc>
                  <a:txBody>
                    <a:bodyPr/>
                    <a:lstStyle/>
                    <a:p>
                      <a:r>
                        <a:rPr sz="1250" b="0">
                          <a:solidFill>
                            <a:srgbClr val="1B2A38"/>
                          </a:solidFill>
                          <a:latin typeface="Calibri"/>
                        </a:rPr>
                        <a:t>Lee la ontología y devuelve el valor CON SU CITA. La única puerta a las cifras.</a:t>
                      </a:r>
                    </a:p>
                  </a:txBody>
                  <a:tcPr anchor="ctr" marT="25400" marB="25400">
                    <a:solidFill>
                      <a:srgbClr val="FFFFFF"/>
                    </a:solidFill>
                  </a:tcPr>
                </a:tc>
              </a:tr>
              <a:tr h="40640">
                <a:tc>
                  <a:txBody>
                    <a:bodyPr/>
                    <a:lstStyle/>
                    <a:p>
                      <a:r>
                        <a:rPr sz="1150" b="0">
                          <a:solidFill>
                            <a:srgbClr val="013A57"/>
                          </a:solidFill>
                          <a:latin typeface="Consolas"/>
                        </a:rPr>
                        <a:t>conversor_unidades.py</a:t>
                      </a:r>
                    </a:p>
                  </a:txBody>
                  <a:tcPr anchor="ctr" marT="25400" marB="25400">
                    <a:solidFill>
                      <a:srgbClr val="EEF2F6"/>
                    </a:solidFill>
                  </a:tcPr>
                </a:tc>
                <a:tc>
                  <a:txBody>
                    <a:bodyPr/>
                    <a:lstStyle/>
                    <a:p>
                      <a:r>
                        <a:rPr sz="1250" b="0">
                          <a:solidFill>
                            <a:srgbClr val="1B2A38"/>
                          </a:solidFill>
                          <a:latin typeface="Calibri"/>
                        </a:rPr>
                        <a:t>Conversión de unidades y factores ISO 13443 (tabla A.1) para comparar de forma homogénea.</a:t>
                      </a:r>
                    </a:p>
                  </a:txBody>
                  <a:tcPr anchor="ctr" marT="25400" marB="25400">
                    <a:solidFill>
                      <a:srgbClr val="EEF2F6"/>
                    </a:solidFill>
                  </a:tcPr>
                </a:tc>
              </a:tr>
              <a:tr h="40640">
                <a:tc>
                  <a:txBody>
                    <a:bodyPr/>
                    <a:lstStyle/>
                    <a:p>
                      <a:r>
                        <a:rPr sz="1150" b="0">
                          <a:solidFill>
                            <a:srgbClr val="013A57"/>
                          </a:solidFill>
                          <a:latin typeface="Consolas"/>
                        </a:rPr>
                        <a:t>condiciones_referencia.py</a:t>
                      </a:r>
                    </a:p>
                  </a:txBody>
                  <a:tcPr anchor="ctr" marT="25400" marB="25400">
                    <a:solidFill>
                      <a:srgbClr val="FFFFFF"/>
                    </a:solidFill>
                  </a:tcPr>
                </a:tc>
                <a:tc>
                  <a:txBody>
                    <a:bodyPr/>
                    <a:lstStyle/>
                    <a:p>
                      <a:r>
                        <a:rPr sz="1250" b="0">
                          <a:solidFill>
                            <a:srgbClr val="1B2A38"/>
                          </a:solidFill>
                          <a:latin typeface="Calibri"/>
                        </a:rPr>
                        <a:t>Gestión de las condiciones de referencia (temperatura y presión) de cada país.</a:t>
                      </a:r>
                    </a:p>
                  </a:txBody>
                  <a:tcPr anchor="ctr" marT="25400" marB="25400">
                    <a:solidFill>
                      <a:srgbClr val="FFFFFF"/>
                    </a:solidFill>
                  </a:tcPr>
                </a:tc>
              </a:tr>
              <a:tr h="40640">
                <a:tc>
                  <a:txBody>
                    <a:bodyPr/>
                    <a:lstStyle/>
                    <a:p>
                      <a:r>
                        <a:rPr sz="1150" b="0">
                          <a:solidFill>
                            <a:srgbClr val="013A57"/>
                          </a:solidFill>
                          <a:latin typeface="Consolas"/>
                        </a:rPr>
                        <a:t>motor_determinista.py</a:t>
                      </a:r>
                    </a:p>
                  </a:txBody>
                  <a:tcPr anchor="ctr" marT="25400" marB="25400">
                    <a:solidFill>
                      <a:srgbClr val="EEF2F6"/>
                    </a:solidFill>
                  </a:tcPr>
                </a:tc>
                <a:tc>
                  <a:txBody>
                    <a:bodyPr/>
                    <a:lstStyle/>
                    <a:p>
                      <a:r>
                        <a:rPr sz="1250" b="0">
                          <a:solidFill>
                            <a:srgbClr val="1B2A38"/>
                          </a:solidFill>
                          <a:latin typeface="Calibri"/>
                        </a:rPr>
                        <a:t>Lógica de comparación y de evaluación de cumplimiento, sin IA.</a:t>
                      </a:r>
                    </a:p>
                  </a:txBody>
                  <a:tcPr anchor="ctr" marT="25400" marB="25400">
                    <a:solidFill>
                      <a:srgbClr val="EEF2F6"/>
                    </a:solidFill>
                  </a:tcPr>
                </a:tc>
              </a:tr>
              <a:tr h="40640">
                <a:tc>
                  <a:txBody>
                    <a:bodyPr/>
                    <a:lstStyle/>
                    <a:p>
                      <a:r>
                        <a:rPr sz="1150" b="0">
                          <a:solidFill>
                            <a:srgbClr val="013A57"/>
                          </a:solidFill>
                          <a:latin typeface="Consolas"/>
                        </a:rPr>
                        <a:t>agente_pdf.py</a:t>
                      </a:r>
                    </a:p>
                  </a:txBody>
                  <a:tcPr anchor="ctr" marT="25400" marB="25400">
                    <a:solidFill>
                      <a:srgbClr val="FFFFFF"/>
                    </a:solidFill>
                  </a:tcPr>
                </a:tc>
                <a:tc>
                  <a:txBody>
                    <a:bodyPr/>
                    <a:lstStyle/>
                    <a:p>
                      <a:r>
                        <a:rPr sz="1250" b="0">
                          <a:solidFill>
                            <a:srgbClr val="1B2A38"/>
                          </a:solidFill>
                          <a:latin typeface="Calibri"/>
                        </a:rPr>
                        <a:t>Indexación de los PDF y búsqueda documental (RAG) sobre el índice SQLite.</a:t>
                      </a:r>
                    </a:p>
                  </a:txBody>
                  <a:tcPr anchor="ctr" marT="25400" marB="25400">
                    <a:solidFill>
                      <a:srgbClr val="FFFFFF"/>
                    </a:solidFill>
                  </a:tcPr>
                </a:tc>
              </a:tr>
              <a:tr h="40640">
                <a:tc>
                  <a:txBody>
                    <a:bodyPr/>
                    <a:lstStyle/>
                    <a:p>
                      <a:r>
                        <a:rPr sz="1150" b="0">
                          <a:solidFill>
                            <a:srgbClr val="013A57"/>
                          </a:solidFill>
                          <a:latin typeface="Consolas"/>
                        </a:rPr>
                        <a:t>llm_interface.py</a:t>
                      </a:r>
                    </a:p>
                  </a:txBody>
                  <a:tcPr anchor="ctr" marT="25400" marB="25400">
                    <a:solidFill>
                      <a:srgbClr val="EEF2F6"/>
                    </a:solidFill>
                  </a:tcPr>
                </a:tc>
                <a:tc>
                  <a:txBody>
                    <a:bodyPr/>
                    <a:lstStyle/>
                    <a:p>
                      <a:r>
                        <a:rPr sz="1250" b="0">
                          <a:solidFill>
                            <a:srgbClr val="1B2A38"/>
                          </a:solidFill>
                          <a:latin typeface="Calibri"/>
                        </a:rPr>
                        <a:t>La frontera con el LLM: define las herramientas que puede invocar y sus salvaguardas.</a:t>
                      </a:r>
                    </a:p>
                  </a:txBody>
                  <a:tcPr anchor="ctr" marT="25400" marB="25400">
                    <a:solidFill>
                      <a:srgbClr val="EEF2F6"/>
                    </a:solidFill>
                  </a:tcPr>
                </a:tc>
              </a:tr>
              <a:tr h="40640">
                <a:tc>
                  <a:txBody>
                    <a:bodyPr/>
                    <a:lstStyle/>
                    <a:p>
                      <a:r>
                        <a:rPr sz="1150" b="0">
                          <a:solidFill>
                            <a:srgbClr val="013A57"/>
                          </a:solidFill>
                          <a:latin typeface="Consolas"/>
                        </a:rPr>
                        <a:t>busqueda_semantica.py</a:t>
                      </a:r>
                    </a:p>
                  </a:txBody>
                  <a:tcPr anchor="ctr" marT="25400" marB="25400">
                    <a:solidFill>
                      <a:srgbClr val="FFFFFF"/>
                    </a:solidFill>
                  </a:tcPr>
                </a:tc>
                <a:tc>
                  <a:txBody>
                    <a:bodyPr/>
                    <a:lstStyle/>
                    <a:p>
                      <a:r>
                        <a:rPr sz="1250" b="0">
                          <a:solidFill>
                            <a:srgbClr val="1B2A38"/>
                          </a:solidFill>
                          <a:latin typeface="Calibri"/>
                        </a:rPr>
                        <a:t>Capa de búsqueda semántica, PREPARADA y opcional (desactivada por defecto).</a:t>
                      </a:r>
                    </a:p>
                  </a:txBody>
                  <a:tcPr anchor="ctr" marT="25400" marB="25400">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10515600" cy="731520"/>
          </a:xfrm>
          <a:prstGeom prst="rect">
            <a:avLst/>
          </a:prstGeom>
          <a:noFill/>
        </p:spPr>
        <p:txBody>
          <a:bodyPr wrap="square" anchor="ctr" lIns="50800" rIns="50800" tIns="25400" bIns="25400">
            <a:spAutoFit/>
          </a:bodyPr>
          <a:lstStyle/>
          <a:p>
            <a:pPr algn="l">
              <a:spcAft>
                <a:spcPts val="600"/>
              </a:spcAft>
            </a:pPr>
            <a:r>
              <a:rPr sz="2600" b="1">
                <a:solidFill>
                  <a:srgbClr val="FFFFFF"/>
                </a:solidFill>
                <a:latin typeface="Calibri"/>
              </a:rPr>
              <a:t>Los servicios que expone la aplicación (endpoints)</a:t>
            </a:r>
          </a:p>
        </p:txBody>
      </p:sp>
      <p:sp>
        <p:nvSpPr>
          <p:cNvPr id="5" name="TextBox 4"/>
          <p:cNvSpPr txBox="1"/>
          <p:nvPr/>
        </p:nvSpPr>
        <p:spPr>
          <a:xfrm>
            <a:off x="502920" y="6446520"/>
            <a:ext cx="8229600" cy="320040"/>
          </a:xfrm>
          <a:prstGeom prst="rect">
            <a:avLst/>
          </a:prstGeom>
          <a:noFill/>
        </p:spPr>
        <p:txBody>
          <a:bodyPr wrap="square" anchor="t" lIns="50800" rIns="50800" tIns="25400" bIns="254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46520"/>
            <a:ext cx="822960" cy="320040"/>
          </a:xfrm>
          <a:prstGeom prst="rect">
            <a:avLst/>
          </a:prstGeom>
          <a:noFill/>
        </p:spPr>
        <p:txBody>
          <a:bodyPr wrap="square" anchor="t" lIns="50800" rIns="50800" tIns="25400" bIns="25400">
            <a:spAutoFit/>
          </a:bodyPr>
          <a:lstStyle/>
          <a:p>
            <a:pPr algn="r">
              <a:spcAft>
                <a:spcPts val="600"/>
              </a:spcAft>
            </a:pPr>
            <a:r>
              <a:rPr sz="1000" b="0">
                <a:solidFill>
                  <a:srgbClr val="4A5B68"/>
                </a:solidFill>
                <a:latin typeface="Calibri"/>
              </a:rPr>
              <a:t>17</a:t>
            </a:r>
          </a:p>
        </p:txBody>
      </p:sp>
      <p:graphicFrame>
        <p:nvGraphicFramePr>
          <p:cNvPr id="7" name="Table 6"/>
          <p:cNvGraphicFramePr>
            <a:graphicFrameLocks noGrp="1"/>
          </p:cNvGraphicFramePr>
          <p:nvPr/>
        </p:nvGraphicFramePr>
        <p:xfrm>
          <a:off x="548640" y="1371600"/>
          <a:ext cx="11064240" cy="365760"/>
        </p:xfrm>
        <a:graphic>
          <a:graphicData uri="http://schemas.openxmlformats.org/drawingml/2006/table">
            <a:tbl>
              <a:tblPr>
                <a:tableStyleId>{5C22544A-7EE6-4342-B048-85BDC9FD1C3A}</a:tableStyleId>
              </a:tblPr>
              <a:tblGrid>
                <a:gridCol w="2743200"/>
                <a:gridCol w="8321040"/>
              </a:tblGrid>
              <a:tr h="40640">
                <a:tc>
                  <a:txBody>
                    <a:bodyPr/>
                    <a:lstStyle/>
                    <a:p>
                      <a:r>
                        <a:rPr sz="1300" b="1">
                          <a:solidFill>
                            <a:srgbClr val="FFFFFF"/>
                          </a:solidFill>
                          <a:latin typeface="Calibri"/>
                        </a:rPr>
                        <a:t>Endpoint</a:t>
                      </a:r>
                    </a:p>
                  </a:txBody>
                  <a:tcPr anchor="ctr" marT="25400" marB="25400">
                    <a:solidFill>
                      <a:srgbClr val="013A57"/>
                    </a:solidFill>
                  </a:tcPr>
                </a:tc>
                <a:tc>
                  <a:txBody>
                    <a:bodyPr/>
                    <a:lstStyle/>
                    <a:p>
                      <a:r>
                        <a:rPr sz="1300" b="1">
                          <a:solidFill>
                            <a:srgbClr val="FFFFFF"/>
                          </a:solidFill>
                          <a:latin typeface="Calibri"/>
                        </a:rPr>
                        <a:t>Qué hace</a:t>
                      </a:r>
                    </a:p>
                  </a:txBody>
                  <a:tcPr anchor="ctr" marT="25400" marB="25400">
                    <a:solidFill>
                      <a:srgbClr val="013A57"/>
                    </a:solidFill>
                  </a:tcPr>
                </a:tc>
              </a:tr>
              <a:tr h="40640">
                <a:tc>
                  <a:txBody>
                    <a:bodyPr/>
                    <a:lstStyle/>
                    <a:p>
                      <a:r>
                        <a:rPr sz="1150" b="0">
                          <a:solidFill>
                            <a:srgbClr val="013A57"/>
                          </a:solidFill>
                          <a:latin typeface="Consolas"/>
                        </a:rPr>
                        <a:t>/</a:t>
                      </a:r>
                    </a:p>
                  </a:txBody>
                  <a:tcPr anchor="ctr" marT="25400" marB="25400">
                    <a:solidFill>
                      <a:srgbClr val="EEF2F6"/>
                    </a:solidFill>
                  </a:tcPr>
                </a:tc>
                <a:tc>
                  <a:txBody>
                    <a:bodyPr/>
                    <a:lstStyle/>
                    <a:p>
                      <a:r>
                        <a:rPr sz="1250" b="0">
                          <a:solidFill>
                            <a:srgbClr val="1B2A38"/>
                          </a:solidFill>
                          <a:latin typeface="Calibri"/>
                        </a:rPr>
                        <a:t>Sirve la interfaz web (index.html).</a:t>
                      </a:r>
                    </a:p>
                  </a:txBody>
                  <a:tcPr anchor="ctr" marT="25400" marB="25400">
                    <a:solidFill>
                      <a:srgbClr val="EEF2F6"/>
                    </a:solidFill>
                  </a:tcPr>
                </a:tc>
              </a:tr>
              <a:tr h="40640">
                <a:tc>
                  <a:txBody>
                    <a:bodyPr/>
                    <a:lstStyle/>
                    <a:p>
                      <a:r>
                        <a:rPr sz="1150" b="0">
                          <a:solidFill>
                            <a:srgbClr val="013A57"/>
                          </a:solidFill>
                          <a:latin typeface="Consolas"/>
                        </a:rPr>
                        <a:t>/api/status</a:t>
                      </a:r>
                    </a:p>
                  </a:txBody>
                  <a:tcPr anchor="ctr" marT="25400" marB="25400">
                    <a:solidFill>
                      <a:srgbClr val="FFFFFF"/>
                    </a:solidFill>
                  </a:tcPr>
                </a:tc>
                <a:tc>
                  <a:txBody>
                    <a:bodyPr/>
                    <a:lstStyle/>
                    <a:p>
                      <a:r>
                        <a:rPr sz="1250" b="0">
                          <a:solidFill>
                            <a:srgbClr val="1B2A38"/>
                          </a:solidFill>
                          <a:latin typeface="Calibri"/>
                        </a:rPr>
                        <a:t>Estado del sistema: si la IA está activa o se opera en modo determinista.</a:t>
                      </a:r>
                    </a:p>
                  </a:txBody>
                  <a:tcPr anchor="ctr" marT="25400" marB="25400">
                    <a:solidFill>
                      <a:srgbClr val="FFFFFF"/>
                    </a:solidFill>
                  </a:tcPr>
                </a:tc>
              </a:tr>
              <a:tr h="40640">
                <a:tc>
                  <a:txBody>
                    <a:bodyPr/>
                    <a:lstStyle/>
                    <a:p>
                      <a:r>
                        <a:rPr sz="1150" b="0">
                          <a:solidFill>
                            <a:srgbClr val="013A57"/>
                          </a:solidFill>
                          <a:latin typeface="Consolas"/>
                        </a:rPr>
                        <a:t>/api/chat</a:t>
                      </a:r>
                    </a:p>
                  </a:txBody>
                  <a:tcPr anchor="ctr" marT="25400" marB="25400">
                    <a:solidFill>
                      <a:srgbClr val="EEF2F6"/>
                    </a:solidFill>
                  </a:tcPr>
                </a:tc>
                <a:tc>
                  <a:txBody>
                    <a:bodyPr/>
                    <a:lstStyle/>
                    <a:p>
                      <a:r>
                        <a:rPr sz="1250" b="0">
                          <a:solidFill>
                            <a:srgbClr val="1B2A38"/>
                          </a:solidFill>
                          <a:latin typeface="Calibri"/>
                        </a:rPr>
                        <a:t>Consulta en lenguaje natural. Resuelve también INTERCONEXIONES en cadena entre países.</a:t>
                      </a:r>
                    </a:p>
                  </a:txBody>
                  <a:tcPr anchor="ctr" marT="25400" marB="25400">
                    <a:solidFill>
                      <a:srgbClr val="EEF2F6"/>
                    </a:solidFill>
                  </a:tcPr>
                </a:tc>
              </a:tr>
              <a:tr h="40640">
                <a:tc>
                  <a:txBody>
                    <a:bodyPr/>
                    <a:lstStyle/>
                    <a:p>
                      <a:r>
                        <a:rPr sz="1150" b="0">
                          <a:solidFill>
                            <a:srgbClr val="013A57"/>
                          </a:solidFill>
                          <a:latin typeface="Consolas"/>
                        </a:rPr>
                        <a:t>/api/parametros</a:t>
                      </a:r>
                    </a:p>
                  </a:txBody>
                  <a:tcPr anchor="ctr" marT="25400" marB="25400">
                    <a:solidFill>
                      <a:srgbClr val="FFFFFF"/>
                    </a:solidFill>
                  </a:tcPr>
                </a:tc>
                <a:tc>
                  <a:txBody>
                    <a:bodyPr/>
                    <a:lstStyle/>
                    <a:p>
                      <a:r>
                        <a:rPr sz="1250" b="0">
                          <a:solidFill>
                            <a:srgbClr val="1B2A38"/>
                          </a:solidFill>
                          <a:latin typeface="Calibri"/>
                        </a:rPr>
                        <a:t>Lista los parámetros y jurisdicciones disponibles para cada tipo de gas.</a:t>
                      </a:r>
                    </a:p>
                  </a:txBody>
                  <a:tcPr anchor="ctr" marT="25400" marB="25400">
                    <a:solidFill>
                      <a:srgbClr val="FFFFFF"/>
                    </a:solidFill>
                  </a:tcPr>
                </a:tc>
              </a:tr>
              <a:tr h="40640">
                <a:tc>
                  <a:txBody>
                    <a:bodyPr/>
                    <a:lstStyle/>
                    <a:p>
                      <a:r>
                        <a:rPr sz="1150" b="0">
                          <a:solidFill>
                            <a:srgbClr val="013A57"/>
                          </a:solidFill>
                          <a:latin typeface="Consolas"/>
                        </a:rPr>
                        <a:t>/api/comparar</a:t>
                      </a:r>
                    </a:p>
                  </a:txBody>
                  <a:tcPr anchor="ctr" marT="25400" marB="25400">
                    <a:solidFill>
                      <a:srgbClr val="EEF2F6"/>
                    </a:solidFill>
                  </a:tcPr>
                </a:tc>
                <a:tc>
                  <a:txBody>
                    <a:bodyPr/>
                    <a:lstStyle/>
                    <a:p>
                      <a:r>
                        <a:rPr sz="1250" b="0">
                          <a:solidFill>
                            <a:srgbClr val="1B2A38"/>
                          </a:solidFill>
                          <a:latin typeface="Calibri"/>
                        </a:rPr>
                        <a:t>Comparación puntual de un parámetro entre España y otro país.</a:t>
                      </a:r>
                    </a:p>
                  </a:txBody>
                  <a:tcPr anchor="ctr" marT="25400" marB="25400">
                    <a:solidFill>
                      <a:srgbClr val="EEF2F6"/>
                    </a:solidFill>
                  </a:tcPr>
                </a:tc>
              </a:tr>
              <a:tr h="40640">
                <a:tc>
                  <a:txBody>
                    <a:bodyPr/>
                    <a:lstStyle/>
                    <a:p>
                      <a:r>
                        <a:rPr sz="1150" b="0">
                          <a:solidFill>
                            <a:srgbClr val="013A57"/>
                          </a:solidFill>
                          <a:latin typeface="Consolas"/>
                        </a:rPr>
                        <a:t>/api/matriz</a:t>
                      </a:r>
                    </a:p>
                  </a:txBody>
                  <a:tcPr anchor="ctr" marT="25400" marB="25400">
                    <a:solidFill>
                      <a:srgbClr val="FFFFFF"/>
                    </a:solidFill>
                  </a:tcPr>
                </a:tc>
                <a:tc>
                  <a:txBody>
                    <a:bodyPr/>
                    <a:lstStyle/>
                    <a:p>
                      <a:r>
                        <a:rPr sz="1250" b="0">
                          <a:solidFill>
                            <a:srgbClr val="1B2A38"/>
                          </a:solidFill>
                          <a:latin typeface="Calibri"/>
                        </a:rPr>
                        <a:t>La matriz comparativa completa: todas las jurisdicciones × todos los parámetros.</a:t>
                      </a:r>
                    </a:p>
                  </a:txBody>
                  <a:tcPr anchor="ctr" marT="25400" marB="25400">
                    <a:solidFill>
                      <a:srgbClr val="FFFFFF"/>
                    </a:solidFill>
                  </a:tcPr>
                </a:tc>
              </a:tr>
              <a:tr h="40640">
                <a:tc>
                  <a:txBody>
                    <a:bodyPr/>
                    <a:lstStyle/>
                    <a:p>
                      <a:r>
                        <a:rPr sz="1150" b="0">
                          <a:solidFill>
                            <a:srgbClr val="013A57"/>
                          </a:solidFill>
                          <a:latin typeface="Consolas"/>
                        </a:rPr>
                        <a:t>/api/analizar-gas</a:t>
                      </a:r>
                    </a:p>
                  </a:txBody>
                  <a:tcPr anchor="ctr" marT="25400" marB="25400">
                    <a:solidFill>
                      <a:srgbClr val="EEF2F6"/>
                    </a:solidFill>
                  </a:tcPr>
                </a:tc>
                <a:tc>
                  <a:txBody>
                    <a:bodyPr/>
                    <a:lstStyle/>
                    <a:p>
                      <a:r>
                        <a:rPr sz="1250" b="0">
                          <a:solidFill>
                            <a:srgbClr val="1B2A38"/>
                          </a:solidFill>
                          <a:latin typeface="Calibri"/>
                        </a:rPr>
                        <a:t>Valida un gas concreto contra la normativa de cada país: cumple / alerta / no cumple.</a:t>
                      </a:r>
                    </a:p>
                  </a:txBody>
                  <a:tcPr anchor="ctr" marT="25400" marB="25400">
                    <a:solidFill>
                      <a:srgbClr val="EEF2F6"/>
                    </a:solidFill>
                  </a:tcPr>
                </a:tc>
              </a:tr>
              <a:tr h="40640">
                <a:tc>
                  <a:txBody>
                    <a:bodyPr/>
                    <a:lstStyle/>
                    <a:p>
                      <a:r>
                        <a:rPr sz="1150" b="0">
                          <a:solidFill>
                            <a:srgbClr val="013A57"/>
                          </a:solidFill>
                          <a:latin typeface="Consolas"/>
                        </a:rPr>
                        <a:t>/api/exportar-matriz</a:t>
                      </a:r>
                    </a:p>
                  </a:txBody>
                  <a:tcPr anchor="ctr" marT="25400" marB="25400">
                    <a:solidFill>
                      <a:srgbClr val="FFFFFF"/>
                    </a:solidFill>
                  </a:tcPr>
                </a:tc>
                <a:tc>
                  <a:txBody>
                    <a:bodyPr/>
                    <a:lstStyle/>
                    <a:p>
                      <a:r>
                        <a:rPr sz="1250" b="0">
                          <a:solidFill>
                            <a:srgbClr val="1B2A38"/>
                          </a:solidFill>
                          <a:latin typeface="Calibri"/>
                        </a:rPr>
                        <a:t>Descarga la comparativa en Excel o PDF para las jurisdicciones seleccionadas.</a:t>
                      </a:r>
                    </a:p>
                  </a:txBody>
                  <a:tcPr anchor="ctr" marT="25400" marB="25400">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10515600" cy="731520"/>
          </a:xfrm>
          <a:prstGeom prst="rect">
            <a:avLst/>
          </a:prstGeom>
          <a:noFill/>
        </p:spPr>
        <p:txBody>
          <a:bodyPr wrap="square" anchor="ctr" lIns="50800" rIns="50800" tIns="25400" bIns="25400">
            <a:spAutoFit/>
          </a:bodyPr>
          <a:lstStyle/>
          <a:p>
            <a:pPr algn="l">
              <a:spcAft>
                <a:spcPts val="600"/>
              </a:spcAft>
            </a:pPr>
            <a:r>
              <a:rPr sz="2600" b="1">
                <a:solidFill>
                  <a:srgbClr val="FFFFFF"/>
                </a:solidFill>
                <a:latin typeface="Calibri"/>
              </a:rPr>
              <a:t>El motor determinista y la normalización (ISO 13443)</a:t>
            </a:r>
          </a:p>
        </p:txBody>
      </p:sp>
      <p:sp>
        <p:nvSpPr>
          <p:cNvPr id="5" name="TextBox 4"/>
          <p:cNvSpPr txBox="1"/>
          <p:nvPr/>
        </p:nvSpPr>
        <p:spPr>
          <a:xfrm>
            <a:off x="502920" y="6446520"/>
            <a:ext cx="8229600" cy="320040"/>
          </a:xfrm>
          <a:prstGeom prst="rect">
            <a:avLst/>
          </a:prstGeom>
          <a:noFill/>
        </p:spPr>
        <p:txBody>
          <a:bodyPr wrap="square" anchor="t" lIns="50800" rIns="50800" tIns="25400" bIns="254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46520"/>
            <a:ext cx="822960" cy="320040"/>
          </a:xfrm>
          <a:prstGeom prst="rect">
            <a:avLst/>
          </a:prstGeom>
          <a:noFill/>
        </p:spPr>
        <p:txBody>
          <a:bodyPr wrap="square" anchor="t" lIns="50800" rIns="50800" tIns="25400" bIns="25400">
            <a:spAutoFit/>
          </a:bodyPr>
          <a:lstStyle/>
          <a:p>
            <a:pPr algn="r">
              <a:spcAft>
                <a:spcPts val="600"/>
              </a:spcAft>
            </a:pPr>
            <a:r>
              <a:rPr sz="1000" b="0">
                <a:solidFill>
                  <a:srgbClr val="4A5B68"/>
                </a:solidFill>
                <a:latin typeface="Calibri"/>
              </a:rPr>
              <a:t>18</a:t>
            </a:r>
          </a:p>
        </p:txBody>
      </p:sp>
      <p:sp>
        <p:nvSpPr>
          <p:cNvPr id="7" name="TextBox 6"/>
          <p:cNvSpPr txBox="1"/>
          <p:nvPr/>
        </p:nvSpPr>
        <p:spPr>
          <a:xfrm>
            <a:off x="548640" y="1325880"/>
            <a:ext cx="11064240" cy="822960"/>
          </a:xfrm>
          <a:prstGeom prst="rect">
            <a:avLst/>
          </a:prstGeom>
          <a:noFill/>
        </p:spPr>
        <p:txBody>
          <a:bodyPr wrap="square" anchor="t" lIns="50800" rIns="50800" tIns="25400" bIns="25400">
            <a:spAutoFit/>
          </a:bodyPr>
          <a:lstStyle/>
          <a:p>
            <a:pPr algn="l">
              <a:spcAft>
                <a:spcPts val="600"/>
              </a:spcAft>
            </a:pPr>
            <a:r>
              <a:rPr sz="1500" b="0">
                <a:solidFill>
                  <a:srgbClr val="4A5B68"/>
                </a:solidFill>
                <a:latin typeface="Calibri"/>
              </a:rPr>
              <a:t>Determinista = ante la misma consulta, siempre la misma respuesta, por código, sin azar ni IA.</a:t>
            </a:r>
          </a:p>
        </p:txBody>
      </p:sp>
      <p:sp>
        <p:nvSpPr>
          <p:cNvPr id="8" name="TextBox 7"/>
          <p:cNvSpPr txBox="1"/>
          <p:nvPr/>
        </p:nvSpPr>
        <p:spPr>
          <a:xfrm>
            <a:off x="640080" y="2103120"/>
            <a:ext cx="10881360" cy="4754880"/>
          </a:xfrm>
          <a:prstGeom prst="rect">
            <a:avLst/>
          </a:prstGeom>
          <a:noFill/>
        </p:spPr>
        <p:txBody>
          <a:bodyPr wrap="square" anchor="t" lIns="50800" rIns="50800" tIns="25400" bIns="25400">
            <a:spAutoFit/>
          </a:bodyPr>
          <a:lstStyle/>
          <a:p>
            <a:pPr algn="l">
              <a:spcAft>
                <a:spcPts val="1000"/>
              </a:spcAft>
            </a:pPr>
            <a:r>
              <a:rPr sz="1500" b="0">
                <a:solidFill>
                  <a:srgbClr val="1B2A38"/>
                </a:solidFill>
                <a:latin typeface="Calibri"/>
              </a:rPr>
              <a:t>• El motor resuelve SIN IA siete tipos de intención: valor de un límite · cumplimiento de un valor medido · norma de origen · intercambiabilidad · restrictividad frente a España · comparación directa · conversión de condiciones.</a:t>
            </a:r>
          </a:p>
          <a:p>
            <a:pPr algn="l">
              <a:spcAft>
                <a:spcPts val="1000"/>
              </a:spcAft>
            </a:pPr>
            <a:r>
              <a:rPr sz="1500" b="0">
                <a:solidFill>
                  <a:srgbClr val="1B2A38"/>
                </a:solidFill>
                <a:latin typeface="Calibri"/>
              </a:rPr>
              <a:t>• Problema: cada país usa unidades y condiciones distintas (kWh/m3 o MJ/m3; referidos a 0, 15 o 25 °C). Compararlos en bruto sería metodológicamente incorrecto.</a:t>
            </a:r>
          </a:p>
          <a:p>
            <a:pPr algn="l">
              <a:spcAft>
                <a:spcPts val="1000"/>
              </a:spcAft>
            </a:pPr>
            <a:r>
              <a:rPr sz="1500" b="0">
                <a:solidFill>
                  <a:srgbClr val="1B2A38"/>
                </a:solidFill>
                <a:latin typeface="Calibri"/>
              </a:rPr>
              <a:t>• Solución: todos los valores se llevan a la BASE ESPAÑOLA (0/0) con los factores literales de la Tabla A.1 de la norma ISO 13443.</a:t>
            </a:r>
          </a:p>
          <a:p>
            <a:pPr algn="l" lvl="1">
              <a:spcAft>
                <a:spcPts val="1000"/>
              </a:spcAft>
            </a:pPr>
            <a:r>
              <a:rPr sz="1300" b="0">
                <a:solidFill>
                  <a:srgbClr val="4A5B68"/>
                </a:solidFill>
                <a:latin typeface="Calibri"/>
              </a:rPr>
              <a:t>• 25/0 → 0/0 = 1,0026   ·   15/15 → 0/0 = 1,0570 (PCS) / 1,0569 (Wobbe)   ·   0/0 = identidad</a:t>
            </a:r>
          </a:p>
          <a:p>
            <a:pPr algn="l">
              <a:spcAft>
                <a:spcPts val="1000"/>
              </a:spcAft>
            </a:pPr>
            <a:r>
              <a:rPr sz="1500" b="0">
                <a:solidFill>
                  <a:srgbClr val="1B2A38"/>
                </a:solidFill>
                <a:latin typeface="Calibri"/>
              </a:rPr>
              <a:t>• Esos factores NO se estiman: se toman de la norma. Los valores derivados se muestran con 2 decimales, sin falsa precisión.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10515600" cy="731520"/>
          </a:xfrm>
          <a:prstGeom prst="rect">
            <a:avLst/>
          </a:prstGeom>
          <a:noFill/>
        </p:spPr>
        <p:txBody>
          <a:bodyPr wrap="square" anchor="ctr" lIns="50800" rIns="50800" tIns="25400" bIns="25400">
            <a:spAutoFit/>
          </a:bodyPr>
          <a:lstStyle/>
          <a:p>
            <a:pPr algn="l">
              <a:spcAft>
                <a:spcPts val="600"/>
              </a:spcAft>
            </a:pPr>
            <a:r>
              <a:rPr sz="2600" b="1">
                <a:solidFill>
                  <a:srgbClr val="FFFFFF"/>
                </a:solidFill>
                <a:latin typeface="Calibri"/>
              </a:rPr>
              <a:t>La IA y sus salvaguardas</a:t>
            </a:r>
          </a:p>
        </p:txBody>
      </p:sp>
      <p:sp>
        <p:nvSpPr>
          <p:cNvPr id="5" name="TextBox 4"/>
          <p:cNvSpPr txBox="1"/>
          <p:nvPr/>
        </p:nvSpPr>
        <p:spPr>
          <a:xfrm>
            <a:off x="502920" y="6446520"/>
            <a:ext cx="8229600" cy="320040"/>
          </a:xfrm>
          <a:prstGeom prst="rect">
            <a:avLst/>
          </a:prstGeom>
          <a:noFill/>
        </p:spPr>
        <p:txBody>
          <a:bodyPr wrap="square" anchor="t" lIns="50800" rIns="50800" tIns="25400" bIns="254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46520"/>
            <a:ext cx="822960" cy="320040"/>
          </a:xfrm>
          <a:prstGeom prst="rect">
            <a:avLst/>
          </a:prstGeom>
          <a:noFill/>
        </p:spPr>
        <p:txBody>
          <a:bodyPr wrap="square" anchor="t" lIns="50800" rIns="50800" tIns="25400" bIns="25400">
            <a:spAutoFit/>
          </a:bodyPr>
          <a:lstStyle/>
          <a:p>
            <a:pPr algn="r">
              <a:spcAft>
                <a:spcPts val="600"/>
              </a:spcAft>
            </a:pPr>
            <a:r>
              <a:rPr sz="1000" b="0">
                <a:solidFill>
                  <a:srgbClr val="4A5B68"/>
                </a:solidFill>
                <a:latin typeface="Calibri"/>
              </a:rPr>
              <a:t>19</a:t>
            </a:r>
          </a:p>
        </p:txBody>
      </p:sp>
      <p:sp>
        <p:nvSpPr>
          <p:cNvPr id="7" name="TextBox 6"/>
          <p:cNvSpPr txBox="1"/>
          <p:nvPr/>
        </p:nvSpPr>
        <p:spPr>
          <a:xfrm>
            <a:off x="548640" y="1325880"/>
            <a:ext cx="11064240" cy="822960"/>
          </a:xfrm>
          <a:prstGeom prst="rect">
            <a:avLst/>
          </a:prstGeom>
          <a:noFill/>
        </p:spPr>
        <p:txBody>
          <a:bodyPr wrap="square" anchor="t" lIns="50800" rIns="50800" tIns="25400" bIns="25400">
            <a:spAutoFit/>
          </a:bodyPr>
          <a:lstStyle/>
          <a:p>
            <a:pPr algn="l">
              <a:spcAft>
                <a:spcPts val="600"/>
              </a:spcAft>
            </a:pPr>
            <a:r>
              <a:rPr sz="1500" b="0">
                <a:solidFill>
                  <a:srgbClr val="4A5B68"/>
                </a:solidFill>
                <a:latin typeface="Calibri"/>
              </a:rPr>
              <a:t>Cuando una consulta sí llega al modelo, opera atada en corto.</a:t>
            </a:r>
          </a:p>
        </p:txBody>
      </p:sp>
      <p:sp>
        <p:nvSpPr>
          <p:cNvPr id="8" name="TextBox 7"/>
          <p:cNvSpPr txBox="1"/>
          <p:nvPr/>
        </p:nvSpPr>
        <p:spPr>
          <a:xfrm>
            <a:off x="640080" y="2103120"/>
            <a:ext cx="10881360" cy="4754880"/>
          </a:xfrm>
          <a:prstGeom prst="rect">
            <a:avLst/>
          </a:prstGeom>
          <a:noFill/>
        </p:spPr>
        <p:txBody>
          <a:bodyPr wrap="square" anchor="t" lIns="50800" rIns="50800" tIns="25400" bIns="25400">
            <a:spAutoFit/>
          </a:bodyPr>
          <a:lstStyle/>
          <a:p>
            <a:pPr algn="l">
              <a:spcAft>
                <a:spcPts val="1000"/>
              </a:spcAft>
            </a:pPr>
            <a:r>
              <a:rPr sz="1500" b="0">
                <a:solidFill>
                  <a:srgbClr val="1B2A38"/>
                </a:solidFill>
                <a:latin typeface="Calibri"/>
              </a:rPr>
              <a:t>• PUEDE: interpretar la pregunta, detectar la intención, reformular y REDACTAR la respuesta.</a:t>
            </a:r>
          </a:p>
          <a:p>
            <a:pPr algn="l">
              <a:spcAft>
                <a:spcPts val="1000"/>
              </a:spcAft>
            </a:pPr>
            <a:r>
              <a:rPr sz="1500" b="0">
                <a:solidFill>
                  <a:srgbClr val="1B2A38"/>
                </a:solidFill>
                <a:latin typeface="Calibri"/>
              </a:rPr>
              <a:t>• NO PUEDE: generar límites, inventar valores, deducir conversiones ni inferir comparabilidad.</a:t>
            </a:r>
          </a:p>
          <a:p>
            <a:pPr algn="l">
              <a:spcAft>
                <a:spcPts val="1000"/>
              </a:spcAft>
            </a:pPr>
            <a:r>
              <a:rPr sz="1500" b="0">
                <a:solidFill>
                  <a:srgbClr val="1B2A38"/>
                </a:solidFill>
                <a:latin typeface="Calibri"/>
              </a:rPr>
              <a:t>• Para cualquier número invoca una herramienta: consultar · evaluar_cumplimiento · convertir_unidades · convertir_condiciones_iso13443 · buscar_pdfs.</a:t>
            </a:r>
          </a:p>
          <a:p>
            <a:pPr algn="l">
              <a:spcAft>
                <a:spcPts val="1000"/>
              </a:spcAft>
            </a:pPr>
            <a:r>
              <a:rPr sz="1500" b="0">
                <a:solidFill>
                  <a:srgbClr val="1B2A38"/>
                </a:solidFill>
                <a:latin typeface="Calibri"/>
              </a:rPr>
              <a:t>• El SYSTEM_PROMPT le prohíbe inventar cifras, le obliga a citar y le acota el ámbito a la calidad del gas.</a:t>
            </a:r>
          </a:p>
          <a:p>
            <a:pPr algn="l">
              <a:spcAft>
                <a:spcPts val="1000"/>
              </a:spcAft>
            </a:pPr>
            <a:r>
              <a:rPr sz="1500" b="0">
                <a:solidFill>
                  <a:srgbClr val="1B2A38"/>
                </a:solidFill>
                <a:latin typeface="Calibri"/>
              </a:rPr>
              <a:t>• Temperatura 0 (máxima previsibilidad) y hasta 5 iteraciones de llamadas a herramientas.</a:t>
            </a:r>
          </a:p>
          <a:p>
            <a:pPr algn="l">
              <a:spcAft>
                <a:spcPts val="1000"/>
              </a:spcAft>
            </a:pPr>
            <a:r>
              <a:rPr sz="1500" b="0">
                <a:solidFill>
                  <a:srgbClr val="1B2A38"/>
                </a:solidFill>
                <a:latin typeface="Calibri"/>
              </a:rPr>
              <a:t>• Tolerancia a fallos: si OpenAI no está disponible, conmuta al motor determinista. El chat NUNCA devuelve error.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10515600" cy="731520"/>
          </a:xfrm>
          <a:prstGeom prst="rect">
            <a:avLst/>
          </a:prstGeom>
          <a:noFill/>
        </p:spPr>
        <p:txBody>
          <a:bodyPr wrap="square" anchor="ctr" lIns="50800" rIns="50800" tIns="25400" bIns="25400">
            <a:spAutoFit/>
          </a:bodyPr>
          <a:lstStyle/>
          <a:p>
            <a:pPr algn="l">
              <a:spcAft>
                <a:spcPts val="600"/>
              </a:spcAft>
            </a:pPr>
            <a:r>
              <a:rPr sz="2600" b="1">
                <a:solidFill>
                  <a:srgbClr val="FFFFFF"/>
                </a:solidFill>
                <a:latin typeface="Calibri"/>
              </a:rPr>
              <a:t>La recuperación documental (RAG)</a:t>
            </a:r>
          </a:p>
        </p:txBody>
      </p:sp>
      <p:sp>
        <p:nvSpPr>
          <p:cNvPr id="5" name="TextBox 4"/>
          <p:cNvSpPr txBox="1"/>
          <p:nvPr/>
        </p:nvSpPr>
        <p:spPr>
          <a:xfrm>
            <a:off x="502920" y="6446520"/>
            <a:ext cx="8229600" cy="320040"/>
          </a:xfrm>
          <a:prstGeom prst="rect">
            <a:avLst/>
          </a:prstGeom>
          <a:noFill/>
        </p:spPr>
        <p:txBody>
          <a:bodyPr wrap="square" anchor="t" lIns="50800" rIns="50800" tIns="25400" bIns="254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46520"/>
            <a:ext cx="822960" cy="320040"/>
          </a:xfrm>
          <a:prstGeom prst="rect">
            <a:avLst/>
          </a:prstGeom>
          <a:noFill/>
        </p:spPr>
        <p:txBody>
          <a:bodyPr wrap="square" anchor="t" lIns="50800" rIns="50800" tIns="25400" bIns="25400">
            <a:spAutoFit/>
          </a:bodyPr>
          <a:lstStyle/>
          <a:p>
            <a:pPr algn="r">
              <a:spcAft>
                <a:spcPts val="600"/>
              </a:spcAft>
            </a:pPr>
            <a:r>
              <a:rPr sz="1000" b="0">
                <a:solidFill>
                  <a:srgbClr val="4A5B68"/>
                </a:solidFill>
                <a:latin typeface="Calibri"/>
              </a:rPr>
              <a:t>20</a:t>
            </a:r>
          </a:p>
        </p:txBody>
      </p:sp>
      <p:sp>
        <p:nvSpPr>
          <p:cNvPr id="7" name="TextBox 6"/>
          <p:cNvSpPr txBox="1"/>
          <p:nvPr/>
        </p:nvSpPr>
        <p:spPr>
          <a:xfrm>
            <a:off x="548640" y="1325880"/>
            <a:ext cx="11064240" cy="822960"/>
          </a:xfrm>
          <a:prstGeom prst="rect">
            <a:avLst/>
          </a:prstGeom>
          <a:noFill/>
        </p:spPr>
        <p:txBody>
          <a:bodyPr wrap="square" anchor="t" lIns="50800" rIns="50800" tIns="25400" bIns="25400">
            <a:spAutoFit/>
          </a:bodyPr>
          <a:lstStyle/>
          <a:p>
            <a:pPr algn="l">
              <a:spcAft>
                <a:spcPts val="600"/>
              </a:spcAft>
            </a:pPr>
            <a:r>
              <a:rPr sz="1500" b="0">
                <a:solidFill>
                  <a:srgbClr val="4A5B68"/>
                </a:solidFill>
                <a:latin typeface="Calibri"/>
              </a:rPr>
              <a:t>Para las consultas de texto abierto, la respuesta se fundamenta en los documentos oficiales.</a:t>
            </a:r>
          </a:p>
        </p:txBody>
      </p:sp>
      <p:sp>
        <p:nvSpPr>
          <p:cNvPr id="8" name="TextBox 7"/>
          <p:cNvSpPr txBox="1"/>
          <p:nvPr/>
        </p:nvSpPr>
        <p:spPr>
          <a:xfrm>
            <a:off x="640080" y="2103120"/>
            <a:ext cx="10881360" cy="4754880"/>
          </a:xfrm>
          <a:prstGeom prst="rect">
            <a:avLst/>
          </a:prstGeom>
          <a:noFill/>
        </p:spPr>
        <p:txBody>
          <a:bodyPr wrap="square" anchor="t" lIns="50800" rIns="50800" tIns="25400" bIns="25400">
            <a:spAutoFit/>
          </a:bodyPr>
          <a:lstStyle/>
          <a:p>
            <a:pPr algn="l">
              <a:spcAft>
                <a:spcPts val="1000"/>
              </a:spcAft>
            </a:pPr>
            <a:r>
              <a:rPr sz="1400" b="0">
                <a:solidFill>
                  <a:srgbClr val="1B2A38"/>
                </a:solidFill>
                <a:latin typeface="Calibri"/>
              </a:rPr>
              <a:t>• INDEXACIÓN: pdfplumber extrae el texto de los PDF y lo trocea en fragmentos CON SOLAPE mediante una ventana deslizante sobre el documento completo (no por página).</a:t>
            </a:r>
          </a:p>
          <a:p>
            <a:pPr algn="l" lvl="1">
              <a:spcAft>
                <a:spcPts val="1000"/>
              </a:spcAft>
            </a:pPr>
            <a:r>
              <a:rPr sz="1200" b="0">
                <a:solidFill>
                  <a:srgbClr val="4A5B68"/>
                </a:solidFill>
                <a:latin typeface="Calibri"/>
              </a:rPr>
              <a:t>• Así, una respuesta partida entre dos páginas queda entera dentro de un mismo fragmento y sigue siendo recuperable.</a:t>
            </a:r>
          </a:p>
          <a:p>
            <a:pPr algn="l" lvl="1">
              <a:spcAft>
                <a:spcPts val="1000"/>
              </a:spcAft>
            </a:pPr>
            <a:r>
              <a:rPr sz="1200" b="0">
                <a:solidFill>
                  <a:srgbClr val="4A5B68"/>
                </a:solidFill>
                <a:latin typeface="Calibri"/>
              </a:rPr>
              <a:t>• La indexación es incremental: solo se reprocesa lo nuevo o modificado, por lo que el arranque es casi inmediato.</a:t>
            </a:r>
          </a:p>
          <a:p>
            <a:pPr algn="l">
              <a:spcAft>
                <a:spcPts val="1000"/>
              </a:spcAft>
            </a:pPr>
            <a:r>
              <a:rPr sz="1400" b="0">
                <a:solidFill>
                  <a:srgbClr val="1B2A38"/>
                </a:solidFill>
                <a:latin typeface="Calibri"/>
              </a:rPr>
              <a:t>• RECUPERACIÓN: buscar_pdfs() hace una búsqueda LÉXICA (SQLite LIKE) y devuelve los fragmentos con su archivo, página y extracto.</a:t>
            </a:r>
          </a:p>
          <a:p>
            <a:pPr algn="l">
              <a:spcAft>
                <a:spcPts val="1000"/>
              </a:spcAft>
            </a:pPr>
            <a:r>
              <a:rPr sz="1400" b="0">
                <a:solidFill>
                  <a:srgbClr val="1B2A38"/>
                </a:solidFill>
                <a:latin typeface="Calibri"/>
              </a:rPr>
              <a:t>• Es léxica, NO vectorial. Decisión consciente: es plenamente reproducible y no depende de servicios externos.</a:t>
            </a:r>
          </a:p>
          <a:p>
            <a:pPr algn="l">
              <a:spcAft>
                <a:spcPts val="1000"/>
              </a:spcAft>
            </a:pPr>
            <a:r>
              <a:rPr sz="1400" b="0">
                <a:solidFill>
                  <a:srgbClr val="1B2A38"/>
                </a:solidFill>
                <a:latin typeface="Calibri"/>
              </a:rPr>
              <a:t>• La capa semántica multilingüe está PREPARADA y justificada por el estudio de terminología (índice de variación 27,4 en gas natural), pero desactivada por defecto.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8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10515600" cy="731520"/>
          </a:xfrm>
          <a:prstGeom prst="rect">
            <a:avLst/>
          </a:prstGeom>
          <a:noFill/>
        </p:spPr>
        <p:txBody>
          <a:bodyPr wrap="square" anchor="ctr" lIns="50800" rIns="50800" tIns="25400" bIns="25400">
            <a:spAutoFit/>
          </a:bodyPr>
          <a:lstStyle/>
          <a:p>
            <a:pPr algn="l">
              <a:spcAft>
                <a:spcPts val="600"/>
              </a:spcAft>
            </a:pPr>
            <a:r>
              <a:rPr sz="2600" b="1">
                <a:solidFill>
                  <a:srgbClr val="FFFFFF"/>
                </a:solidFill>
                <a:latin typeface="Calibri"/>
              </a:rPr>
              <a:t>Ampliación: biometano e hidrógeno</a:t>
            </a:r>
          </a:p>
        </p:txBody>
      </p:sp>
      <p:sp>
        <p:nvSpPr>
          <p:cNvPr id="5" name="TextBox 4"/>
          <p:cNvSpPr txBox="1"/>
          <p:nvPr/>
        </p:nvSpPr>
        <p:spPr>
          <a:xfrm>
            <a:off x="502920" y="6446520"/>
            <a:ext cx="8229600" cy="320040"/>
          </a:xfrm>
          <a:prstGeom prst="rect">
            <a:avLst/>
          </a:prstGeom>
          <a:noFill/>
        </p:spPr>
        <p:txBody>
          <a:bodyPr wrap="square" anchor="t" lIns="50800" rIns="50800" tIns="25400" bIns="254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46520"/>
            <a:ext cx="822960" cy="320040"/>
          </a:xfrm>
          <a:prstGeom prst="rect">
            <a:avLst/>
          </a:prstGeom>
          <a:noFill/>
        </p:spPr>
        <p:txBody>
          <a:bodyPr wrap="square" anchor="t" lIns="50800" rIns="50800" tIns="25400" bIns="25400">
            <a:spAutoFit/>
          </a:bodyPr>
          <a:lstStyle/>
          <a:p>
            <a:pPr algn="r">
              <a:spcAft>
                <a:spcPts val="600"/>
              </a:spcAft>
            </a:pPr>
            <a:r>
              <a:rPr sz="1000" b="0">
                <a:solidFill>
                  <a:srgbClr val="4A5B68"/>
                </a:solidFill>
                <a:latin typeface="Calibri"/>
              </a:rPr>
              <a:t>21</a:t>
            </a:r>
          </a:p>
        </p:txBody>
      </p:sp>
      <p:sp>
        <p:nvSpPr>
          <p:cNvPr id="7" name="TextBox 6"/>
          <p:cNvSpPr txBox="1"/>
          <p:nvPr/>
        </p:nvSpPr>
        <p:spPr>
          <a:xfrm>
            <a:off x="548640" y="1371600"/>
            <a:ext cx="11064240" cy="548640"/>
          </a:xfrm>
          <a:prstGeom prst="rect">
            <a:avLst/>
          </a:prstGeom>
          <a:noFill/>
        </p:spPr>
        <p:txBody>
          <a:bodyPr wrap="square" anchor="t" lIns="50800" rIns="50800" tIns="25400" bIns="25400">
            <a:spAutoFit/>
          </a:bodyPr>
          <a:lstStyle/>
          <a:p>
            <a:pPr algn="l">
              <a:spcAft>
                <a:spcPts val="600"/>
              </a:spcAft>
            </a:pPr>
            <a:r>
              <a:rPr sz="1400" b="0">
                <a:solidFill>
                  <a:srgbClr val="4A5B68"/>
                </a:solidFill>
                <a:latin typeface="Calibri"/>
              </a:rPr>
              <a:t>Añadidos como CAPA ADITIVA: se introduce la dimensión 'tipo_gas', con gas_natural por defecto. El gas natural queda intacto.</a:t>
            </a:r>
          </a:p>
        </p:txBody>
      </p:sp>
      <p:graphicFrame>
        <p:nvGraphicFramePr>
          <p:cNvPr id="8" name="Table 7"/>
          <p:cNvGraphicFramePr>
            <a:graphicFrameLocks noGrp="1"/>
          </p:cNvGraphicFramePr>
          <p:nvPr/>
        </p:nvGraphicFramePr>
        <p:xfrm>
          <a:off x="548640" y="1938528"/>
          <a:ext cx="11064240" cy="365760"/>
        </p:xfrm>
        <a:graphic>
          <a:graphicData uri="http://schemas.openxmlformats.org/drawingml/2006/table">
            <a:tbl>
              <a:tblPr>
                <a:tableStyleId>{5C22544A-7EE6-4342-B048-85BDC9FD1C3A}</a:tableStyleId>
              </a:tblPr>
              <a:tblGrid>
                <a:gridCol w="1828800"/>
                <a:gridCol w="3017520"/>
                <a:gridCol w="4846320"/>
                <a:gridCol w="1371600"/>
              </a:tblGrid>
              <a:tr h="91440">
                <a:tc>
                  <a:txBody>
                    <a:bodyPr/>
                    <a:lstStyle/>
                    <a:p>
                      <a:r>
                        <a:rPr sz="1300" b="1">
                          <a:solidFill>
                            <a:srgbClr val="FFFFFF"/>
                          </a:solidFill>
                          <a:latin typeface="Calibri"/>
                        </a:rPr>
                        <a:t>Tipo de gas</a:t>
                      </a:r>
                    </a:p>
                  </a:txBody>
                  <a:tcPr anchor="ctr" marT="25400" marB="25400">
                    <a:solidFill>
                      <a:srgbClr val="013A57"/>
                    </a:solidFill>
                  </a:tcPr>
                </a:tc>
                <a:tc>
                  <a:txBody>
                    <a:bodyPr/>
                    <a:lstStyle/>
                    <a:p>
                      <a:r>
                        <a:rPr sz="1300" b="1">
                          <a:solidFill>
                            <a:srgbClr val="FFFFFF"/>
                          </a:solidFill>
                          <a:latin typeface="Calibri"/>
                        </a:rPr>
                        <a:t>Sección de la ontología</a:t>
                      </a:r>
                    </a:p>
                  </a:txBody>
                  <a:tcPr anchor="ctr" marT="25400" marB="25400">
                    <a:solidFill>
                      <a:srgbClr val="013A57"/>
                    </a:solidFill>
                  </a:tcPr>
                </a:tc>
                <a:tc>
                  <a:txBody>
                    <a:bodyPr/>
                    <a:lstStyle/>
                    <a:p>
                      <a:r>
                        <a:rPr sz="1300" b="1">
                          <a:solidFill>
                            <a:srgbClr val="FFFFFF"/>
                          </a:solidFill>
                          <a:latin typeface="Calibri"/>
                        </a:rPr>
                        <a:t>Jurisdicciones</a:t>
                      </a:r>
                    </a:p>
                  </a:txBody>
                  <a:tcPr anchor="ctr" marT="25400" marB="25400">
                    <a:solidFill>
                      <a:srgbClr val="013A57"/>
                    </a:solidFill>
                  </a:tcPr>
                </a:tc>
                <a:tc>
                  <a:txBody>
                    <a:bodyPr/>
                    <a:lstStyle/>
                    <a:p>
                      <a:r>
                        <a:rPr sz="1300" b="1">
                          <a:solidFill>
                            <a:srgbClr val="FFFFFF"/>
                          </a:solidFill>
                          <a:latin typeface="Calibri"/>
                        </a:rPr>
                        <a:t>Parámetros</a:t>
                      </a:r>
                    </a:p>
                  </a:txBody>
                  <a:tcPr anchor="ctr" marT="25400" marB="25400">
                    <a:solidFill>
                      <a:srgbClr val="013A57"/>
                    </a:solidFill>
                  </a:tcPr>
                </a:tc>
              </a:tr>
              <a:tr h="91440">
                <a:tc>
                  <a:txBody>
                    <a:bodyPr/>
                    <a:lstStyle/>
                    <a:p>
                      <a:r>
                        <a:rPr sz="1300" b="1">
                          <a:solidFill>
                            <a:srgbClr val="013A57"/>
                          </a:solidFill>
                          <a:latin typeface="Calibri"/>
                        </a:rPr>
                        <a:t>Gas natural</a:t>
                      </a:r>
                    </a:p>
                  </a:txBody>
                  <a:tcPr anchor="ctr" marT="25400" marB="25400">
                    <a:solidFill>
                      <a:srgbClr val="EEF2F6"/>
                    </a:solidFill>
                  </a:tcPr>
                </a:tc>
                <a:tc>
                  <a:txBody>
                    <a:bodyPr/>
                    <a:lstStyle/>
                    <a:p>
                      <a:r>
                        <a:rPr sz="1300" b="0">
                          <a:solidFill>
                            <a:srgbClr val="1B2A38"/>
                          </a:solidFill>
                          <a:latin typeface="Calibri"/>
                        </a:rPr>
                        <a:t>parametros</a:t>
                      </a:r>
                    </a:p>
                  </a:txBody>
                  <a:tcPr anchor="ctr" marT="25400" marB="25400">
                    <a:solidFill>
                      <a:srgbClr val="EEF2F6"/>
                    </a:solidFill>
                  </a:tcPr>
                </a:tc>
                <a:tc>
                  <a:txBody>
                    <a:bodyPr/>
                    <a:lstStyle/>
                    <a:p>
                      <a:r>
                        <a:rPr sz="1300" b="0">
                          <a:solidFill>
                            <a:srgbClr val="1B2A38"/>
                          </a:solidFill>
                          <a:latin typeface="Calibri"/>
                        </a:rPr>
                        <a:t>21 (España … UE)</a:t>
                      </a:r>
                    </a:p>
                  </a:txBody>
                  <a:tcPr anchor="ctr" marT="25400" marB="25400">
                    <a:solidFill>
                      <a:srgbClr val="EEF2F6"/>
                    </a:solidFill>
                  </a:tcPr>
                </a:tc>
                <a:tc>
                  <a:txBody>
                    <a:bodyPr/>
                    <a:lstStyle/>
                    <a:p>
                      <a:r>
                        <a:rPr sz="1300" b="0">
                          <a:solidFill>
                            <a:srgbClr val="1B2A38"/>
                          </a:solidFill>
                          <a:latin typeface="Calibri"/>
                        </a:rPr>
                        <a:t>10</a:t>
                      </a:r>
                    </a:p>
                  </a:txBody>
                  <a:tcPr anchor="ctr" marT="25400" marB="25400">
                    <a:solidFill>
                      <a:srgbClr val="EEF2F6"/>
                    </a:solidFill>
                  </a:tcPr>
                </a:tc>
              </a:tr>
              <a:tr h="91440">
                <a:tc>
                  <a:txBody>
                    <a:bodyPr/>
                    <a:lstStyle/>
                    <a:p>
                      <a:r>
                        <a:rPr sz="1300" b="1">
                          <a:solidFill>
                            <a:srgbClr val="013A57"/>
                          </a:solidFill>
                          <a:latin typeface="Calibri"/>
                        </a:rPr>
                        <a:t>Biometano</a:t>
                      </a:r>
                    </a:p>
                  </a:txBody>
                  <a:tcPr anchor="ctr" marT="25400" marB="25400">
                    <a:solidFill>
                      <a:srgbClr val="FFFFFF"/>
                    </a:solidFill>
                  </a:tcPr>
                </a:tc>
                <a:tc>
                  <a:txBody>
                    <a:bodyPr/>
                    <a:lstStyle/>
                    <a:p>
                      <a:r>
                        <a:rPr sz="1300" b="0">
                          <a:solidFill>
                            <a:srgbClr val="1B2A38"/>
                          </a:solidFill>
                          <a:latin typeface="Calibri"/>
                        </a:rPr>
                        <a:t>parametros_biometano</a:t>
                      </a:r>
                    </a:p>
                  </a:txBody>
                  <a:tcPr anchor="ctr" marT="25400" marB="25400">
                    <a:solidFill>
                      <a:srgbClr val="FFFFFF"/>
                    </a:solidFill>
                  </a:tcPr>
                </a:tc>
                <a:tc>
                  <a:txBody>
                    <a:bodyPr/>
                    <a:lstStyle/>
                    <a:p>
                      <a:r>
                        <a:rPr sz="1300" b="0">
                          <a:solidFill>
                            <a:srgbClr val="1B2A38"/>
                          </a:solidFill>
                          <a:latin typeface="Calibri"/>
                        </a:rPr>
                        <a:t>4 · España · Portugal · Francia · UE</a:t>
                      </a:r>
                    </a:p>
                  </a:txBody>
                  <a:tcPr anchor="ctr" marT="25400" marB="25400">
                    <a:solidFill>
                      <a:srgbClr val="FFFFFF"/>
                    </a:solidFill>
                  </a:tcPr>
                </a:tc>
                <a:tc>
                  <a:txBody>
                    <a:bodyPr/>
                    <a:lstStyle/>
                    <a:p>
                      <a:r>
                        <a:rPr sz="1300" b="0">
                          <a:solidFill>
                            <a:srgbClr val="1B2A38"/>
                          </a:solidFill>
                          <a:latin typeface="Calibri"/>
                        </a:rPr>
                        <a:t>12</a:t>
                      </a:r>
                    </a:p>
                  </a:txBody>
                  <a:tcPr anchor="ctr" marT="25400" marB="25400">
                    <a:solidFill>
                      <a:srgbClr val="FFFFFF"/>
                    </a:solidFill>
                  </a:tcPr>
                </a:tc>
              </a:tr>
              <a:tr h="91440">
                <a:tc>
                  <a:txBody>
                    <a:bodyPr/>
                    <a:lstStyle/>
                    <a:p>
                      <a:r>
                        <a:rPr sz="1300" b="1">
                          <a:solidFill>
                            <a:srgbClr val="013A57"/>
                          </a:solidFill>
                          <a:latin typeface="Calibri"/>
                        </a:rPr>
                        <a:t>Hidrógeno</a:t>
                      </a:r>
                    </a:p>
                  </a:txBody>
                  <a:tcPr anchor="ctr" marT="25400" marB="25400">
                    <a:solidFill>
                      <a:srgbClr val="EEF2F6"/>
                    </a:solidFill>
                  </a:tcPr>
                </a:tc>
                <a:tc>
                  <a:txBody>
                    <a:bodyPr/>
                    <a:lstStyle/>
                    <a:p>
                      <a:r>
                        <a:rPr sz="1300" b="0">
                          <a:solidFill>
                            <a:srgbClr val="1B2A38"/>
                          </a:solidFill>
                          <a:latin typeface="Calibri"/>
                        </a:rPr>
                        <a:t>parametros_hidrogeno</a:t>
                      </a:r>
                    </a:p>
                  </a:txBody>
                  <a:tcPr anchor="ctr" marT="25400" marB="25400">
                    <a:solidFill>
                      <a:srgbClr val="EEF2F6"/>
                    </a:solidFill>
                  </a:tcPr>
                </a:tc>
                <a:tc>
                  <a:txBody>
                    <a:bodyPr/>
                    <a:lstStyle/>
                    <a:p>
                      <a:r>
                        <a:rPr sz="1300" b="0">
                          <a:solidFill>
                            <a:srgbClr val="1B2A38"/>
                          </a:solidFill>
                          <a:latin typeface="Calibri"/>
                        </a:rPr>
                        <a:t>RED (CEN · GIE/UE · ES · FR · PT) + producto (ISO 14687)</a:t>
                      </a:r>
                    </a:p>
                  </a:txBody>
                  <a:tcPr anchor="ctr" marT="25400" marB="25400">
                    <a:solidFill>
                      <a:srgbClr val="EEF2F6"/>
                    </a:solidFill>
                  </a:tcPr>
                </a:tc>
                <a:tc>
                  <a:txBody>
                    <a:bodyPr/>
                    <a:lstStyle/>
                    <a:p>
                      <a:r>
                        <a:rPr sz="1300" b="0">
                          <a:solidFill>
                            <a:srgbClr val="1B2A38"/>
                          </a:solidFill>
                          <a:latin typeface="Calibri"/>
                        </a:rPr>
                        <a:t>18</a:t>
                      </a:r>
                    </a:p>
                  </a:txBody>
                  <a:tcPr anchor="ctr" marT="25400" marB="25400">
                    <a:solidFill>
                      <a:srgbClr val="EEF2F6"/>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508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11480"/>
            <a:ext cx="10515600" cy="731520"/>
          </a:xfrm>
          <a:prstGeom prst="rect">
            <a:avLst/>
          </a:prstGeom>
          <a:noFill/>
        </p:spPr>
        <p:txBody>
          <a:bodyPr wrap="square" anchor="t" lIns="50800" rIns="50800" tIns="25400" bIns="25400">
            <a:spAutoFit/>
          </a:bodyPr>
          <a:lstStyle/>
          <a:p>
            <a:pPr algn="l">
              <a:spcAft>
                <a:spcPts val="600"/>
              </a:spcAft>
            </a:pPr>
            <a:r>
              <a:rPr sz="3000" b="1">
                <a:solidFill>
                  <a:srgbClr val="FFFFFF"/>
                </a:solidFill>
                <a:latin typeface="Calibri"/>
              </a:rPr>
              <a:t>Las garantías del sistema</a:t>
            </a:r>
          </a:p>
        </p:txBody>
      </p:sp>
      <p:sp>
        <p:nvSpPr>
          <p:cNvPr id="5" name="Rectangle 4"/>
          <p:cNvSpPr/>
          <p:nvPr/>
        </p:nvSpPr>
        <p:spPr>
          <a:xfrm>
            <a:off x="822960" y="1783080"/>
            <a:ext cx="76200" cy="65836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746504"/>
            <a:ext cx="10424160" cy="731520"/>
          </a:xfrm>
          <a:prstGeom prst="rect">
            <a:avLst/>
          </a:prstGeom>
          <a:noFill/>
        </p:spPr>
        <p:txBody>
          <a:bodyPr wrap="square" anchor="t" lIns="50800" rIns="50800" tIns="25400" bIns="25400">
            <a:spAutoFit/>
          </a:bodyPr>
          <a:lstStyle/>
          <a:p>
            <a:pPr algn="l">
              <a:spcAft>
                <a:spcPts val="0"/>
              </a:spcAft>
            </a:pPr>
            <a:r>
              <a:rPr sz="1700" b="1">
                <a:solidFill>
                  <a:srgbClr val="0099D6"/>
                </a:solidFill>
                <a:latin typeface="Calibri"/>
              </a:rPr>
              <a:t>Cero cifras inventadas — </a:t>
            </a:r>
          </a:p>
        </p:txBody>
      </p:sp>
      <p:sp>
        <p:nvSpPr>
          <p:cNvPr id="7" name="TextBox 6"/>
          <p:cNvSpPr txBox="1"/>
          <p:nvPr/>
        </p:nvSpPr>
        <p:spPr>
          <a:xfrm>
            <a:off x="1097280" y="2020824"/>
            <a:ext cx="10424160" cy="457200"/>
          </a:xfrm>
          <a:prstGeom prst="rect">
            <a:avLst/>
          </a:prstGeom>
          <a:noFill/>
        </p:spPr>
        <p:txBody>
          <a:bodyPr wrap="square" anchor="t" lIns="50800" rIns="50800" tIns="25400" bIns="25400">
            <a:spAutoFit/>
          </a:bodyPr>
          <a:lstStyle/>
          <a:p>
            <a:pPr algn="l">
              <a:spcAft>
                <a:spcPts val="0"/>
              </a:spcAft>
            </a:pPr>
            <a:r>
              <a:rPr sz="1400" b="0">
                <a:solidFill>
                  <a:srgbClr val="C9D6E0"/>
                </a:solidFill>
                <a:latin typeface="Calibri"/>
              </a:rPr>
              <a:t>Los valores proceden de código y datos verificados, nunca del modelo.</a:t>
            </a:r>
          </a:p>
        </p:txBody>
      </p:sp>
      <p:sp>
        <p:nvSpPr>
          <p:cNvPr id="8" name="Rectangle 7"/>
          <p:cNvSpPr/>
          <p:nvPr/>
        </p:nvSpPr>
        <p:spPr>
          <a:xfrm>
            <a:off x="822960" y="2624328"/>
            <a:ext cx="76200" cy="65836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587752"/>
            <a:ext cx="10424160" cy="731520"/>
          </a:xfrm>
          <a:prstGeom prst="rect">
            <a:avLst/>
          </a:prstGeom>
          <a:noFill/>
        </p:spPr>
        <p:txBody>
          <a:bodyPr wrap="square" anchor="t" lIns="50800" rIns="50800" tIns="25400" bIns="25400">
            <a:spAutoFit/>
          </a:bodyPr>
          <a:lstStyle/>
          <a:p>
            <a:pPr algn="l">
              <a:spcAft>
                <a:spcPts val="0"/>
              </a:spcAft>
            </a:pPr>
            <a:r>
              <a:rPr sz="1700" b="1">
                <a:solidFill>
                  <a:srgbClr val="0099D6"/>
                </a:solidFill>
                <a:latin typeface="Calibri"/>
              </a:rPr>
              <a:t>Trazabilidad completa — </a:t>
            </a:r>
          </a:p>
        </p:txBody>
      </p:sp>
      <p:sp>
        <p:nvSpPr>
          <p:cNvPr id="10" name="TextBox 9"/>
          <p:cNvSpPr txBox="1"/>
          <p:nvPr/>
        </p:nvSpPr>
        <p:spPr>
          <a:xfrm>
            <a:off x="1097280" y="2862072"/>
            <a:ext cx="10424160" cy="457200"/>
          </a:xfrm>
          <a:prstGeom prst="rect">
            <a:avLst/>
          </a:prstGeom>
          <a:noFill/>
        </p:spPr>
        <p:txBody>
          <a:bodyPr wrap="square" anchor="t" lIns="50800" rIns="50800" tIns="25400" bIns="25400">
            <a:spAutoFit/>
          </a:bodyPr>
          <a:lstStyle/>
          <a:p>
            <a:pPr algn="l">
              <a:spcAft>
                <a:spcPts val="0"/>
              </a:spcAft>
            </a:pPr>
            <a:r>
              <a:rPr sz="1400" b="0">
                <a:solidFill>
                  <a:srgbClr val="C9D6E0"/>
                </a:solidFill>
                <a:latin typeface="Calibri"/>
              </a:rPr>
              <a:t>Cada valor cita norma, artículo, página y enlace.</a:t>
            </a:r>
          </a:p>
        </p:txBody>
      </p:sp>
      <p:sp>
        <p:nvSpPr>
          <p:cNvPr id="11" name="Rectangle 10"/>
          <p:cNvSpPr/>
          <p:nvPr/>
        </p:nvSpPr>
        <p:spPr>
          <a:xfrm>
            <a:off x="822960" y="3465576"/>
            <a:ext cx="76200" cy="65836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429000"/>
            <a:ext cx="10424160" cy="731520"/>
          </a:xfrm>
          <a:prstGeom prst="rect">
            <a:avLst/>
          </a:prstGeom>
          <a:noFill/>
        </p:spPr>
        <p:txBody>
          <a:bodyPr wrap="square" anchor="t" lIns="50800" rIns="50800" tIns="25400" bIns="25400">
            <a:spAutoFit/>
          </a:bodyPr>
          <a:lstStyle/>
          <a:p>
            <a:pPr algn="l">
              <a:spcAft>
                <a:spcPts val="0"/>
              </a:spcAft>
            </a:pPr>
            <a:r>
              <a:rPr sz="1700" b="1">
                <a:solidFill>
                  <a:srgbClr val="0099D6"/>
                </a:solidFill>
                <a:latin typeface="Calibri"/>
              </a:rPr>
              <a:t>Transparencia — </a:t>
            </a:r>
          </a:p>
        </p:txBody>
      </p:sp>
      <p:sp>
        <p:nvSpPr>
          <p:cNvPr id="13" name="TextBox 12"/>
          <p:cNvSpPr txBox="1"/>
          <p:nvPr/>
        </p:nvSpPr>
        <p:spPr>
          <a:xfrm>
            <a:off x="1097280" y="3703320"/>
            <a:ext cx="10424160" cy="457200"/>
          </a:xfrm>
          <a:prstGeom prst="rect">
            <a:avLst/>
          </a:prstGeom>
          <a:noFill/>
        </p:spPr>
        <p:txBody>
          <a:bodyPr wrap="square" anchor="t" lIns="50800" rIns="50800" tIns="25400" bIns="25400">
            <a:spAutoFit/>
          </a:bodyPr>
          <a:lstStyle/>
          <a:p>
            <a:pPr algn="l">
              <a:spcAft>
                <a:spcPts val="0"/>
              </a:spcAft>
            </a:pPr>
            <a:r>
              <a:rPr sz="1400" b="0">
                <a:solidFill>
                  <a:srgbClr val="C9D6E0"/>
                </a:solidFill>
                <a:latin typeface="Calibri"/>
              </a:rPr>
              <a:t>Lo que la norma no fija se declara; no se completa.</a:t>
            </a:r>
          </a:p>
        </p:txBody>
      </p:sp>
      <p:sp>
        <p:nvSpPr>
          <p:cNvPr id="14" name="Rectangle 13"/>
          <p:cNvSpPr/>
          <p:nvPr/>
        </p:nvSpPr>
        <p:spPr>
          <a:xfrm>
            <a:off x="822960" y="4306824"/>
            <a:ext cx="76200" cy="65836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270248"/>
            <a:ext cx="10424160" cy="731520"/>
          </a:xfrm>
          <a:prstGeom prst="rect">
            <a:avLst/>
          </a:prstGeom>
          <a:noFill/>
        </p:spPr>
        <p:txBody>
          <a:bodyPr wrap="square" anchor="t" lIns="50800" rIns="50800" tIns="25400" bIns="25400">
            <a:spAutoFit/>
          </a:bodyPr>
          <a:lstStyle/>
          <a:p>
            <a:pPr algn="l">
              <a:spcAft>
                <a:spcPts val="0"/>
              </a:spcAft>
            </a:pPr>
            <a:r>
              <a:rPr sz="1700" b="1">
                <a:solidFill>
                  <a:srgbClr val="0099D6"/>
                </a:solidFill>
                <a:latin typeface="Calibri"/>
              </a:rPr>
              <a:t>Reproducibilidad — </a:t>
            </a:r>
          </a:p>
        </p:txBody>
      </p:sp>
      <p:sp>
        <p:nvSpPr>
          <p:cNvPr id="16" name="TextBox 15"/>
          <p:cNvSpPr txBox="1"/>
          <p:nvPr/>
        </p:nvSpPr>
        <p:spPr>
          <a:xfrm>
            <a:off x="1097280" y="4544568"/>
            <a:ext cx="10424160" cy="457200"/>
          </a:xfrm>
          <a:prstGeom prst="rect">
            <a:avLst/>
          </a:prstGeom>
          <a:noFill/>
        </p:spPr>
        <p:txBody>
          <a:bodyPr wrap="square" anchor="t" lIns="50800" rIns="50800" tIns="25400" bIns="25400">
            <a:spAutoFit/>
          </a:bodyPr>
          <a:lstStyle/>
          <a:p>
            <a:pPr algn="l">
              <a:spcAft>
                <a:spcPts val="0"/>
              </a:spcAft>
            </a:pPr>
            <a:r>
              <a:rPr sz="1400" b="0">
                <a:solidFill>
                  <a:srgbClr val="C9D6E0"/>
                </a:solidFill>
                <a:latin typeface="Calibri"/>
              </a:rPr>
              <a:t>Con el mismo código y datos, el resultado es idéntico en cualquier entorno.</a:t>
            </a:r>
          </a:p>
        </p:txBody>
      </p:sp>
      <p:sp>
        <p:nvSpPr>
          <p:cNvPr id="17" name="Rectangle 16"/>
          <p:cNvSpPr/>
          <p:nvPr/>
        </p:nvSpPr>
        <p:spPr>
          <a:xfrm>
            <a:off x="822960" y="5148072"/>
            <a:ext cx="76200" cy="65836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5111496"/>
            <a:ext cx="10424160" cy="731520"/>
          </a:xfrm>
          <a:prstGeom prst="rect">
            <a:avLst/>
          </a:prstGeom>
          <a:noFill/>
        </p:spPr>
        <p:txBody>
          <a:bodyPr wrap="square" anchor="t" lIns="50800" rIns="50800" tIns="25400" bIns="25400">
            <a:spAutoFit/>
          </a:bodyPr>
          <a:lstStyle/>
          <a:p>
            <a:pPr algn="l">
              <a:spcAft>
                <a:spcPts val="0"/>
              </a:spcAft>
            </a:pPr>
            <a:r>
              <a:rPr sz="1700" b="1">
                <a:solidFill>
                  <a:srgbClr val="0099D6"/>
                </a:solidFill>
                <a:latin typeface="Calibri"/>
              </a:rPr>
              <a:t>Auditabilidad — </a:t>
            </a:r>
          </a:p>
        </p:txBody>
      </p:sp>
      <p:sp>
        <p:nvSpPr>
          <p:cNvPr id="19" name="TextBox 18"/>
          <p:cNvSpPr txBox="1"/>
          <p:nvPr/>
        </p:nvSpPr>
        <p:spPr>
          <a:xfrm>
            <a:off x="1097280" y="5385816"/>
            <a:ext cx="10424160" cy="457200"/>
          </a:xfrm>
          <a:prstGeom prst="rect">
            <a:avLst/>
          </a:prstGeom>
          <a:noFill/>
        </p:spPr>
        <p:txBody>
          <a:bodyPr wrap="square" anchor="t" lIns="50800" rIns="50800" tIns="25400" bIns="25400">
            <a:spAutoFit/>
          </a:bodyPr>
          <a:lstStyle/>
          <a:p>
            <a:pPr algn="l">
              <a:spcAft>
                <a:spcPts val="0"/>
              </a:spcAft>
            </a:pPr>
            <a:r>
              <a:rPr sz="1400" b="0">
                <a:solidFill>
                  <a:srgbClr val="C9D6E0"/>
                </a:solidFill>
                <a:latin typeface="Calibri"/>
              </a:rPr>
              <a:t>La base de conocimiento es consultable: se puede verificar el origen de cada valor.</a:t>
            </a:r>
          </a:p>
        </p:txBody>
      </p:sp>
      <p:sp>
        <p:nvSpPr>
          <p:cNvPr id="20" name="TextBox 19"/>
          <p:cNvSpPr txBox="1"/>
          <p:nvPr/>
        </p:nvSpPr>
        <p:spPr>
          <a:xfrm>
            <a:off x="822960" y="6126480"/>
            <a:ext cx="10515600" cy="548640"/>
          </a:xfrm>
          <a:prstGeom prst="rect">
            <a:avLst/>
          </a:prstGeom>
          <a:noFill/>
        </p:spPr>
        <p:txBody>
          <a:bodyPr wrap="square" anchor="t" lIns="50800" rIns="50800" tIns="25400" bIns="25400">
            <a:spAutoFit/>
          </a:bodyPr>
          <a:lstStyle/>
          <a:p>
            <a:pPr algn="l">
              <a:spcAft>
                <a:spcPts val="600"/>
              </a:spcAft>
            </a:pPr>
            <a:r>
              <a:rPr sz="1700" b="1">
                <a:solidFill>
                  <a:srgbClr val="FFFFFF"/>
                </a:solidFill>
                <a:latin typeface="Calibri"/>
              </a:rPr>
              <a:t>La IA redacta el texto. Los números salen siempre de la normativa oficial.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