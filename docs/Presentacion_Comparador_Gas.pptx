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sistema ante Enagás. Objetivo: explicar de forma clara qué hace la aplicación, cómo está construida y por qué es fiable. El hilo de la exposición es por componentes y capas.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agenda. Insistir en que el hilo es por componentes: primero la visión general, luego cada pieza, y por último la metodología y las garantías.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país regula la calidad admisible del gas mediante su propia normativa. Esa información está dispersa, en varios idiomas y con unidades distintas; compararla a mano es costoso y arriesgado. Hemos desarrollado un sistema que la compara entre 21 jurisdicciones y 10 parámetros. Su principio de diseño es que no genera ninguna cifra por estimación: todas proceden de una base contrastada frente a la normativa oficial y se presentan con su 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cifras que resumen el alcance: 21 jurisdicciones, 10 parámetros, 210 valores y cero cifras inventadas. De los 210, 175 están verificados verbatim contra su boletín oficial y 35 se marcan como 'no verificable' porque la norma de ese país no los fija.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sistema se estructura en cuatro componentes. La interfaz web presenta la información al usuario. El servidor de aplicación, desarrollado con FastAPI, concentra la lógica y decide cómo resolver cada consulta. La base de conocimiento (la ontología) almacena los datos verificados. Y el servicio de IA es un proveedor externo que se emplea de forma acotada, solo para redactar respuestas de texto, sin capacidad de generar cifras.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sistema ofrece cuatro funcionalidades. La consulta libre (chat) responde en lenguaje natural e incluye el análisis de interconexión en cadena: para una ruta de varios países calcula qué gas puede atravesarla entera e identifica el país y el parámetro que más restringen (el cuello de botella). La comparativa permite comparar un parámetro entre países y ver la matriz completa, con exportación a Excel o PDF. Analizar gas valida la composición de un gas concreto país a país. Se sirve por HTTP para uso interno/local (HTTPS opcional para producción) y mantiene la garantía de cero cifras inventadas.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habitual asumir que hay una gran base de datos única; no es el caso. Las cifras residen en la capa 2, la ontología, y cada una referencia su documento oficial de la capa 1. La capa 3 no almacena ninguna cifra: es un índice de búsqueda sobre el texto de los documentos, para las consultas abiertas.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ontología es el elemento central. Para cada jurisdicción y parámetro se registra no solo el valor, sino todo su contexto: unidad, condiciones de referencia, el texto literal de la norma, la cita completa (norma, artículo, página y enlace), una nota aclaratoria y el estado de verificación. Nota técnica: se usa un fichero estructurado (YAML) en lugar de una base de datos relacional porque, a esta escala, es más auditable y trazable, y se versiona junto con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estado de verificación es la garantía anti-invención. Verificado: 175 valores contrastados verbatim. No verificable: 35 valores que la norma del país no fija; no se completan con una estimación, se marcan y se explica el motivo. No hay un tercer estado intermedio. Ejemplo: en Dinamarca, los límites de O₂ y CO₂ de la norma son de biogás, no de gas natural, así que para gas natural se dejaron como no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Conviene distinguir dos componentes que a veces se confunden por su nombre. FastAPI es el framework con el que hemos desarrollado nuestro servidor; es infraestructura propia y gratuita. La API de OpenAI es un servicio de terceros que consumimos puntualmente para tareas de lenguaje. El servidor es imprescindible: atiende la web, accede a los datos, ejecuta los cálculos exactos, decide cuándo usar la IA (en la mayoría de casos no la usa) y custodia las credenciales, que nunca se exponen en el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 consulta pasa primero por el motor determinista. Determinista significa que, ante la misma consulta, produce siempre la misma respuesta, calculada por código, sin aleatoriedad ni IA. Distingue dos tipos: las cuantitativas (límites, cumplimiento, comparaciones, conversiones), que resuelve el código leyendo la ontología, sin IA; y las de texto abierto, que deriva al servicio de IA. La mayoría se resuelven sin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aspecto clave para la credibilidad es la comparabilidad. Cada país expresa sus límites en unidades y condiciones distintas; compararlos en bruto sería incorrecto. Para una comparación rigurosa, todos los valores se llevan a la base española aplicando los factores de la norma internacional ISO 13443, que se toman literalmente y están verificados. Así, al comparar dos jurisdicciones, ambas cifras están en la misma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Cuando una consulta llega al servicio de IA, este opera atado en corto: tiene prohibido generar cifras (si necesita un número, lo pide a las herramientas internas, que lo sacan de la ontología), debe citar los documentos y se limita a la calidad del gas. Además, si la IA no está disponible, el sistema conmuta automáticamente al modo determinista, de modo que el servicio nunca se interrumpe.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sistema incorpora recuperación documental (RAG). Su fin es que, en consultas de texto abierto, la respuesta se apoye en los documentos oficiales. Funciona en dos fases: indexación (procesar los PDF y almacenar su texto segmentado por página) y recuperación (localizar los fragmentos pertinentes y redactar citándolos). La búsqueda es léxica, no semántica: es reproducible, no depende de una caja negra externa.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fiabilidad es consecuencia del rigor del proceso de carga: identificar la norma vigente, obtener el documento, transcribir cada cifra literalmente, verificarla una a una, marcar como no verificable lo que la norma no fija, y normalizar con la ISO 13443. Además hay controles de calidad automatizados.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garantías que se llevan: cero cifras inventadas por diseño, trazabilidad completa (cada valor con su cita), transparencia (lo que no está en la norma se dice), reproducibilidad (mismo resultado en cualquier entorno) y auditabilidad (se puede verificar el origen de cada valor).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conversación es persistente: cada pregunta y respuesta se guarda en el navegador y se restaura al recargar o tras reiniciar el servidor, de modo que el usuario no pierde su historial. «Nueva consulta» empieza una sesión limpia, y el asistente conserva el contexto para las preguntas de seguimiento.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Mensaje que se llevan: el sistema compara la calidad regulatoria del gas entre 21 jurisdicciones con trazabilidad total y sin cifras inventadas. Las cifras salen de normativa oficial verificada; la IA solo redacta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46304" cy="2011680"/>
          </a:xfrm>
          <a:prstGeom prst="rect">
            <a:avLst/>
          </a:prstGeom>
          <a:solidFill>
            <a:srgbClr val="6C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1005840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Comparador Regulatorio de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Calidad de Gas Natural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4343400"/>
            <a:ext cx="100584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099D6"/>
                </a:solidFill>
                <a:latin typeface="Calibri"/>
              </a:rPr>
              <a:t>Arquitectura y funcionamiento del sistema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0"/>
                </a:solidFill>
                <a:latin typeface="Calibri"/>
              </a:rPr>
              <a:t>Comparativa regulatoria entre 21 jurisdicciones y 10 parámetros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594360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3C4"/>
                </a:solidFill>
                <a:latin typeface="Calibri"/>
              </a:rPr>
              <a:t>Documento de presentación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Recorrido de la presentación: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Contexto y objetivo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Arquitectura general del sistema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Funcionalidades: consulta libre, comparativa, analizar gas e interconexión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Las tres capas de datos y la base de conocimiento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El servidor de aplicación (FastAPI) frente a la API de OpenAI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El motor determinista y la normalización (ISO 13443)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La capa de inteligencia artificial y la recuperación documental (RAG)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Metodología de construcción, verificación y garantías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Contexto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El problema y la propuesta de valor.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Cada país regula la calidad admisible del gas natural con su propia normativa (poder calorífico, Wobbe, azufre, CO₂, puntos de rocío…).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Están dispersas en boletines oficiales distintos, en varios idiomas y con unidades y condiciones de referencia diferentes.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Comparar dos marcos a mano es laborioso y propenso a error.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Solución: un asistente que compara esa calidad entre 21 jurisdicciones y 10 parámetros, en lenguaje natural.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Principio de diseño: AUSENCIA DE CIFRAS NO VERIFICADAS. Ningún valor se estima; todos proceden de normativa oficial, con su cita.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El sistema en cifras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697480" cy="23774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jurisdicciones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2103120"/>
            <a:ext cx="2697480" cy="23774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210312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251460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365760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parámetros de calidad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2103120"/>
            <a:ext cx="2697480" cy="23774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210312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251460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210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365760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valores verificables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2103120"/>
            <a:ext cx="2697480" cy="23774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210312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7696" y="251460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365760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cifras inventadas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B2A38"/>
                </a:solidFill>
                <a:latin typeface="Calibri"/>
              </a:rPr>
              <a:t>Cobertura: 175 valores VERIFICADOS y 35 NO VERIFICABLES (la norma no los fija) — nunca inventados.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Arquitectura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Cuatro componentes con responsabilidades bien delimitadas.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920240"/>
            <a:ext cx="3200400" cy="77724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29968"/>
            <a:ext cx="3200400" cy="594359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INTERFAZ WEB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El usuario formula su consulta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97880" y="2761488"/>
            <a:ext cx="365760" cy="457200"/>
          </a:xfrm>
          <a:prstGeom prst="downArrow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3291840"/>
            <a:ext cx="4114800" cy="86868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3401568"/>
            <a:ext cx="41148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SERVIDOR DE APLICACIÓN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FastAPI · recibe, aplica la lógica y orquesta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383280" y="4251960"/>
            <a:ext cx="320040" cy="457200"/>
          </a:xfrm>
          <a:prstGeom prst="downArrow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8458200" y="4251960"/>
            <a:ext cx="320040" cy="457200"/>
          </a:xfrm>
          <a:prstGeom prst="downArrow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4800600"/>
            <a:ext cx="3931920" cy="1051560"/>
          </a:xfrm>
          <a:prstGeom prst="rect">
            <a:avLst/>
          </a:prstGeom>
          <a:solidFill>
            <a:srgbClr val="6C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910328"/>
            <a:ext cx="393192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BASE DE CONOCIMIENTO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Ontología: 210 cifras verificadas + sus fuentes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4800600"/>
            <a:ext cx="3931920" cy="1051560"/>
          </a:xfrm>
          <a:prstGeom prst="rect">
            <a:avLst/>
          </a:prstGeom>
          <a:solidFill>
            <a:srgbClr val="4A5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4910328"/>
            <a:ext cx="393192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SERVICIO DE IA (externo)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OpenAI: solo texto abierto · no genera cifras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Funcionalidades: qué puede hacer 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Cuatro formas de usarlo, todas con la misma garantía de cero cifras inventadas: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A38"/>
                </a:solidFill>
                <a:latin typeface="Calibri"/>
              </a:rPr>
              <a:t>• CONSULTA LIBRE (chat): preguntas en lenguaje natural sobre límites, cumplimiento, fuentes y comparaciones. Incluye ANÁLISIS DE INTERCONEXIÓN EN CADENA: para una ruta (p. ej. España-Francia-Alemania) identifica el cuello de botella regulatorio y avisa de incompatibilidades.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A38"/>
                </a:solidFill>
                <a:latin typeface="Calibri"/>
              </a:rPr>
              <a:t>• COMPARATIVA: comparación puntual de un parámetro entre países y MATRIZ (heatmap) de países × parámetros, con EXPORTACIÓN a Excel/PDF de las jurisdicciones elegidas.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A38"/>
                </a:solidFill>
                <a:latin typeface="Calibri"/>
              </a:rPr>
              <a:t>• ANALIZAR GAS: se introduce la composición de un gas concreto y el sistema responde, país a país, si CUMPLE / está en ALERTA / NO CUMPLE, con la cita de cada límite.</a:t>
            </a:r>
          </a:p>
          <a:p>
            <a:pPr algn="l" lvl="1">
              <a:spcAft>
                <a:spcPts val="1000"/>
              </a:spcAft>
            </a:pPr>
            <a:r>
              <a:rPr sz="1300" b="0">
                <a:solidFill>
                  <a:srgbClr val="4A5B68"/>
                </a:solidFill>
                <a:latin typeface="Calibri"/>
              </a:rPr>
              <a:t>• Acceso por HTTP para uso interno/local (HTTPS opcional para producción). La IA solo interviene en el texto abierto; el resto es determinista.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Las tres capas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No hay una única base de datos gigante: la información se organiza en tres capas.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38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5555"/>
                <a:gridCol w="4840604"/>
                <a:gridCol w="3688079"/>
              </a:tblGrid>
              <a:tr h="1143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Capa</a:t>
                      </a:r>
                    </a:p>
                  </a:txBody>
                  <a:tcPr anchor="ctr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anchor="ctr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Función</a:t>
                      </a:r>
                    </a:p>
                  </a:txBody>
                  <a:tcPr anchor="ctr">
                    <a:solidFill>
                      <a:srgbClr val="013A57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1. Documentos oficiales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PDF de las normas (BOE, ERSE, DVGW, Fluxys, National Grid…)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Fuente primaria y última de verdad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2. Ontología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Fichero estructurado con las 210 cifras extraídas de esos PDF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Repositorio del que salen las respuestas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3. Índice documental (RAG)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Índice del texto de los PDF, segmentado por página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Buscador interno para consultas abiertas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La base de conocimiento (ontología)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El elemento central. De cada valor se registra su valor y todo su contexto normativo: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El valor numérico (o su rango) y la unidad.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Las condiciones de referencia (a qué temperatura se mide).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El texto literal de la norma, tal como está redactado.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La cita completa: norma, artículo, página y enlace.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Una nota aclaratoria con los matices.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El estado de verificación (garantía frente a la invención de datos).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Estados de verificación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La garantía frente a la invención de datos: cada cifra está en uno de dos estados.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303520" cy="24688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5303520" cy="76200"/>
          </a:xfrm>
          <a:prstGeom prst="rect">
            <a:avLst/>
          </a:prstGeom>
          <a:solidFill>
            <a:srgbClr val="6C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75488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13A57"/>
                </a:solidFill>
                <a:latin typeface="Calibri"/>
              </a:rPr>
              <a:t>VERIFICADO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6CB33E"/>
                </a:solidFill>
                <a:latin typeface="Calibri"/>
              </a:rPr>
              <a:t>175 valores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2A38"/>
                </a:solidFill>
                <a:latin typeface="Calibri"/>
              </a:rPr>
              <a:t>Cifra contrastada literalmente contra su boletín oficial.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303520" cy="24688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11680"/>
            <a:ext cx="530352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475488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13A57"/>
                </a:solidFill>
                <a:latin typeface="Calibri"/>
              </a:rPr>
              <a:t>NO VERIFICABLE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99D6"/>
                </a:solidFill>
                <a:latin typeface="Calibri"/>
              </a:rPr>
              <a:t>35 valores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2A38"/>
                </a:solidFill>
                <a:latin typeface="Calibri"/>
              </a:rPr>
              <a:t>La norma de esa jurisdicción no fija ese parámetro. No se estima: se marca y se explica.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8813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B2A38"/>
                </a:solidFill>
                <a:latin typeface="Calibri"/>
              </a:rPr>
              <a:t>No existe un estado intermedio: un valor consta en la norma, o se declara explícitamente que la norma no lo establece.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FastAPI y la API de OpenAI: son cosas distintas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Ambos incluyen el término «API», pero son componentes de niveles distintos.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39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6985"/>
                <a:gridCol w="4658627"/>
                <a:gridCol w="4658627"/>
              </a:tblGrid>
              <a:tr h="914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FastAPI</a:t>
                      </a:r>
                    </a:p>
                  </a:txBody>
                  <a:tcPr anchor="ctr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API de OpenAI</a:t>
                      </a:r>
                    </a:p>
                  </a:txBody>
                  <a:tcPr anchor="ctr">
                    <a:solidFill>
                      <a:srgbClr val="013A57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Naturaleza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Framework para construir NUESTRO servidor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Servicio externo que consumimos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Titularidad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Propia (es nuestro backend)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De OpenAI (somos cliente)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Coste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Sin coste (código abierto)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De pago, por uso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Papel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Núcleo de la aplicación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Proveedor auxiliar, invocado de forma controlada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El motor determinista: enrutado de consultas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Toda consulta pasa primero por un enrutado que decide cómo resolverla. «Determinista» = misma consulta, misma respuesta, por código, sin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Consultas CUANTITATIVAS (un límite, un cumplimiento, una comparación, una conversión): las resuelve el código leyendo la ontología. Sin IA, sin posibilidad de generar un valor incorrecto.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Consultas de TEXTO ABIERTO («¿en qué consiste el índice de Wobbe?»): se derivan al servicio de IA.</a:t>
            </a:r>
          </a:p>
          <a:p>
            <a:pPr algn="l" lvl="1">
              <a:spcAft>
                <a:spcPts val="10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• En la práctica, la mayoría de consultas se resuelven sin recurrir a la 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Normalización de condiciones (ISO 13443)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Comparar de forma rigurosa: cada país usa unidades y condiciones de referencia distintas.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Unos expresan en kWh/m³, otros en MJ/m³; unos miden a 0 °C, otros a 15 o 25 °C.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Comparar los valores en bruto sería metodológicamente incorrecto (como comparar millas con kilómetros).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Todos los valores se llevan a la base de referencia española con los factores de la norma ISO 13443.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Esos factores no se estiman: se toman literalmente de la norma y están implementados y verificados.</a:t>
            </a:r>
          </a:p>
          <a:p>
            <a:pPr algn="l" lvl="1">
              <a:spcAft>
                <a:spcPts val="10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• Los valores derivados se muestran con 2 decimales (sin falsa precisión); los originales, con su precisión de origen.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La inteligencia artificial y sus salvaguardas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Cuando una consulta se deriva al servicio de IA, este opera bajo restricciones estrictas: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Tiene PROHIBIDO generar cifras: si necesita un dato, lo solicita a las herramientas internas, que lo obtienen de la ontología.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Debe CITAR los documentos oficiales.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Su ámbito se limita a la calidad del gas natural.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Si el servicio de IA no está disponible, el sistema conmuta automáticamente al modo determinista: nunca se interrumpe.</a:t>
            </a:r>
          </a:p>
          <a:p>
            <a:pPr algn="l" lvl="1">
              <a:spcAft>
                <a:spcPts val="10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• Modelo: OpenAI GPT-4o-mini, con temperatura 0 (máxima previsibilidad).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Recuperación documental (RAG)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Para las consultas de texto abierto, la respuesta se fundamenta en los documentos oficiales, no en el conocimiento general del modelo.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Fase 1 — INDEXACIÓN: el sistema procesa los PDF, extrae su texto, lo segmenta por página y lo almacena en un índice de búsqueda.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Fase 2 — RECUPERACIÓN: cuando la IA necesita fundamentar una respuesta, localiza los fragmentos pertinentes (con documento y página) y redacta citándolos.</a:t>
            </a:r>
          </a:p>
          <a:p>
            <a:pPr algn="l" lvl="1">
              <a:spcAft>
                <a:spcPts val="10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• La búsqueda es léxica (por términos), no semántica: más simple, suficiente y plenamente reproducible.</a:t>
            </a:r>
          </a:p>
          <a:p>
            <a:pPr algn="l" lvl="1">
              <a:spcAft>
                <a:spcPts val="10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• La indexación es incremental: solo se reprocesa lo nuevo o modificado → arranque casi inmediato.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Metodología de construcción y verificación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La fiabilidad es consecuencia del rigor del proceso de carga. Para cada jurisdicción: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8"/>
                </a:solidFill>
                <a:latin typeface="Calibri"/>
              </a:rPr>
              <a:t>• 1. Se identificó la normativa oficial vigente.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8"/>
                </a:solidFill>
                <a:latin typeface="Calibri"/>
              </a:rPr>
              <a:t>• 2. Se obtuvo el documento y se archivó localmente.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8"/>
                </a:solidFill>
                <a:latin typeface="Calibri"/>
              </a:rPr>
              <a:t>• 3. Se transcribió cada cifra literalmente, sin interpretación.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8"/>
                </a:solidFill>
                <a:latin typeface="Calibri"/>
              </a:rPr>
              <a:t>• 4. Se verificó individualmente contra el documento.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8"/>
                </a:solidFill>
                <a:latin typeface="Calibri"/>
              </a:rPr>
              <a:t>• 5. Lo que la norma no establece, no se completa: se marca como «no verificable», con su justificación.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B2A38"/>
                </a:solidFill>
                <a:latin typeface="Calibri"/>
              </a:rPr>
              <a:t>• 6. Se incorporó la normalización (ISO 13443) para comparaciones homogéneas.</a:t>
            </a:r>
          </a:p>
          <a:p>
            <a:pPr algn="l" lvl="1">
              <a:spcAft>
                <a:spcPts val="1000"/>
              </a:spcAft>
            </a:pPr>
            <a:r>
              <a:rPr sz="1400" b="0">
                <a:solidFill>
                  <a:srgbClr val="4A5B68"/>
                </a:solidFill>
                <a:latin typeface="Calibri"/>
              </a:rPr>
              <a:t>• Controles automáticos: comprueban que los 210 valores se resuelven, que los enlaces funcionan y que no hay incoherencias.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Garantías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A38"/>
                </a:solidFill>
                <a:latin typeface="Calibri"/>
              </a:rPr>
              <a:t>• Ausencia de cifras inventadas, por diseño: los valores proceden de código y datos verificados, no del modelo.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A38"/>
                </a:solidFill>
                <a:latin typeface="Calibri"/>
              </a:rPr>
              <a:t>• Trazabilidad completa: cada valor cita norma, artículo, página y enlace.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A38"/>
                </a:solidFill>
                <a:latin typeface="Calibri"/>
              </a:rPr>
              <a:t>• Transparencia: lo que la norma no fija se declara explícitamente; no se completa.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A38"/>
                </a:solidFill>
                <a:latin typeface="Calibri"/>
              </a:rPr>
              <a:t>• Reproducibilidad: con el mismo código y datos, el resultado es idéntico en cualquier entorno.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A38"/>
                </a:solidFill>
                <a:latin typeface="Calibri"/>
              </a:rPr>
              <a:t>• Auditabilidad: la base de conocimiento es consultable y permite verificar el origen de cada valor.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El chat: historial persistente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Comparador Regulatorio de Calidad de Gas Natural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A5B68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La conversación no se pierde.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4754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Cada consulta y su respuesta se guardan en el navegador y se restauran al recargar la página o tras reiniciar el servidor.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El usuario no pierde su historial de consultas.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La opción «Nueva consulta» inicia una sesión limpia.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38"/>
                </a:solidFill>
                <a:latin typeface="Calibri"/>
              </a:rPr>
              <a:t>• El asistente conserva el contexto de la conversación para las preguntas de seguimiento.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146304" cy="2377440"/>
          </a:xfrm>
          <a:prstGeom prst="rect">
            <a:avLst/>
          </a:prstGeom>
          <a:solidFill>
            <a:srgbClr val="6C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005840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099D6"/>
                </a:solidFill>
                <a:latin typeface="Calibri"/>
              </a:rPr>
              <a:t>En síntesis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Un asistente que compara la calidad regulatoria del gas natural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entre 21 jurisdicciones, con trazabilidad total y sin cifras inventadas.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493776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0"/>
                </a:solidFill>
                <a:latin typeface="Calibri"/>
              </a:rPr>
              <a:t>Las cifras salen de normativa oficial verificada. La IA solo redacta texto; nunca inventa un número.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