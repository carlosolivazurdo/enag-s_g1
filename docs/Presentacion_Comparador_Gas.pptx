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hilo conductor es doble: CÓMO ESTÁ CONSTRUIDO (arquitectura y ontología) y POR QUÉ ES FIABLE (trazabilidad total y cero cifras inventadas).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problema: la información regulatoria está dispersa y, sobre todo, NO ES DIRECTAMENTE COMPARABLE, porque cada país usa unidades y condiciones distintas. Cuatro cifras fijan el alcance: 21 jurisdicciones, 10 parámetros, 210 valores trazables y CERO cifras inventadas. Detrás de ese cero: 176 verificados verbatim y 34 declarados 'no verificable' porque la norma de ese país no los fija.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Recorred el esquema con el dedo. Uno: el usuario pregunta desde la interfaz web. Dos: la pregunta llega a NUESTRO servidor, y lo primero que hace es pasar por el ROUTER DETERMINISTA, que decide quién la resuelve. Si es cuantitativa —RUTA A, la mayoría— la resuelve el código leyendo la ontología, sin IA y sin posibilidad de error. Si es de texto abierto —RUTA B— va al modelo. Tres, y es lo importante: fijaos en la flecha que SUBE desde la IA hasta la ontología. Incluso en la ruta B el modelo no inventa el número: lo PIDE mediante function calling. Cuatro: la IA es externa y opcional; si cae, el sistema conmuta a determinista y el chat nunca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Suele asumirse que hay una gran base de datos única. No es así. Lo importante es el reparto: las cifras viven SOLO en la capa 2, la ontología. La capa 3, el índice documental, no guarda ningún número: solo localiza el pasaje pertinente en las consultas de texto abierto. Y los PDF los guardamos en local para no depender de que una web externa siga viva. Sobre el stack: todo es software libre excepto la API de OpenAI, que además es opcional. Si os preguntan por pint, PyPDF2, pandas o cryptography: están declarados en requirements pero HOY NO SE USAN, y lo sabemos.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ontología es el elemento central: un ÚNICO fichero YAML, legible por una persona, con cinco claves —el catálogo de normas, el registro de tipos de gas y las tres secciones de parámetros, una por gas—. Lo importante: las tres secciones comparten exactamente el mismo esquema; por eso ampliar a biometano e hidrógeno no obligó a cambiar la arquitectura. El motor determinista lee de aquí; el modelo nunca calcula ni inventa valores. Y usamos YAML en vez de una base de datos porque a esta escala es más AUDITABLE y TRAZABLE, y se versiona en git junto al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Aquí está el valor real del diseño: de cada dato no guardamos solo el número, sino todo su contexto. El campo clave es 'expresion_original': el texto literal de la norma, tal cual está redactado. Eso convierte la confianza en VERIFICABILIDAD. A la derecha, la garantía anti-invención: dos estados y ninguno intermedio. El ejemplo de Dinamarca es el que mejor lo ilustra: era fácil rellenar el hueco con un número que estaba en la misma norma, pero pertenecía a otro contexto —biogás de distribución, no transporte—. Preferimos el hueco honesto: informa mejor que un número falso.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punto clave para la credibilidad es la comparabilidad: no basta con tener los números, hay que poder compararlos. Por eso llevamos todo a la base española aplicando los factores de la ISO 13443, que no estimamos sino que tomamos literalmente de la norma. Fijaos en la fila de Eslovaquia: su par de condiciones no está tabulado, así que se calcula con las ECUACIONES DEL ANEXO B de la misma norma. Sigue siendo un valor derivado de la norma, no un número inventado. Es la pregunta fina que os pueden hacer.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que ser muy claro: el modelo NO es la fuente del dato, es la capa de lenguaje. Si necesita un número, lo pide. Sobre el RAG somos transparentes: es léxico, no semántico. No es una carencia, es una decisión: es reproducible y no depende de terceros. Y antes de decidirlo lo MEDIMOS, con el estudio de terminología. Primero medir, luego decidir. La salvaguarda de abajo es la más importante: la IA es una comodidad, no una dependencia.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ampliación se hizo sin tocar nada de lo anterior: el gas natural sigue funcionando exactamente igual, y las pruebas automáticas lo confirman. Sobre el hidrógeno hay que subrayar la distinción de dominio: la calidad del H2 PARA LA RED es distinta de la del H2 como combustible de VEHÍCULO. Son especificaciones que no se pueden comparar, y la herramienta las mantiene separadas. Y hoy, de las cuatro jurisdicciones, solo Portugal fija una pureza vinculante del 98 %.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síntesis: una herramienta que compara la calidad regulatoria del gas natural, el biometano y el hidrógeno entre jurisdicciones, con trazabilidad total y sin cifras inventadas. Las cifras salen siempre de normativa oficial verificada; la IA solo redacta el texto. Muchas gracias; quedo a vuestra disposición para las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874519"/>
            <a:ext cx="137160" cy="20574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828800"/>
            <a:ext cx="10058400" cy="1097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Comparador Regulatorio</a:t>
            </a:r>
          </a:p>
          <a:p>
            <a:pPr algn="l"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de Calidad de Gas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4434840"/>
            <a:ext cx="10058400" cy="1097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100" b="0">
                <a:solidFill>
                  <a:srgbClr val="0099D6"/>
                </a:solidFill>
                <a:latin typeface="Calibri"/>
              </a:rPr>
              <a:t>Arquitectura, ontología y garantías del sistema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C9D6E0"/>
                </a:solidFill>
                <a:latin typeface="Calibri"/>
              </a:rPr>
              <a:t>Gas natural · biometano · hidrógeno   |   21 jurisdicciones · 10 parámetros · 210 valores trazables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5989320"/>
            <a:ext cx="1005840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FA6B8"/>
                </a:solidFill>
                <a:latin typeface="Calibri"/>
              </a:rPr>
              <a:t>Ontología v3.2.0  ·  Presentación técnica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607040" cy="53035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Contexto, objetivo y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El problema es concreto; la propuesta de valor, también.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645920"/>
            <a:ext cx="502920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5029200" cy="1463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Cada país regula la calidad del gas con SU PROPIA normativa, dispersa y en varios idiomas.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Las unidades y las condiciones de referencia NO coinciden: unos miden a 0 °C, otros a 15 o a 25 °C.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Compararlas a mano es lento y propenso a error.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5394960" cy="457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645920"/>
            <a:ext cx="502920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LA SOLUCIÓN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194560"/>
            <a:ext cx="5029200" cy="1463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Un asistente que compara 21 jurisdicciones y 10 parámetros, en lenguaje natural.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Normaliza unidades y condiciones (ISO 13443) ANTES de comparar, y cita la fuente de cada cifra.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• Principio de diseño: CERO CIFRAS INVENTADAS.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2697480" cy="14630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2697480" cy="7315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114800"/>
            <a:ext cx="2697480" cy="7772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13A57"/>
                </a:solidFill>
                <a:latin typeface="Calibri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93776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jurisdicciones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2424" y="3931920"/>
            <a:ext cx="2697480" cy="14630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92424" y="3931920"/>
            <a:ext cx="2697480" cy="7315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92424" y="4114800"/>
            <a:ext cx="2697480" cy="7772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13A57"/>
                </a:solidFill>
                <a:latin typeface="Calibri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493776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parámetros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6208" y="3931920"/>
            <a:ext cx="2697480" cy="14630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6208" y="3931920"/>
            <a:ext cx="2697480" cy="7315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6208" y="4114800"/>
            <a:ext cx="2697480" cy="7772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13A57"/>
                </a:solidFill>
                <a:latin typeface="Calibri"/>
              </a:rPr>
              <a:t>210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493776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valores trazables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79992" y="3931920"/>
            <a:ext cx="2697480" cy="14630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79992" y="3931920"/>
            <a:ext cx="2697480" cy="7315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79992" y="4114800"/>
            <a:ext cx="2697480" cy="7772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13A57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9992" y="493776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cifras inventadas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32120"/>
            <a:ext cx="11091672" cy="77724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596128"/>
            <a:ext cx="10698480" cy="6858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13A57"/>
                </a:solidFill>
                <a:latin typeface="Calibri"/>
              </a:rPr>
              <a:t>Detrás de ese cero: 176 valores VERIFICADOS verbatim contra su boletín oficial y 34 declarados NO VERIFICABLES.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A5B68"/>
                </a:solidFill>
                <a:latin typeface="Calibri"/>
              </a:rPr>
              <a:t>Cuando la norma de un país no fija un parámetro, no lo rellenamos con una estimación: lo marcamos y explicamos por qué.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CÓMO ESTÁ CONSTRUIDO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Arquitectura del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Cuatro componentes. Sigue las flechas: toda cifra procede de la ontología; la IA solo redacta.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788920"/>
            <a:ext cx="19659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788920"/>
            <a:ext cx="1965960" cy="384048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825496"/>
            <a:ext cx="196596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1 · INTERFAZ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73552"/>
            <a:ext cx="1737360" cy="11430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El usuario pregunta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index.html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JavaScript vanilla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marked · DOMPurify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404872" y="3502152"/>
            <a:ext cx="292608" cy="274320"/>
          </a:xfrm>
          <a:prstGeom prst="rightArrow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24912" y="1691640"/>
            <a:ext cx="4754880" cy="3977639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9050">
            <a:solidFill>
              <a:srgbClr val="01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24912" y="1691640"/>
            <a:ext cx="4754880" cy="56692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1737360"/>
            <a:ext cx="4480560" cy="47548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 · SERVIDOR DE APLICACIÓN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0099D6"/>
                </a:solidFill>
                <a:latin typeface="Calibri"/>
              </a:rPr>
              <a:t>Python · FastAPI · uvicorn · pydantic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2450592"/>
            <a:ext cx="4343400" cy="621792"/>
          </a:xfrm>
          <a:prstGeom prst="roundRect">
            <a:avLst>
              <a:gd name="adj" fmla="val 6000"/>
            </a:avLst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505456"/>
            <a:ext cx="4343400" cy="51206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ROUTER DETERMINISTA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BFDBEA"/>
                </a:solidFill>
                <a:latin typeface="Calibri"/>
              </a:rPr>
              <a:t>¿la resuelve el código o hace falta la IA?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794760" y="3108960"/>
            <a:ext cx="237744" cy="219456"/>
          </a:xfrm>
          <a:prstGeom prst="downArrow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5989320" y="3108960"/>
            <a:ext cx="237744" cy="219456"/>
          </a:xfrm>
          <a:prstGeom prst="downArrow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26080" y="3401568"/>
            <a:ext cx="4343400" cy="960120"/>
          </a:xfrm>
          <a:prstGeom prst="roundRect">
            <a:avLst>
              <a:gd name="adj" fmla="val 6000"/>
            </a:avLst>
          </a:prstGeom>
          <a:solidFill>
            <a:srgbClr val="E8F4E2"/>
          </a:solidFill>
          <a:ln w="15875">
            <a:solidFill>
              <a:srgbClr val="6CB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26080" y="3401568"/>
            <a:ext cx="82296" cy="96012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27248" y="3465576"/>
            <a:ext cx="4069080" cy="8412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3E6B22"/>
                </a:solidFill>
                <a:latin typeface="Calibri"/>
              </a:rPr>
              <a:t>RUTA A · Consulta cuantitativa   (la mayoría)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La resuelve el CÓDIGO. Sin IA.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fuente_oficial · conversor_unidades · condiciones_referencia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0" y="4572000"/>
            <a:ext cx="4343400" cy="960120"/>
          </a:xfrm>
          <a:prstGeom prst="roundRect">
            <a:avLst>
              <a:gd name="adj" fmla="val 6000"/>
            </a:avLst>
          </a:prstGeom>
          <a:solidFill>
            <a:srgbClr val="FDF0DF"/>
          </a:solidFill>
          <a:ln w="1587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0" y="4572000"/>
            <a:ext cx="82296" cy="96012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27248" y="4636008"/>
            <a:ext cx="4069080" cy="8412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A5610E"/>
                </a:solidFill>
                <a:latin typeface="Calibri"/>
              </a:rPr>
              <a:t>RUTA B · Texto abierto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Va al modelo, que PIDE las cifras.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llm_interface · function calling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498079" y="3749039"/>
            <a:ext cx="310896" cy="274320"/>
          </a:xfrm>
          <a:prstGeom prst="rightArrow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498079" y="4919472"/>
            <a:ext cx="310896" cy="274320"/>
          </a:xfrm>
          <a:prstGeom prst="rightArrow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63840" y="3063240"/>
            <a:ext cx="3886200" cy="1371600"/>
          </a:xfrm>
          <a:prstGeom prst="roundRect">
            <a:avLst>
              <a:gd name="adj" fmla="val 6000"/>
            </a:avLst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3154680"/>
            <a:ext cx="3566160" cy="11887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99D6"/>
                </a:solidFill>
                <a:latin typeface="Calibri"/>
              </a:rPr>
              <a:t>3 · BASE DE CONOCIMIENTO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Ontología YAML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C9D6E0"/>
                </a:solidFill>
                <a:latin typeface="Calibri"/>
              </a:rPr>
              <a:t>Las 210 cifras, cada una con su unidad, sus condiciones y su cita oficial.</a:t>
            </a:r>
          </a:p>
        </p:txBody>
      </p:sp>
      <p:sp>
        <p:nvSpPr>
          <p:cNvPr id="31" name="Up Arrow 30"/>
          <p:cNvSpPr/>
          <p:nvPr/>
        </p:nvSpPr>
        <p:spPr>
          <a:xfrm>
            <a:off x="8275320" y="4526280"/>
            <a:ext cx="274320" cy="384048"/>
          </a:xfrm>
          <a:prstGeom prst="upArrow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4553712"/>
            <a:ext cx="310896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A5610E"/>
                </a:solidFill>
                <a:latin typeface="Calibri"/>
              </a:rPr>
              <a:t>function calling: el modelo PIDE la cifra, no la inventa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63840" y="4983480"/>
            <a:ext cx="3886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88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5056632"/>
            <a:ext cx="3566160" cy="7772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A5610E"/>
                </a:solidFill>
                <a:latin typeface="Calibri"/>
              </a:rPr>
              <a:t>4 · SERVICIO DE IA  (externo · opcional)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OpenAI GPT-4o-mini · temperatura 0 — solo REDACTA, nunca genera cifras.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870448"/>
            <a:ext cx="11338560" cy="45720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5870448"/>
            <a:ext cx="82296" cy="457200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907024"/>
            <a:ext cx="10972800" cy="3840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13A57"/>
                </a:solidFill>
                <a:latin typeface="Calibri"/>
              </a:rPr>
              <a:t>Debajo de todo: los ~22 PDF oficiales (data/raw) y su índice de búsqueda SQLite — el índice guarda TEXTO, ninguna cifra.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CÓMO ESTÁ CONSTRUIDO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Las tres capas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No hay una única base de datos: hay tres capas con funciones distintas. Y solo UNA guarda cifras.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593592" cy="3063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593592" cy="457200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3736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CAPA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267712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13A57"/>
                </a:solidFill>
                <a:latin typeface="Calibri"/>
              </a:rPr>
              <a:t>Documentos oficiales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724912"/>
            <a:ext cx="3291840" cy="1554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Los ~22 PDF de las normas: BOE, ERSE, GRTgaz, DVGW, Fluxys…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Archivados en local para no depender de webs externas.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Es la FUENTE ÚLTIMA DE VERDAD.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279392"/>
            <a:ext cx="14630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0A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297680"/>
            <a:ext cx="1463040" cy="26517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A5A82"/>
                </a:solidFill>
                <a:latin typeface="Calibri"/>
              </a:rPr>
              <a:t>pdfplumber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1691640"/>
            <a:ext cx="3593592" cy="3063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1691640"/>
            <a:ext cx="3593592" cy="457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173736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CAPA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267712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13A57"/>
                </a:solidFill>
                <a:latin typeface="Calibri"/>
              </a:rPr>
              <a:t>La ontología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724912"/>
            <a:ext cx="3291840" cy="1554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Las 210 cifras extraídas de esos PDF, con su contexto y su cita.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Un único fichero YAML, legible y versionado en git.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De aquí salen TODAS las respuestas.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4279392"/>
            <a:ext cx="14630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6CB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4297680"/>
            <a:ext cx="1463040" cy="26517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6CB33E"/>
                </a:solidFill>
                <a:latin typeface="Calibri"/>
              </a:rPr>
              <a:t>PyYAML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91856" y="1691640"/>
            <a:ext cx="3593592" cy="3063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91856" y="1691640"/>
            <a:ext cx="3593592" cy="4572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73736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CAPA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6448" y="2267712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13A57"/>
                </a:solidFill>
                <a:latin typeface="Calibri"/>
              </a:rPr>
              <a:t>Índice documental (RAG)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6448" y="2724912"/>
            <a:ext cx="3291840" cy="1554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El TEXTO de los PDF troceado en fragmentos con solape.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Localiza el pasaje en las consultas de texto abierto.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NO ALMACENA NINGUNA CIFRA.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6448" y="4279392"/>
            <a:ext cx="14630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4297680"/>
            <a:ext cx="1463040" cy="26517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88A1A"/>
                </a:solidFill>
                <a:latin typeface="Calibri"/>
              </a:rPr>
              <a:t>SQLite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92040"/>
            <a:ext cx="11091672" cy="566928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892040"/>
            <a:ext cx="82296" cy="566928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919472"/>
            <a:ext cx="10698480" cy="51206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0099D6"/>
                </a:solidFill>
                <a:latin typeface="Calibri"/>
              </a:rPr>
              <a:t>El stack completo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Frontend: JavaScript vanilla · marked · DOMPurify    |    Backend: Python · FastAPI · uvicorn · pydantic    |    Datos: PyYAML · pdfplumber · SQLite    |    Informes: openpyxl · xhtml2pdf    |    IA (opcional): OpenAI GPT-4o-mini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77840"/>
            <a:ext cx="82296" cy="7315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632704"/>
            <a:ext cx="10698480" cy="65836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13A57"/>
                </a:solidFill>
                <a:latin typeface="Calibri"/>
              </a:rPr>
              <a:t>Las CIFRAS residen solo en la capa 2. La capa 3 es un buscador de texto: no puede producir un número.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B68"/>
                </a:solidFill>
                <a:latin typeface="Calibri"/>
              </a:rPr>
              <a:t>Todo el stack es software libre salvo la API de OpenAI — el único componente de pago, y además opcional.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EL CORAZÓN DEL DATO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La ontología: 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Un único fichero YAML. Cinco claves. Toda la base de conocimiento del sistema.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2880360" cy="3246120"/>
          </a:xfrm>
          <a:prstGeom prst="roundRect">
            <a:avLst>
              <a:gd name="adj" fmla="val 6000"/>
            </a:avLst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2514600" cy="2926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FICHERO ÚNICO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ontologia_enagas.yaml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9FB3C4"/>
                </a:solidFill>
                <a:latin typeface="Calibri"/>
              </a:rPr>
              <a:t>data/ontologia/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9FB3C4"/>
                </a:solidFill>
                <a:latin typeface="Calibri"/>
              </a:rPr>
              <a:t>versión 3.2.0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6E0"/>
                </a:solidFill>
                <a:latin typeface="Calibri"/>
              </a:rPr>
              <a:t>Legible por una persona.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6E0"/>
                </a:solidFill>
                <a:latin typeface="Calibri"/>
              </a:rPr>
              <a:t>Versionado en git junto al código.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6E0"/>
                </a:solidFill>
                <a:latin typeface="Calibri"/>
              </a:rPr>
              <a:t>Auditable celda a celda.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057400"/>
            <a:ext cx="41148" cy="3017520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98748" y="2185416"/>
            <a:ext cx="41148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60520" y="1920240"/>
            <a:ext cx="7589520" cy="566928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920240"/>
            <a:ext cx="73152" cy="566928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947672"/>
            <a:ext cx="3017520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A5A82"/>
                </a:solidFill>
                <a:latin typeface="Consolas"/>
              </a:rPr>
              <a:t>ontologia.fuentes_normativas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1947672"/>
            <a:ext cx="4297680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El catálogo de las 39 normas oficiales: id, organismo, publicación, URL y copia local del PDF.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98748" y="2843784"/>
            <a:ext cx="41148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20" y="2578608"/>
            <a:ext cx="7589520" cy="566928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2578608"/>
            <a:ext cx="73152" cy="566928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606040"/>
            <a:ext cx="3017520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A5A82"/>
                </a:solidFill>
                <a:latin typeface="Consolas"/>
              </a:rPr>
              <a:t>ontologia.tipos_gas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606040"/>
            <a:ext cx="4297680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El registro de los 3 tipos de gas y a qué sección de parámetros apunta cada uno.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98748" y="3502152"/>
            <a:ext cx="41148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60520" y="3236976"/>
            <a:ext cx="7589520" cy="566928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60520" y="3236976"/>
            <a:ext cx="73152" cy="566928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3264408"/>
            <a:ext cx="3017520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6CB33E"/>
                </a:solidFill>
                <a:latin typeface="Consolas"/>
              </a:rPr>
              <a:t>parametros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3264408"/>
            <a:ext cx="4297680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GAS NATURAL — 10 parámetros × 21 jurisdicciones = 210 celdas.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98748" y="4160520"/>
            <a:ext cx="41148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160520" y="3895344"/>
            <a:ext cx="7589520" cy="566928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60520" y="3895344"/>
            <a:ext cx="73152" cy="566928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3922776"/>
            <a:ext cx="3017520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6CB33E"/>
                </a:solidFill>
                <a:latin typeface="Consolas"/>
              </a:rPr>
              <a:t>parametros_biometano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3922776"/>
            <a:ext cx="4297680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BIOMETANO — 12 parámetros × 4 jurisdicciones (ES · PT · FR · UE).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98748" y="4818888"/>
            <a:ext cx="41148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160520" y="4553712"/>
            <a:ext cx="7589520" cy="566928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60520" y="4553712"/>
            <a:ext cx="73152" cy="566928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4581144"/>
            <a:ext cx="3017520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6CB33E"/>
                </a:solidFill>
                <a:latin typeface="Consolas"/>
              </a:rPr>
              <a:t>parametros_hidrogeno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4581144"/>
            <a:ext cx="4297680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HIDRÓGENO — 18 parámetros · dominio de RED y dominio de PRODUCTO.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394960"/>
            <a:ext cx="11292840" cy="91440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94960"/>
            <a:ext cx="82296" cy="9144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468112"/>
            <a:ext cx="10881360" cy="8229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13A57"/>
                </a:solidFill>
                <a:latin typeface="Calibri"/>
              </a:rPr>
              <a:t>Las tres secciones de parámetros comparten EXACTAMENTE el mismo esquema.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A5B68"/>
                </a:solidFill>
                <a:latin typeface="Calibri"/>
              </a:rPr>
              <a:t>Por eso la ampliación a biometano e hidrógeno no cambió la arquitectura: reutiliza la misma maquinaria (consulta, comparativa, matriz, normalización ISO 13443 y estados de verificación).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EL CORAZÓN DEL DATO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Anatomía de un valor, y la garantía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Cada límite NO es solo un número: guarda todo su contexto normativo. Ejemplo real — el O2 de España: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806440" cy="3383280"/>
          </a:xfrm>
          <a:prstGeom prst="roundRect">
            <a:avLst>
              <a:gd name="adj" fmla="val 6000"/>
            </a:avLst>
          </a:prstGeom>
          <a:solidFill>
            <a:srgbClr val="F5F8FA"/>
          </a:solidFill>
          <a:ln w="15875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45920"/>
            <a:ext cx="5806440" cy="365760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73352"/>
            <a:ext cx="548640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parametros -&gt; O2 -&gt; limites -&gt; 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03120"/>
            <a:ext cx="5486400" cy="28346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13A57"/>
                </a:solidFill>
                <a:latin typeface="Consolas"/>
              </a:rPr>
              <a:t>ES: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fuente: ORDEN_TED_181_2025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articulo: "Tabla 3, apdo. 2.5.2.1 (pág. 27)"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tipo_limite: maximo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valor: 0.01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unidad: pct_mol</a:t>
            </a:r>
          </a:p>
          <a:p>
            <a:pPr algn="l">
              <a:spcAft>
                <a:spcPts val="300"/>
              </a:spcAft>
            </a:pPr>
            <a:r>
              <a:rPr sz="1150" b="1">
                <a:solidFill>
                  <a:srgbClr val="013A57"/>
                </a:solidFill>
                <a:latin typeface="Consolas"/>
              </a:rPr>
              <a:t>  expresion_original: "O2: – / 0,01 % mol"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condiciones_referencia: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  temperatura_volumen_C: 0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  presion_bar: 1.01325</a:t>
            </a:r>
          </a:p>
          <a:p>
            <a:pPr algn="l">
              <a:spcAft>
                <a:spcPts val="300"/>
              </a:spcAft>
            </a:pPr>
            <a:r>
              <a:rPr sz="1150" b="1">
                <a:solidFill>
                  <a:srgbClr val="3E6B22"/>
                </a:solidFill>
                <a:latin typeface="Consolas"/>
              </a:rPr>
              <a:t>  estado_verificacion: VERIFICADO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1645920"/>
            <a:ext cx="5166360" cy="1600200"/>
          </a:xfrm>
          <a:prstGeom prst="roundRect">
            <a:avLst>
              <a:gd name="adj" fmla="val 6000"/>
            </a:avLst>
          </a:prstGeom>
          <a:solidFill>
            <a:srgbClr val="E8F4E2"/>
          </a:solidFill>
          <a:ln w="15875">
            <a:solidFill>
              <a:srgbClr val="6CB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1645920"/>
            <a:ext cx="82296" cy="1600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1783080"/>
            <a:ext cx="4754880" cy="13716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E6B22"/>
                </a:solidFill>
                <a:latin typeface="Calibri"/>
              </a:rPr>
              <a:t>176   VERIFICADO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Cifra contrastada VERBATIM contra su boletín oficial, con artículo y página.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3429000"/>
            <a:ext cx="5166360" cy="1600200"/>
          </a:xfrm>
          <a:prstGeom prst="roundRect">
            <a:avLst>
              <a:gd name="adj" fmla="val 6000"/>
            </a:avLst>
          </a:prstGeom>
          <a:solidFill>
            <a:srgbClr val="FDF0DF"/>
          </a:solidFill>
          <a:ln w="1587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60" y="3429000"/>
            <a:ext cx="82296" cy="16002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3566160"/>
            <a:ext cx="4754880" cy="13716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A5610E"/>
                </a:solidFill>
                <a:latin typeface="Calibri"/>
              </a:rPr>
              <a:t>34   NO VERIFICABLE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La norma de ese país NO FIJA ese parámetro. No se inventa: se declara el hueco y se explica.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212080"/>
            <a:ext cx="11219688" cy="109728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212080"/>
            <a:ext cx="82296" cy="109728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276088"/>
            <a:ext cx="10835640" cy="10058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13A57"/>
                </a:solidFill>
                <a:latin typeface="Calibri"/>
              </a:rPr>
              <a:t>Solo hay dos estados, y ningún intermedio. Los huecos no son errores: son honestidad.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Ejemplo real — DINAMARCA: los límites de O2 y CO2 de su norma corresponden al BIOGÁS DE DISTRIBUCIÓN, no al gas natural de transporte. Trasladar ese valor sería un error metodológico; por eso se marcaron como no verificable.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4A5B68"/>
                </a:solidFill>
                <a:latin typeface="Calibri"/>
              </a:rPr>
              <a:t>Gracias a expresion_original (el texto literal de la norma), un auditor puede recomprobar cualquier celda SIN abrir el PDF.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CÓMO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El motor determinista y la normalización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«Determinista» = ante la misma consulta, siempre la misma respuesta, calculada por código, sin azar ni 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440680" cy="22860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40680" cy="4572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37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RESUELVE SIN IA — 7 tipos de intención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5074920" cy="1600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• El valor de un límite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• Si un valor medido cumple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• De qué norma procede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• Si dos gases son intercambiables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• Si un país es más restrictivo que España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• La comparación directa entre dos países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• La conversión de condiciones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91640"/>
            <a:ext cx="5440680" cy="22860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691640"/>
            <a:ext cx="5440680" cy="4572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737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EL PROBLEMA DE LA COMPARABILIDAD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286000"/>
            <a:ext cx="5074920" cy="1600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• Unos países miden en kWh/m3, otros en MJ/m3 o kcal/m3.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• Unos refieren el volumen a 0 °C, otros a 15 o a 25 °C.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• Comparar esos valores EN BRUTO sería metodológicamente incorrecto.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13A57"/>
                </a:solidFill>
                <a:latin typeface="Calibri"/>
              </a:rPr>
              <a:t>• Solución: llevar TODO a la base española (0/0) con la norma ISO 13443.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60520"/>
            <a:ext cx="11091672" cy="41148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87952"/>
            <a:ext cx="45720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Factores literales de la Tabla A.1 · ISO 13443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187952"/>
            <a:ext cx="18288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99D6"/>
                </a:solidFill>
                <a:latin typeface="Calibri"/>
              </a:rPr>
              <a:t>PCS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4187952"/>
            <a:ext cx="18288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99D6"/>
                </a:solidFill>
                <a:latin typeface="Calibri"/>
              </a:rPr>
              <a:t>Wobbe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11091672" cy="384048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581144"/>
            <a:ext cx="164592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13A57"/>
                </a:solidFill>
                <a:latin typeface="Calibri"/>
              </a:rPr>
              <a:t>25/0 → 0/0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581144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Portugal, Alemania, P. Bajos, Bélgica, Noruega, Polonia, Dinamarca, Hungría, Austria, Suiza, Grecia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581144"/>
            <a:ext cx="18288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B2A38"/>
                </a:solidFill>
                <a:latin typeface="Calibri"/>
              </a:rPr>
              <a:t>1,0026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4581144"/>
            <a:ext cx="18288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B2A38"/>
                </a:solidFill>
                <a:latin typeface="Calibri"/>
              </a:rPr>
              <a:t>1,0026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974336"/>
            <a:ext cx="1109167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983480"/>
            <a:ext cx="164592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13A57"/>
                </a:solidFill>
                <a:latin typeface="Calibri"/>
              </a:rPr>
              <a:t>15/15 → 0/0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4983480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Italia, UE, Chequia, Irlanda, Rumanía, Turquía, Reino Unido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983480"/>
            <a:ext cx="18288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B2A38"/>
                </a:solidFill>
                <a:latin typeface="Calibri"/>
              </a:rPr>
              <a:t>1,0570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4983480"/>
            <a:ext cx="18288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B2A38"/>
                </a:solidFill>
                <a:latin typeface="Calibri"/>
              </a:rPr>
              <a:t>1,0569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76672"/>
            <a:ext cx="11091672" cy="384048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385816"/>
            <a:ext cx="164592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13A57"/>
                </a:solidFill>
                <a:latin typeface="Calibri"/>
              </a:rPr>
              <a:t>25/20 → 0/0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5385816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Eslovaquia — par no tabulado: se calcula con las ecuaciones del Anexo B de la norma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385816"/>
            <a:ext cx="18288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B2A38"/>
                </a:solidFill>
                <a:latin typeface="Calibri"/>
              </a:rPr>
              <a:t>≈1,076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5385816"/>
            <a:ext cx="18288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B2A38"/>
                </a:solidFill>
                <a:latin typeface="Calibri"/>
              </a:rPr>
              <a:t>≈1,076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779008"/>
            <a:ext cx="1109167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88152"/>
            <a:ext cx="164592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13A57"/>
                </a:solidFill>
                <a:latin typeface="Calibri"/>
              </a:rPr>
              <a:t>0/0 → 0/0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5788152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España (base) y Francia — identidad, no hay conversión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788152"/>
            <a:ext cx="18288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B2A38"/>
                </a:solidFill>
                <a:latin typeface="Calibri"/>
              </a:rPr>
              <a:t>×1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5788152"/>
            <a:ext cx="182880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B2A38"/>
                </a:solidFill>
                <a:latin typeface="Calibri"/>
              </a:rPr>
              <a:t>×1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13A57"/>
                </a:solidFill>
                <a:latin typeface="Calibri"/>
              </a:rPr>
              <a:t>Estos factores NO se estiman: se toman literalmente de la norma. España es siempre la base de referencia.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CÓMO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La IA, sus salvaguardas y el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Cuando una consulta sí llega al modelo, opera atada en corto.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5394960" cy="338328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5394960" cy="457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691640"/>
            <a:ext cx="502920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QUÉ PUEDE Y QUÉ NO PUEDE 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5029200" cy="2651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PUEDE: interpretar la pregunta, detectar la intención y REDACTAR la respuesta.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• NO PUEDE: generar límites, inventar valores, deducir conversiones ni inferir comparabilidad.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Para cualquier número invoca una herramienta: consultar · evaluar_cumplimiento · convertir_unidades · buscar_pdfs.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El SYSTEM_PROMPT le prohíbe inventar cifras, le obliga a citar y acota su ámbito. Temperatura 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45920"/>
            <a:ext cx="5394960" cy="338328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645920"/>
            <a:ext cx="5394960" cy="457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91640"/>
            <a:ext cx="502920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LA RECUPERACIÓN DOCUMENTAL (RAG)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40280"/>
            <a:ext cx="5029200" cy="2651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INDEXACIÓN: pdfplumber extrae el texto y lo trocea en fragmentos CON SOLAPE (ventana deslizante, no por página).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Así, una respuesta partida entre dos páginas queda ENTERA dentro de un mismo fragmento.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RECUPERACIÓN: búsqueda LÉXICA (SQLite LIKE); devuelve archivo, página y extracto.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• Es léxica, NO vectorial. Decisión consciente: reproducible y sin depender de terceros.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12080"/>
            <a:ext cx="11109960" cy="109728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212080"/>
            <a:ext cx="82296" cy="109728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76088"/>
            <a:ext cx="10744200" cy="10058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13A57"/>
                </a:solidFill>
                <a:latin typeface="Calibri"/>
              </a:rPr>
              <a:t>La salvaguarda que lo cierra todo: si OpenAI no está disponible —sin clave, sin red o por límite—, el sistema conmuta al motor determinista. EL CHAT NUNCA DEVUELVE ERROR.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A5B68"/>
                </a:solidFill>
                <a:latin typeface="Calibri"/>
              </a:rPr>
              <a:t>¿Y una búsqueda semántica? Lo medimos antes de decidir: el estudio de terminología dio un índice de variación de 27,4 en gas natural. La capa semántica queda preparada y activable, pero desactivada por defecto por reproducibilidad.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Ampliación: biometano e hidrógeno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Añadidos como CAPA ADITIVA: se introduce la dimensión «tipo_gas», con gas_natural por defecto. El gas natural queda intacto.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3593592" cy="25146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3593592" cy="4572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8308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GAS NATURAL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304288"/>
            <a:ext cx="329184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13A57"/>
                </a:solidFill>
                <a:latin typeface="Consolas"/>
              </a:rPr>
              <a:t>parametros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651760"/>
            <a:ext cx="3291840" cy="1508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21 jurisdicciones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10 parámetros</a:t>
            </a:r>
          </a:p>
          <a:p>
            <a:pPr algn="l" lvl="1">
              <a:spcAft>
                <a:spcPts val="600"/>
              </a:spcAft>
            </a:pPr>
            <a:r>
              <a:rPr sz="1150" b="0">
                <a:solidFill>
                  <a:srgbClr val="4A5B68"/>
                </a:solidFill>
                <a:latin typeface="Calibri"/>
              </a:rPr>
              <a:t>176 verificados · 34 no verificables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1737360"/>
            <a:ext cx="3593592" cy="25146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737360"/>
            <a:ext cx="3593592" cy="457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78308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BIOMETANO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304288"/>
            <a:ext cx="329184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6CB33E"/>
                </a:solidFill>
                <a:latin typeface="Consolas"/>
              </a:rPr>
              <a:t>parametros_biometano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651760"/>
            <a:ext cx="3291840" cy="1508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4 · ES · PT · FR · UE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12 parámetros</a:t>
            </a:r>
          </a:p>
          <a:p>
            <a:pPr algn="l" lvl="1">
              <a:spcAft>
                <a:spcPts val="600"/>
              </a:spcAft>
            </a:pPr>
            <a:r>
              <a:rPr sz="1150" b="0">
                <a:solidFill>
                  <a:srgbClr val="4A5B68"/>
                </a:solidFill>
                <a:latin typeface="Calibri"/>
              </a:rPr>
              <a:t>Inyección en red: CH4 mín · CO2 máx · siloxanos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1737360"/>
            <a:ext cx="3593592" cy="25146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1856" y="1737360"/>
            <a:ext cx="3593592" cy="4572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HIDRÓGENO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6448" y="2304288"/>
            <a:ext cx="329184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E88A1A"/>
                </a:solidFill>
                <a:latin typeface="Consolas"/>
              </a:rPr>
              <a:t>parametros_hidrogeno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6448" y="2651760"/>
            <a:ext cx="3291840" cy="1508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RED + PRODUCTO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18 parámetros</a:t>
            </a:r>
          </a:p>
          <a:p>
            <a:pPr algn="l" lvl="1">
              <a:spcAft>
                <a:spcPts val="600"/>
              </a:spcAft>
            </a:pPr>
            <a:r>
              <a:rPr sz="1150" b="0">
                <a:solidFill>
                  <a:srgbClr val="4A5B68"/>
                </a:solidFill>
                <a:latin typeface="Calibri"/>
              </a:rPr>
              <a:t>Marco aún en construcción: prospección normativa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434840"/>
            <a:ext cx="11091672" cy="1325880"/>
          </a:xfrm>
          <a:prstGeom prst="rect">
            <a:avLst/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82296" cy="132588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07992"/>
            <a:ext cx="10698480" cy="11887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A5610E"/>
                </a:solidFill>
                <a:latin typeface="Calibri"/>
              </a:rPr>
              <a:t>Hidrógeno — la distinción esencial es de DOMINIO: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RED (el gasoducto, lo que compete a Enagás): CEN/TS 17977 y recomendación GIE — pureza H2 &gt;= 98 % mol.   Hoy solo PORTUGAL lo fija como vinculante; España y Francia regulan el blending; la UE lo recomienda.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B2A38"/>
                </a:solidFill>
                <a:latin typeface="Calibri"/>
              </a:rPr>
              <a:t>PRODUCTO / VEHÍCULO: ISO 14687 Grade D — pureza 99,97 % para pilas de combustible. NO es lo que necesita un operador de red. La herramienta los mantiene SEPARADOS para no confundirlos.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16168"/>
            <a:ext cx="1069848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Mismo motor, mismas garantías, mismas pruebas: la ampliación no degradó nada de lo anterior.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91695" cy="4572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Las garantías del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01368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Cero cifras inventadas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130552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Los valores proceden de código y datos verificados, nunca del modelo.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0048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42616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Trazabilidad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71800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Cada valor cita su norma, su artículo, su página y su enlace.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11296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Transparencia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3048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Lo que la norma no fija se declara explícitamente; no se completa.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352544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325112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Reproducibilidad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54296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Con el mismo código y los mismos datos, el resultado es idéntico en cualquier entorno.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193792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166359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Auditabilidad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495544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La base de conocimiento es consultable: se puede verificar el origen de cada valor.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035040"/>
            <a:ext cx="10607040" cy="54864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172200"/>
            <a:ext cx="10607040" cy="457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La IA redacta el texto. Los números salen siempre de la normativa oficial.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