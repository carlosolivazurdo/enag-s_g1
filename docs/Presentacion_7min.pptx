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explicar en 7 minutos qué hace la herramienta, cómo está construida y por qué es fiable. Mensaje que se llevan desde el primer minuto: compara con trazabilidad total y sin inventar cifras.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país regula la calidad admisible del gas con su propia normativa. Está dispersa, en varios idiomas y con unidades distintas; compararla a mano es costoso y arriesgado. Y ahora se suman biometano e hidrógeno. Ese es el hueco que cubre la herramienta.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cifras resumen el alcance en gas natural: 21 jurisdicciones, 10 parámetros, 210 valores y cero inventados. De los 210, 176 verificados verbatim y 34 marcados como no verificable. La ampliación a biometano e hidrógeno usa la misma disciplina para España, Portugal, Francia y la 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componentes: la interfaz web, el servidor de aplicación (FastAPI, el cerebro), la base de conocimiento (ontología con los datos verificados) y un servicio de IA externo, acotado, que solo redacta texto y nunca genera cifras. Los datos y cálculos son nuestros; la IA es un auxiliar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corazón del proyecto. Conviven dos mundos: el determinista (código + ontología) es la única fuente de cifras y nunca improvisa; el conversacional (IA) redacta pero tiene prohibido generar cifras. Regla: determinista primero, IA como respaldo. Cada valor sale citando su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secciones con la misma garantía. Consulta libre (chat) con análisis de interconexión en cadena, que identifica el cuello de botella regulatorio de una ruta. Comparativa con matriz y exportación. Analizar gas, que valida un gas país a país. Y las dos secciones nuevas de biometano e hidrógeno, con el mismo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ampliación es capa aditiva: el gas natural queda intacto. Biometano cubre España, Portugal, Francia y la UE. En hidrógeno, la distinción clave: calidad de RED (gasoducto, CEN/TS 17977, GIE) frente a producto de VEHÍCULO (ISO 14687). Solo Portugal fija hoy una pureza vinculante del 98 %.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Mensaje: compara la calidad regulatoria de los tres gases con trazabilidad total y sin cifras inventadas.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46304" cy="201168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28800"/>
            <a:ext cx="10058400" cy="2103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Comparador Regulatorio de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Calidad de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29768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099D6"/>
                </a:solidFill>
                <a:latin typeface="Calibri"/>
              </a:rPr>
              <a:t>Gas natural · Biometano · Hidrógeno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0"/>
                </a:solidFill>
                <a:latin typeface="Calibri"/>
              </a:rPr>
              <a:t>Comparativa regulatoria trazable entre jurisdicciones — sin cifras inventadas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594360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3C4"/>
                </a:solidFill>
                <a:latin typeface="Calibri"/>
              </a:rPr>
              <a:t>Presentación ejecutiva · 7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Comparar la calidad regulatoria del gas entre países es hoy manual y arriesgado.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Cada país regula la calidad admisible con </a:t>
            </a:r>
            <a:r>
              <a:rPr sz="1700" b="1">
                <a:solidFill>
                  <a:srgbClr val="1B2A38"/>
                </a:solidFill>
                <a:latin typeface="Calibri"/>
              </a:rPr>
              <a:t>su propia normativa</a:t>
            </a:r>
            <a:r>
              <a:rPr sz="1700" b="0">
                <a:solidFill>
                  <a:srgbClr val="1B2A38"/>
                </a:solidFill>
                <a:latin typeface="Calibri"/>
              </a:rPr>
              <a:t>: poder calorífico, índice de Wobbe, azufre, CO₂, puntos de rocío…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Están </a:t>
            </a:r>
            <a:r>
              <a:rPr sz="1700" b="1">
                <a:solidFill>
                  <a:srgbClr val="1B2A38"/>
                </a:solidFill>
                <a:latin typeface="Calibri"/>
              </a:rPr>
              <a:t>dispersas</a:t>
            </a:r>
            <a:r>
              <a:rPr sz="1700" b="0">
                <a:solidFill>
                  <a:srgbClr val="1B2A38"/>
                </a:solidFill>
                <a:latin typeface="Calibri"/>
              </a:rPr>
              <a:t> en boletines oficiales distintos, en varios idiomas y con </a:t>
            </a:r>
            <a:r>
              <a:rPr sz="1700" b="1">
                <a:solidFill>
                  <a:srgbClr val="1B2A38"/>
                </a:solidFill>
                <a:latin typeface="Calibri"/>
              </a:rPr>
              <a:t>unidades y condiciones de referencia diferentes</a:t>
            </a:r>
            <a:r>
              <a:rPr sz="1700" b="0">
                <a:solidFill>
                  <a:srgbClr val="1B2A38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Compararlas a mano es </a:t>
            </a:r>
            <a:r>
              <a:rPr sz="1700" b="1">
                <a:solidFill>
                  <a:srgbClr val="1B2A38"/>
                </a:solidFill>
                <a:latin typeface="Calibri"/>
              </a:rPr>
              <a:t>laborioso y propenso a error</a:t>
            </a:r>
            <a:r>
              <a:rPr sz="1700" b="0">
                <a:solidFill>
                  <a:srgbClr val="1B2A38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Y ahora se suman </a:t>
            </a:r>
            <a:r>
              <a:rPr sz="1700" b="1">
                <a:solidFill>
                  <a:srgbClr val="1B2A38"/>
                </a:solidFill>
                <a:latin typeface="Calibri"/>
              </a:rPr>
              <a:t>biometano e hidrógeno</a:t>
            </a:r>
            <a:r>
              <a:rPr sz="1700" b="0">
                <a:solidFill>
                  <a:srgbClr val="1B2A38"/>
                </a:solidFill>
                <a:latin typeface="Calibri"/>
              </a:rPr>
              <a:t>, con marcos regulatorios aún en construcción.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El sistema en cifras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697480" cy="2286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jurisdicciones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2011680"/>
            <a:ext cx="2697480" cy="2286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201168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237744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356616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parámetros de calidad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2011680"/>
            <a:ext cx="2697480" cy="2286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201168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237744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210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356616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valores verificables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2011680"/>
            <a:ext cx="2697480" cy="228600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2011680"/>
            <a:ext cx="2697480" cy="762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696" y="2377440"/>
            <a:ext cx="26974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013A57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356616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cifras inventadas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B2A38"/>
                </a:solidFill>
                <a:latin typeface="Calibri"/>
              </a:rPr>
              <a:t>Gas natural: 176 valores VERIFICADOS y 34 NO VERIFICABLES (la norma no los fija) — nunca inventados.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4A5B68"/>
                </a:solidFill>
                <a:latin typeface="Calibri"/>
              </a:rPr>
              <a:t>Ampliación a biometano e hidrógeno (dominio de red): España · Portugal · Francia · UE, con la misma disciplina.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Arquitectura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Cuatro componentes con responsabilidades bien delimitadas.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74519"/>
            <a:ext cx="3200400" cy="77724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2004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INTERFAZ WEB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El usuario formula su consulta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97880" y="2715768"/>
            <a:ext cx="365760" cy="457200"/>
          </a:xfrm>
          <a:prstGeom prst="downArrow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3246120"/>
            <a:ext cx="4114800" cy="86868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3337560"/>
            <a:ext cx="4114800" cy="731519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SERVIDOR DE APLICACIÓN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FastAPI · recibe, aplica la lógica y orquesta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383280" y="4206240"/>
            <a:ext cx="320040" cy="457200"/>
          </a:xfrm>
          <a:prstGeom prst="downArrow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8458200" y="4206240"/>
            <a:ext cx="320040" cy="457200"/>
          </a:xfrm>
          <a:prstGeom prst="downArrow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4754880"/>
            <a:ext cx="3931920" cy="105156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846320"/>
            <a:ext cx="3931920" cy="914399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BASE DE CONOCIMIENTO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Ontología: valores verificados + sus fuentes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4754880"/>
            <a:ext cx="3931920" cy="1051560"/>
          </a:xfrm>
          <a:prstGeom prst="rect">
            <a:avLst/>
          </a:prstGeom>
          <a:solidFill>
            <a:srgbClr val="4A5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4846320"/>
            <a:ext cx="3931920" cy="914399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SERVICIO DE IA (externo)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OpenAI: solo texto abierto · no genera cifras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El principio: cero cifras inventadas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El sistema combina dos mundos separados a propósito.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1">
                <a:solidFill>
                  <a:srgbClr val="1B2A38"/>
                </a:solidFill>
                <a:latin typeface="Calibri"/>
              </a:rPr>
              <a:t>Mundo determinista</a:t>
            </a:r>
            <a:r>
              <a:rPr sz="1700" b="0">
                <a:solidFill>
                  <a:srgbClr val="1B2A38"/>
                </a:solidFill>
                <a:latin typeface="Calibri"/>
              </a:rPr>
              <a:t> (código + ontología): la </a:t>
            </a:r>
            <a:r>
              <a:rPr sz="1700" b="1">
                <a:solidFill>
                  <a:srgbClr val="1B2A38"/>
                </a:solidFill>
                <a:latin typeface="Calibri"/>
              </a:rPr>
              <a:t>única</a:t>
            </a:r>
            <a:r>
              <a:rPr sz="1700" b="0">
                <a:solidFill>
                  <a:srgbClr val="1B2A38"/>
                </a:solidFill>
                <a:latin typeface="Calibri"/>
              </a:rPr>
              <a:t> fuente de cifras, límites, conversiones y comparaciones. Nunca improvisa un número.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1">
                <a:solidFill>
                  <a:srgbClr val="1B2A38"/>
                </a:solidFill>
                <a:latin typeface="Calibri"/>
              </a:rPr>
              <a:t>Mundo conversacional</a:t>
            </a:r>
            <a:r>
              <a:rPr sz="1700" b="0">
                <a:solidFill>
                  <a:srgbClr val="1B2A38"/>
                </a:solidFill>
                <a:latin typeface="Calibri"/>
              </a:rPr>
              <a:t> (IA): interpreta la pregunta y </a:t>
            </a:r>
            <a:r>
              <a:rPr sz="1700" b="1">
                <a:solidFill>
                  <a:srgbClr val="1B2A38"/>
                </a:solidFill>
                <a:latin typeface="Calibri"/>
              </a:rPr>
              <a:t>redacta</a:t>
            </a:r>
            <a:r>
              <a:rPr sz="1700" b="0">
                <a:solidFill>
                  <a:srgbClr val="1B2A38"/>
                </a:solidFill>
                <a:latin typeface="Calibri"/>
              </a:rPr>
              <a:t>, pero tiene </a:t>
            </a:r>
            <a:r>
              <a:rPr sz="1700" b="1">
                <a:solidFill>
                  <a:srgbClr val="1B2A38"/>
                </a:solidFill>
                <a:latin typeface="Calibri"/>
              </a:rPr>
              <a:t>prohibido generar cifras</a:t>
            </a:r>
            <a:r>
              <a:rPr sz="1700" b="0">
                <a:solidFill>
                  <a:srgbClr val="1B2A38"/>
                </a:solidFill>
                <a:latin typeface="Calibri"/>
              </a:rPr>
              <a:t>; las obtiene llamando a herramientas deterministas.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099D6"/>
                </a:solidFill>
                <a:latin typeface="Calibri"/>
              </a:rPr>
              <a:t>•  </a:t>
            </a:r>
            <a:r>
              <a:rPr sz="1700" b="0">
                <a:solidFill>
                  <a:srgbClr val="1B2A38"/>
                </a:solidFill>
                <a:latin typeface="Calibri"/>
              </a:rPr>
              <a:t>Regla: </a:t>
            </a:r>
            <a:r>
              <a:rPr sz="1700" b="1">
                <a:solidFill>
                  <a:srgbClr val="1B2A38"/>
                </a:solidFill>
                <a:latin typeface="Calibri"/>
              </a:rPr>
              <a:t>determinista-primero, IA-como-respaldo</a:t>
            </a:r>
            <a:r>
              <a:rPr sz="1700" b="0">
                <a:solidFill>
                  <a:srgbClr val="1B2A38"/>
                </a:solidFill>
                <a:latin typeface="Calibri"/>
              </a:rPr>
              <a:t>. Lo cuantitativo lo resuelve el código; solo el texto abierto pasa a la IA.</a:t>
            </a:r>
          </a:p>
          <a:p>
            <a:pPr lvl="1">
              <a:spcAft>
                <a:spcPts val="1000"/>
              </a:spcAft>
            </a:pPr>
            <a:r>
              <a:rPr sz="1500">
                <a:solidFill>
                  <a:srgbClr val="4A5B68"/>
                </a:solidFill>
                <a:latin typeface="Calibri"/>
              </a:rPr>
              <a:t>•  </a:t>
            </a:r>
            <a:r>
              <a:rPr sz="1500" b="0">
                <a:solidFill>
                  <a:srgbClr val="4A5B68"/>
                </a:solidFill>
                <a:latin typeface="Calibri"/>
              </a:rPr>
              <a:t>Cada valor cita norma, artículo, página y enlace: trazabilidad completa.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Qué puede hacer 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Cinco secciones, todas con la misma garantía de cero cifras inventadas: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Consulta libre</a:t>
            </a:r>
            <a:r>
              <a:rPr sz="1500" b="0">
                <a:solidFill>
                  <a:srgbClr val="1B2A38"/>
                </a:solidFill>
                <a:latin typeface="Calibri"/>
              </a:rPr>
              <a:t> (chat), con </a:t>
            </a:r>
            <a:r>
              <a:rPr sz="1500" b="1">
                <a:solidFill>
                  <a:srgbClr val="1B2A38"/>
                </a:solidFill>
                <a:latin typeface="Calibri"/>
              </a:rPr>
              <a:t>análisis de interconexión en cadena</a:t>
            </a:r>
            <a:r>
              <a:rPr sz="1500" b="0">
                <a:solidFill>
                  <a:srgbClr val="1B2A38"/>
                </a:solidFill>
                <a:latin typeface="Calibri"/>
              </a:rPr>
              <a:t>: para una ruta (p. ej. España-Francia-Alemania) halla el </a:t>
            </a:r>
            <a:r>
              <a:rPr sz="1500" b="1">
                <a:solidFill>
                  <a:srgbClr val="1B2A38"/>
                </a:solidFill>
                <a:latin typeface="Calibri"/>
              </a:rPr>
              <a:t>cuello de botella</a:t>
            </a:r>
            <a:r>
              <a:rPr sz="1500" b="0">
                <a:solidFill>
                  <a:srgbClr val="1B2A38"/>
                </a:solidFill>
                <a:latin typeface="Calibri"/>
              </a:rPr>
              <a:t> regulatorio y avisa de incompatibilidades.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Comparativa</a:t>
            </a:r>
            <a:r>
              <a:rPr sz="1500" b="0">
                <a:solidFill>
                  <a:srgbClr val="1B2A38"/>
                </a:solidFill>
                <a:latin typeface="Calibri"/>
              </a:rPr>
              <a:t>: parámetro a parámetro entre países y </a:t>
            </a:r>
            <a:r>
              <a:rPr sz="1500" b="1">
                <a:solidFill>
                  <a:srgbClr val="1B2A38"/>
                </a:solidFill>
                <a:latin typeface="Calibri"/>
              </a:rPr>
              <a:t>matriz</a:t>
            </a:r>
            <a:r>
              <a:rPr sz="1500" b="0">
                <a:solidFill>
                  <a:srgbClr val="1B2A38"/>
                </a:solidFill>
                <a:latin typeface="Calibri"/>
              </a:rPr>
              <a:t> (heatmap) países × parámetros, con </a:t>
            </a:r>
            <a:r>
              <a:rPr sz="1500" b="1">
                <a:solidFill>
                  <a:srgbClr val="1B2A38"/>
                </a:solidFill>
                <a:latin typeface="Calibri"/>
              </a:rPr>
              <a:t>exportación a Excel/PDF</a:t>
            </a:r>
            <a:r>
              <a:rPr sz="1500" b="0">
                <a:solidFill>
                  <a:srgbClr val="1B2A38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Analizar gas</a:t>
            </a:r>
            <a:r>
              <a:rPr sz="1500" b="0">
                <a:solidFill>
                  <a:srgbClr val="1B2A38"/>
                </a:solidFill>
                <a:latin typeface="Calibri"/>
              </a:rPr>
              <a:t>: composición de un gas y respuesta país a país (</a:t>
            </a:r>
            <a:r>
              <a:rPr sz="1500" b="1">
                <a:solidFill>
                  <a:srgbClr val="1B2A38"/>
                </a:solidFill>
                <a:latin typeface="Calibri"/>
              </a:rPr>
              <a:t>cumple / alerta / no cumple</a:t>
            </a:r>
            <a:r>
              <a:rPr sz="1500" b="0">
                <a:solidFill>
                  <a:srgbClr val="1B2A38"/>
                </a:solidFill>
                <a:latin typeface="Calibri"/>
              </a:rPr>
              <a:t>), con la cita de cada límite.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99D6"/>
                </a:solidFill>
                <a:latin typeface="Calibri"/>
              </a:rPr>
              <a:t>•  </a:t>
            </a:r>
            <a:r>
              <a:rPr sz="1500" b="1">
                <a:solidFill>
                  <a:srgbClr val="1B2A38"/>
                </a:solidFill>
                <a:latin typeface="Calibri"/>
              </a:rPr>
              <a:t>Comparativa de biometano</a:t>
            </a:r>
            <a:r>
              <a:rPr sz="1500" b="0">
                <a:solidFill>
                  <a:srgbClr val="1B2A38"/>
                </a:solidFill>
                <a:latin typeface="Calibri"/>
              </a:rPr>
              <a:t> y de </a:t>
            </a:r>
            <a:r>
              <a:rPr sz="1500" b="1">
                <a:solidFill>
                  <a:srgbClr val="1B2A38"/>
                </a:solidFill>
                <a:latin typeface="Calibri"/>
              </a:rPr>
              <a:t>hidrógeno</a:t>
            </a:r>
            <a:r>
              <a:rPr sz="1500" b="0">
                <a:solidFill>
                  <a:srgbClr val="1B2A38"/>
                </a:solidFill>
                <a:latin typeface="Calibri"/>
              </a:rPr>
              <a:t>: el mismo motor, para los dos gases nuevos.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00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972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Ampliación: biometano e hidrógeno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Comparador Regulatorio de Calidad de Gas · Gas natural · Biometano · Hidrógeno — Enagás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950" b="0">
                <a:solidFill>
                  <a:srgbClr val="4A5B6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A5B68"/>
                </a:solidFill>
                <a:latin typeface="Calibri"/>
              </a:rPr>
              <a:t>Se añade como capa aditiva: el gas natural queda intacto (mismo motor, misma disciplina de verificación).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64239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9858"/>
                <a:gridCol w="2528969"/>
                <a:gridCol w="2739716"/>
                <a:gridCol w="4425696"/>
              </a:tblGrid>
              <a:tr h="1524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Gas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Jurisdicciones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Parámetros clave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Fuentes normativas</a:t>
                      </a:r>
                    </a:p>
                  </a:txBody>
                  <a:tcPr anchor="ctr" marT="38100" marB="38100">
                    <a:solidFill>
                      <a:srgbClr val="013A57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8"/>
                          </a:solidFill>
                          <a:latin typeface="Calibri"/>
                        </a:rPr>
                        <a:t>Biometano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8"/>
                          </a:solidFill>
                          <a:latin typeface="Calibri"/>
                        </a:rPr>
                        <a:t>España · Portugal · Francia · UE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8"/>
                          </a:solidFill>
                          <a:latin typeface="Calibri"/>
                        </a:rPr>
                        <a:t>CH₄ mínimo · CO₂ · siloxanos (+ impurezas)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8"/>
                          </a:solidFill>
                          <a:latin typeface="Calibri"/>
                        </a:rPr>
                        <a:t>EN 16723-1 · EN 16726 · Reg. (UE) 2024/1789 · Orden TED/181/2025 · GRTgaz · RQS (PT)</a:t>
                      </a:r>
                    </a:p>
                  </a:txBody>
                  <a:tcPr anchor="ctr" marT="38100" marB="38100">
                    <a:solidFill>
                      <a:srgbClr val="EEF2F6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2A38"/>
                          </a:solidFill>
                          <a:latin typeface="Calibri"/>
                        </a:rPr>
                        <a:t>Hidrógeno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8"/>
                          </a:solidFill>
                          <a:latin typeface="Calibri"/>
                        </a:rPr>
                        <a:t>Dominio de RED (TSO) + producto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8"/>
                          </a:solidFill>
                          <a:latin typeface="Calibri"/>
                        </a:rPr>
                        <a:t>Pureza H₂ · O₂ · trazas de compresores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2A38"/>
                          </a:solidFill>
                          <a:latin typeface="Calibri"/>
                        </a:rPr>
                        <a:t>CEN/TS 17977 · GIE (recom.) · RQS Anexo XII (PT, 98 % vinculante) · ISO 14687 (vehículo)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43600"/>
            <a:ext cx="1106424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B68"/>
                </a:solidFill>
                <a:latin typeface="Calibri"/>
              </a:rPr>
              <a:t>Distinción clave: calidad de RED (gasoducto: CEN/TS 17977, GIE, ≥98 %) frente a producto de VEHÍCULO (ISO 14687, 99,97 %). Un estudio de terminología justifica una capa de búsqueda semántica, preparada y opt-in.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146304" cy="2377440"/>
          </a:xfrm>
          <a:prstGeom prst="rect">
            <a:avLst/>
          </a:prstGeom>
          <a:solidFill>
            <a:srgbClr val="6CB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005840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099D6"/>
                </a:solidFill>
                <a:latin typeface="Calibri"/>
              </a:rPr>
              <a:t>En síntesis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Compara la calidad regulatoria del gas natural,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biometano e hidrógeno con trazabilidad total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y sin cifras inventadas.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5029200"/>
            <a:ext cx="10058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0"/>
                </a:solidFill>
                <a:latin typeface="Calibri"/>
              </a:rPr>
              <a:t>Las cifras salen de normativa oficial verificada. La IA solo redacta texto; nunca inventa un número.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